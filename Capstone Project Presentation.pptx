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0.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5"/>
  </p:notesMasterIdLst>
  <p:sldIdLst>
    <p:sldId id="256" r:id="rId2"/>
    <p:sldId id="257" r:id="rId3"/>
    <p:sldId id="258" r:id="rId4"/>
    <p:sldId id="274" r:id="rId5"/>
    <p:sldId id="260" r:id="rId6"/>
    <p:sldId id="261" r:id="rId7"/>
    <p:sldId id="262" r:id="rId8"/>
    <p:sldId id="263" r:id="rId9"/>
    <p:sldId id="264" r:id="rId10"/>
    <p:sldId id="265" r:id="rId11"/>
    <p:sldId id="266" r:id="rId12"/>
    <p:sldId id="267" r:id="rId13"/>
    <p:sldId id="275"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082" autoAdjust="0"/>
  </p:normalViewPr>
  <p:slideViewPr>
    <p:cSldViewPr snapToGrid="0" snapToObjects="1">
      <p:cViewPr varScale="1">
        <p:scale>
          <a:sx n="91" d="100"/>
          <a:sy n="91" d="100"/>
        </p:scale>
        <p:origin x="153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prave\OneDrive\Desktop\College\Course%208%20-%20Capstone_Business%20Intelligence%20and%20Data%20Analytics\Import%20to%20Git\ExcelAnalysis\Medicaid_Managed_Care_Q4_202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prave\OneDrive\Desktop\College\Course%208%20-%20Capstone_Business%20Intelligence%20and%20Data%20Analytics\Import%20to%20Git\ExcelAnalysis\Medicaid_Managed_Care_Q4_202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prave\OneDrive\Desktop\College\Course%208%20-%20Capstone_Business%20Intelligence%20and%20Data%20Analytics\Import%20to%20Git\ExcelAnalysis\Medicare_IP_Hospitals_by_Geography_and_Service_2023.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prave\OneDrive\Desktop\College\Course%208%20-%20Capstone_Business%20Intelligence%20and%20Data%20Analytics\Import%20to%20Git\ExcelAnalysis\Medicare_IP_Hospitals_by_Geography_and_Service_2023.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prave\OneDrive\Desktop\College\Course%208%20-%20Capstone_Business%20Intelligence%20and%20Data%20Analytics\Import%20to%20Git\ExcelAnalysis\Medicare_IP_Hospitals_by_Provider_and_Service_2023.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[Medicaid_Managed_Care_Q4_2024.xlsx]Q2!PivotTable3</c:name>
    <c:fmtId val="-1"/>
  </c:pivotSource>
  <c:chart>
    <c:autoTitleDeleted val="1"/>
    <c:pivotFmts>
      <c:pivotFmt>
        <c:idx val="0"/>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2"/>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3"/>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4"/>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5"/>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6"/>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7"/>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9"/>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10"/>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11"/>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12"/>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13"/>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14"/>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16"/>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17"/>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18"/>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19"/>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
        <c:idx val="20"/>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c:spPr>
      </c:pivotFmt>
    </c:pivotFmts>
    <c:plotArea>
      <c:layout/>
      <c:doughnutChart>
        <c:varyColors val="1"/>
        <c:ser>
          <c:idx val="0"/>
          <c:order val="0"/>
          <c:tx>
            <c:strRef>
              <c:f>'Q2'!$B$3</c:f>
              <c:strCache>
                <c:ptCount val="1"/>
                <c:pt idx="0">
                  <c:v>Total</c:v>
                </c:pt>
              </c:strCache>
            </c:strRef>
          </c:tx>
          <c:dPt>
            <c:idx val="0"/>
            <c:bubble3D val="0"/>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22CE-4069-A599-899D368A813A}"/>
              </c:ext>
            </c:extLst>
          </c:dPt>
          <c:dPt>
            <c:idx val="1"/>
            <c:bubble3D val="0"/>
            <c:spPr>
              <a:gradFill rotWithShape="1">
                <a:gsLst>
                  <a:gs pos="0">
                    <a:schemeClr val="accent5">
                      <a:tint val="100000"/>
                      <a:shade val="100000"/>
                      <a:satMod val="130000"/>
                    </a:schemeClr>
                  </a:gs>
                  <a:gs pos="100000">
                    <a:schemeClr val="accent5">
                      <a:tint val="50000"/>
                      <a:shade val="100000"/>
                      <a:satMod val="350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22CE-4069-A599-899D368A813A}"/>
              </c:ext>
            </c:extLst>
          </c:dPt>
          <c:dPt>
            <c:idx val="2"/>
            <c:bubble3D val="0"/>
            <c:spPr>
              <a:gradFill rotWithShape="1">
                <a:gsLst>
                  <a:gs pos="0">
                    <a:schemeClr val="accent4">
                      <a:tint val="100000"/>
                      <a:shade val="100000"/>
                      <a:satMod val="130000"/>
                    </a:schemeClr>
                  </a:gs>
                  <a:gs pos="100000">
                    <a:schemeClr val="accent4">
                      <a:tint val="50000"/>
                      <a:shade val="100000"/>
                      <a:satMod val="350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5-22CE-4069-A599-899D368A813A}"/>
              </c:ext>
            </c:extLst>
          </c:dPt>
          <c:dPt>
            <c:idx val="3"/>
            <c:bubble3D val="0"/>
            <c:spPr>
              <a:gradFill rotWithShape="1">
                <a:gsLst>
                  <a:gs pos="0">
                    <a:schemeClr val="accent6">
                      <a:lumMod val="60000"/>
                      <a:tint val="100000"/>
                      <a:shade val="100000"/>
                      <a:satMod val="130000"/>
                    </a:schemeClr>
                  </a:gs>
                  <a:gs pos="100000">
                    <a:schemeClr val="accent6">
                      <a:lumMod val="60000"/>
                      <a:tint val="50000"/>
                      <a:shade val="100000"/>
                      <a:satMod val="350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7-22CE-4069-A599-899D368A813A}"/>
              </c:ext>
            </c:extLst>
          </c:dPt>
          <c:dPt>
            <c:idx val="4"/>
            <c:bubble3D val="0"/>
            <c:spPr>
              <a:gradFill rotWithShape="1">
                <a:gsLst>
                  <a:gs pos="0">
                    <a:schemeClr val="accent5">
                      <a:lumMod val="60000"/>
                      <a:tint val="100000"/>
                      <a:shade val="100000"/>
                      <a:satMod val="130000"/>
                    </a:schemeClr>
                  </a:gs>
                  <a:gs pos="100000">
                    <a:schemeClr val="accent5">
                      <a:lumMod val="60000"/>
                      <a:tint val="50000"/>
                      <a:shade val="100000"/>
                      <a:satMod val="350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9-22CE-4069-A599-899D368A813A}"/>
              </c:ext>
            </c:extLst>
          </c:dPt>
          <c:dPt>
            <c:idx val="5"/>
            <c:bubble3D val="0"/>
            <c:spPr>
              <a:gradFill rotWithShape="1">
                <a:gsLst>
                  <a:gs pos="0">
                    <a:schemeClr val="accent4">
                      <a:lumMod val="60000"/>
                      <a:tint val="100000"/>
                      <a:shade val="100000"/>
                      <a:satMod val="130000"/>
                    </a:schemeClr>
                  </a:gs>
                  <a:gs pos="100000">
                    <a:schemeClr val="accent4">
                      <a:lumMod val="60000"/>
                      <a:tint val="50000"/>
                      <a:shade val="100000"/>
                      <a:satMod val="350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B-22CE-4069-A599-899D368A813A}"/>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multiLvlStrRef>
              <c:f>'Q2'!$A$4:$A$14</c:f>
              <c:multiLvlStrCache>
                <c:ptCount val="6"/>
                <c:lvl>
                  <c:pt idx="0">
                    <c:v>Behavioral Health</c:v>
                  </c:pt>
                  <c:pt idx="1">
                    <c:v>Behavioral Health</c:v>
                  </c:pt>
                  <c:pt idx="2">
                    <c:v>Pediatric Dental</c:v>
                  </c:pt>
                  <c:pt idx="3">
                    <c:v>Prenatal Ob/Gyn</c:v>
                  </c:pt>
                  <c:pt idx="4">
                    <c:v>Pediatric Dental</c:v>
                  </c:pt>
                  <c:pt idx="5">
                    <c:v>Behavioral Health</c:v>
                  </c:pt>
                </c:lvl>
                <c:lvl>
                  <c:pt idx="0">
                    <c:v>BehavioralHealthInpatientSpecialtyPlan(PIHP)</c:v>
                  </c:pt>
                  <c:pt idx="1">
                    <c:v>ComprehensiveMCO</c:v>
                  </c:pt>
                  <c:pt idx="4">
                    <c:v>DentalSpecialtyPlan</c:v>
                  </c:pt>
                  <c:pt idx="5">
                    <c:v>OutpatientSpecialtyHealthPlan(PAHP)</c:v>
                  </c:pt>
                </c:lvl>
              </c:multiLvlStrCache>
            </c:multiLvlStrRef>
          </c:cat>
          <c:val>
            <c:numRef>
              <c:f>'Q2'!$B$4:$B$14</c:f>
              <c:numCache>
                <c:formatCode>General</c:formatCode>
                <c:ptCount val="6"/>
                <c:pt idx="0">
                  <c:v>117985</c:v>
                </c:pt>
                <c:pt idx="1">
                  <c:v>971434</c:v>
                </c:pt>
                <c:pt idx="2">
                  <c:v>81758</c:v>
                </c:pt>
                <c:pt idx="3">
                  <c:v>260853</c:v>
                </c:pt>
                <c:pt idx="4">
                  <c:v>103130</c:v>
                </c:pt>
                <c:pt idx="5">
                  <c:v>152</c:v>
                </c:pt>
              </c:numCache>
            </c:numRef>
          </c:val>
          <c:extLst>
            <c:ext xmlns:c16="http://schemas.microsoft.com/office/drawing/2014/chart" uri="{C3380CC4-5D6E-409C-BE32-E72D297353CC}">
              <c16:uniqueId val="{0000000C-22CE-4069-A599-899D368A813A}"/>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r"/>
      <c:layout>
        <c:manualLayout>
          <c:xMode val="edge"/>
          <c:yMode val="edge"/>
          <c:x val="0.58960302328411851"/>
          <c:y val="6.4177388054337689E-2"/>
          <c:w val="0.40142769333337414"/>
          <c:h val="0.88590796377488701"/>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[Medicaid_Managed_Care_Q4_2024.xlsx]Q3!PivotTable2</c:name>
    <c:fmtId val="15"/>
  </c:pivotSource>
  <c:chart>
    <c:autoTitleDeleted val="0"/>
    <c:pivotFmts>
      <c:pivotFmt>
        <c:idx val="0"/>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8.7842552803927901E-2"/>
          <c:y val="4.1544948690352738E-2"/>
          <c:w val="0.54261871051607513"/>
          <c:h val="0.84900619248723397"/>
        </c:manualLayout>
      </c:layout>
      <c:line3DChart>
        <c:grouping val="standard"/>
        <c:varyColors val="0"/>
        <c:ser>
          <c:idx val="0"/>
          <c:order val="0"/>
          <c:tx>
            <c:strRef>
              <c:f>'Q3'!$B$2</c:f>
              <c:strCache>
                <c:ptCount val="1"/>
                <c:pt idx="0">
                  <c:v>Sum of Number of Active Patients</c:v>
                </c:pt>
              </c:strCache>
            </c:strRef>
          </c:tx>
          <c:spPr>
            <a:solidFill>
              <a:schemeClr val="accent2"/>
            </a:solidFill>
            <a:ln>
              <a:noFill/>
            </a:ln>
            <a:effectLst/>
            <a:sp3d/>
          </c:spPr>
          <c:cat>
            <c:multiLvlStrRef>
              <c:f>'Q3'!$A$3:$A$27</c:f>
              <c:multiLvlStrCache>
                <c:ptCount val="20"/>
                <c:lvl>
                  <c:pt idx="0">
                    <c:v>2020</c:v>
                  </c:pt>
                  <c:pt idx="1">
                    <c:v>2021</c:v>
                  </c:pt>
                  <c:pt idx="2">
                    <c:v>2022</c:v>
                  </c:pt>
                  <c:pt idx="3">
                    <c:v>2023</c:v>
                  </c:pt>
                  <c:pt idx="4">
                    <c:v>2024</c:v>
                  </c:pt>
                  <c:pt idx="5">
                    <c:v>2020</c:v>
                  </c:pt>
                  <c:pt idx="6">
                    <c:v>2021</c:v>
                  </c:pt>
                  <c:pt idx="7">
                    <c:v>2022</c:v>
                  </c:pt>
                  <c:pt idx="8">
                    <c:v>2023</c:v>
                  </c:pt>
                  <c:pt idx="9">
                    <c:v>2024</c:v>
                  </c:pt>
                  <c:pt idx="10">
                    <c:v>2020</c:v>
                  </c:pt>
                  <c:pt idx="11">
                    <c:v>2021</c:v>
                  </c:pt>
                  <c:pt idx="12">
                    <c:v>2022</c:v>
                  </c:pt>
                  <c:pt idx="13">
                    <c:v>2023</c:v>
                  </c:pt>
                  <c:pt idx="14">
                    <c:v>2024</c:v>
                  </c:pt>
                  <c:pt idx="15">
                    <c:v>2020</c:v>
                  </c:pt>
                  <c:pt idx="16">
                    <c:v>2021</c:v>
                  </c:pt>
                  <c:pt idx="17">
                    <c:v>2022</c:v>
                  </c:pt>
                  <c:pt idx="18">
                    <c:v>2023</c:v>
                  </c:pt>
                  <c:pt idx="19">
                    <c:v>2024</c:v>
                  </c:pt>
                </c:lvl>
                <c:lvl>
                  <c:pt idx="0">
                    <c:v>Arizona</c:v>
                  </c:pt>
                  <c:pt idx="5">
                    <c:v>Michigan</c:v>
                  </c:pt>
                  <c:pt idx="10">
                    <c:v>Nevada</c:v>
                  </c:pt>
                  <c:pt idx="15">
                    <c:v>New Mexico</c:v>
                  </c:pt>
                </c:lvl>
              </c:multiLvlStrCache>
            </c:multiLvlStrRef>
          </c:cat>
          <c:val>
            <c:numRef>
              <c:f>'Q3'!$B$3:$B$27</c:f>
              <c:numCache>
                <c:formatCode>General</c:formatCode>
                <c:ptCount val="20"/>
                <c:pt idx="0">
                  <c:v>709919</c:v>
                </c:pt>
                <c:pt idx="1">
                  <c:v>934265</c:v>
                </c:pt>
                <c:pt idx="2">
                  <c:v>1120245</c:v>
                </c:pt>
                <c:pt idx="3">
                  <c:v>1406812</c:v>
                </c:pt>
                <c:pt idx="4">
                  <c:v>1722425</c:v>
                </c:pt>
                <c:pt idx="5">
                  <c:v>689028</c:v>
                </c:pt>
                <c:pt idx="6">
                  <c:v>947582</c:v>
                </c:pt>
                <c:pt idx="7">
                  <c:v>1156187</c:v>
                </c:pt>
                <c:pt idx="8">
                  <c:v>1500522</c:v>
                </c:pt>
                <c:pt idx="9">
                  <c:v>1838547</c:v>
                </c:pt>
                <c:pt idx="10">
                  <c:v>359496</c:v>
                </c:pt>
                <c:pt idx="11">
                  <c:v>424410</c:v>
                </c:pt>
                <c:pt idx="12">
                  <c:v>469196</c:v>
                </c:pt>
                <c:pt idx="13">
                  <c:v>484736</c:v>
                </c:pt>
                <c:pt idx="14">
                  <c:v>488766</c:v>
                </c:pt>
                <c:pt idx="15">
                  <c:v>226659</c:v>
                </c:pt>
                <c:pt idx="16">
                  <c:v>281699</c:v>
                </c:pt>
                <c:pt idx="17">
                  <c:v>350918</c:v>
                </c:pt>
                <c:pt idx="18">
                  <c:v>445469</c:v>
                </c:pt>
                <c:pt idx="19">
                  <c:v>665509</c:v>
                </c:pt>
              </c:numCache>
            </c:numRef>
          </c:val>
          <c:smooth val="0"/>
          <c:extLst>
            <c:ext xmlns:c16="http://schemas.microsoft.com/office/drawing/2014/chart" uri="{C3380CC4-5D6E-409C-BE32-E72D297353CC}">
              <c16:uniqueId val="{00000000-295A-4479-B4AC-E3706E4EDC55}"/>
            </c:ext>
          </c:extLst>
        </c:ser>
        <c:ser>
          <c:idx val="1"/>
          <c:order val="1"/>
          <c:tx>
            <c:strRef>
              <c:f>'Q3'!$C$2</c:f>
              <c:strCache>
                <c:ptCount val="1"/>
                <c:pt idx="0">
                  <c:v>Sum of Number of Services per Active Patient</c:v>
                </c:pt>
              </c:strCache>
            </c:strRef>
          </c:tx>
          <c:spPr>
            <a:solidFill>
              <a:schemeClr val="accent4"/>
            </a:solidFill>
            <a:ln>
              <a:noFill/>
            </a:ln>
            <a:effectLst/>
            <a:sp3d/>
          </c:spPr>
          <c:cat>
            <c:multiLvlStrRef>
              <c:f>'Q3'!$A$3:$A$27</c:f>
              <c:multiLvlStrCache>
                <c:ptCount val="20"/>
                <c:lvl>
                  <c:pt idx="0">
                    <c:v>2020</c:v>
                  </c:pt>
                  <c:pt idx="1">
                    <c:v>2021</c:v>
                  </c:pt>
                  <c:pt idx="2">
                    <c:v>2022</c:v>
                  </c:pt>
                  <c:pt idx="3">
                    <c:v>2023</c:v>
                  </c:pt>
                  <c:pt idx="4">
                    <c:v>2024</c:v>
                  </c:pt>
                  <c:pt idx="5">
                    <c:v>2020</c:v>
                  </c:pt>
                  <c:pt idx="6">
                    <c:v>2021</c:v>
                  </c:pt>
                  <c:pt idx="7">
                    <c:v>2022</c:v>
                  </c:pt>
                  <c:pt idx="8">
                    <c:v>2023</c:v>
                  </c:pt>
                  <c:pt idx="9">
                    <c:v>2024</c:v>
                  </c:pt>
                  <c:pt idx="10">
                    <c:v>2020</c:v>
                  </c:pt>
                  <c:pt idx="11">
                    <c:v>2021</c:v>
                  </c:pt>
                  <c:pt idx="12">
                    <c:v>2022</c:v>
                  </c:pt>
                  <c:pt idx="13">
                    <c:v>2023</c:v>
                  </c:pt>
                  <c:pt idx="14">
                    <c:v>2024</c:v>
                  </c:pt>
                  <c:pt idx="15">
                    <c:v>2020</c:v>
                  </c:pt>
                  <c:pt idx="16">
                    <c:v>2021</c:v>
                  </c:pt>
                  <c:pt idx="17">
                    <c:v>2022</c:v>
                  </c:pt>
                  <c:pt idx="18">
                    <c:v>2023</c:v>
                  </c:pt>
                  <c:pt idx="19">
                    <c:v>2024</c:v>
                  </c:pt>
                </c:lvl>
                <c:lvl>
                  <c:pt idx="0">
                    <c:v>Arizona</c:v>
                  </c:pt>
                  <c:pt idx="5">
                    <c:v>Michigan</c:v>
                  </c:pt>
                  <c:pt idx="10">
                    <c:v>Nevada</c:v>
                  </c:pt>
                  <c:pt idx="15">
                    <c:v>New Mexico</c:v>
                  </c:pt>
                </c:lvl>
              </c:multiLvlStrCache>
            </c:multiLvlStrRef>
          </c:cat>
          <c:val>
            <c:numRef>
              <c:f>'Q3'!$C$3:$C$27</c:f>
              <c:numCache>
                <c:formatCode>General</c:formatCode>
                <c:ptCount val="20"/>
                <c:pt idx="0">
                  <c:v>8647</c:v>
                </c:pt>
                <c:pt idx="1">
                  <c:v>9280</c:v>
                </c:pt>
                <c:pt idx="2">
                  <c:v>9149</c:v>
                </c:pt>
                <c:pt idx="3">
                  <c:v>9464</c:v>
                </c:pt>
                <c:pt idx="4">
                  <c:v>9623</c:v>
                </c:pt>
                <c:pt idx="5">
                  <c:v>24921</c:v>
                </c:pt>
                <c:pt idx="6">
                  <c:v>23324</c:v>
                </c:pt>
                <c:pt idx="7">
                  <c:v>26562</c:v>
                </c:pt>
                <c:pt idx="8">
                  <c:v>28751</c:v>
                </c:pt>
                <c:pt idx="9">
                  <c:v>38301</c:v>
                </c:pt>
                <c:pt idx="10">
                  <c:v>240</c:v>
                </c:pt>
                <c:pt idx="11">
                  <c:v>242</c:v>
                </c:pt>
                <c:pt idx="12">
                  <c:v>317</c:v>
                </c:pt>
                <c:pt idx="13">
                  <c:v>353</c:v>
                </c:pt>
                <c:pt idx="14">
                  <c:v>402</c:v>
                </c:pt>
                <c:pt idx="15">
                  <c:v>4203</c:v>
                </c:pt>
                <c:pt idx="16">
                  <c:v>4322</c:v>
                </c:pt>
                <c:pt idx="17">
                  <c:v>4193</c:v>
                </c:pt>
                <c:pt idx="18">
                  <c:v>4569</c:v>
                </c:pt>
                <c:pt idx="19">
                  <c:v>5651</c:v>
                </c:pt>
              </c:numCache>
            </c:numRef>
          </c:val>
          <c:smooth val="0"/>
          <c:extLst>
            <c:ext xmlns:c16="http://schemas.microsoft.com/office/drawing/2014/chart" uri="{C3380CC4-5D6E-409C-BE32-E72D297353CC}">
              <c16:uniqueId val="{00000001-295A-4479-B4AC-E3706E4EDC55}"/>
            </c:ext>
          </c:extLst>
        </c:ser>
        <c:dLbls>
          <c:showLegendKey val="0"/>
          <c:showVal val="0"/>
          <c:showCatName val="0"/>
          <c:showSerName val="0"/>
          <c:showPercent val="0"/>
          <c:showBubbleSize val="0"/>
        </c:dLbls>
        <c:axId val="1528273936"/>
        <c:axId val="1330130336"/>
        <c:axId val="1489770495"/>
      </c:line3DChart>
      <c:catAx>
        <c:axId val="1528273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330130336"/>
        <c:crosses val="autoZero"/>
        <c:auto val="1"/>
        <c:lblAlgn val="ctr"/>
        <c:lblOffset val="100"/>
        <c:noMultiLvlLbl val="0"/>
      </c:catAx>
      <c:valAx>
        <c:axId val="1330130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528273936"/>
        <c:crosses val="autoZero"/>
        <c:crossBetween val="between"/>
      </c:valAx>
      <c:serAx>
        <c:axId val="1489770495"/>
        <c:scaling>
          <c:orientation val="minMax"/>
        </c:scaling>
        <c:delete val="0"/>
        <c:axPos val="b"/>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330130336"/>
      </c:ser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[Medicare_IP_Hospitals_by_Geography_and_Service_2023.xlsx]Cost analysis!PivotTable4</c:name>
    <c:fmtId val="8"/>
  </c:pivotSource>
  <c:chart>
    <c:autoTitleDeleted val="0"/>
    <c:pivotFmts>
      <c:pivotFmt>
        <c:idx val="0"/>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5760382180929514"/>
          <c:y val="3.1378027743836696E-2"/>
          <c:w val="0.67203073756936182"/>
          <c:h val="0.78101910084094028"/>
        </c:manualLayout>
      </c:layout>
      <c:barChart>
        <c:barDir val="bar"/>
        <c:grouping val="percentStacked"/>
        <c:varyColors val="0"/>
        <c:ser>
          <c:idx val="0"/>
          <c:order val="0"/>
          <c:tx>
            <c:strRef>
              <c:f>'Cost analysis'!$B$3</c:f>
              <c:strCache>
                <c:ptCount val="1"/>
                <c:pt idx="0">
                  <c:v>Sum of Sum of Avg_Mdcr_Pymt_Amt</c:v>
                </c:pt>
              </c:strCache>
            </c:strRef>
          </c:tx>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'Cost analysis'!$A$4:$A$22</c:f>
              <c:strCache>
                <c:ptCount val="18"/>
                <c:pt idx="0">
                  <c:v>Alcohol, Druge and Abuse</c:v>
                </c:pt>
                <c:pt idx="1">
                  <c:v>Allergy</c:v>
                </c:pt>
                <c:pt idx="2">
                  <c:v>Anal and Stomach</c:v>
                </c:pt>
                <c:pt idx="3">
                  <c:v>Cardio and Pulomonary Related</c:v>
                </c:pt>
                <c:pt idx="4">
                  <c:v>Eye</c:v>
                </c:pt>
                <c:pt idx="5">
                  <c:v>Hepatitis</c:v>
                </c:pt>
                <c:pt idx="6">
                  <c:v>Hip and Knee</c:v>
                </c:pt>
                <c:pt idx="7">
                  <c:v>Internal Major Procedures</c:v>
                </c:pt>
                <c:pt idx="8">
                  <c:v>Leukemia</c:v>
                </c:pt>
                <c:pt idx="9">
                  <c:v>Major Disorders</c:v>
                </c:pt>
                <c:pt idx="10">
                  <c:v>Maternity</c:v>
                </c:pt>
                <c:pt idx="11">
                  <c:v>Muscular and Skeletal</c:v>
                </c:pt>
                <c:pt idx="12">
                  <c:v>Nervous disorders</c:v>
                </c:pt>
                <c:pt idx="13">
                  <c:v>Other complications</c:v>
                </c:pt>
                <c:pt idx="14">
                  <c:v>Respiration ilness</c:v>
                </c:pt>
                <c:pt idx="15">
                  <c:v>Skin</c:v>
                </c:pt>
                <c:pt idx="16">
                  <c:v>Spine and Bone</c:v>
                </c:pt>
                <c:pt idx="17">
                  <c:v>(blank)</c:v>
                </c:pt>
              </c:strCache>
            </c:strRef>
          </c:cat>
          <c:val>
            <c:numRef>
              <c:f>'Cost analysis'!$B$4:$B$22</c:f>
              <c:numCache>
                <c:formatCode>General</c:formatCode>
                <c:ptCount val="18"/>
                <c:pt idx="0">
                  <c:v>1526438.45</c:v>
                </c:pt>
                <c:pt idx="1">
                  <c:v>646916.69999999995</c:v>
                </c:pt>
                <c:pt idx="2">
                  <c:v>8323107.6800000016</c:v>
                </c:pt>
                <c:pt idx="3">
                  <c:v>99987909.379999995</c:v>
                </c:pt>
                <c:pt idx="4">
                  <c:v>1081211.8600000001</c:v>
                </c:pt>
                <c:pt idx="5">
                  <c:v>6096223.1599999983</c:v>
                </c:pt>
                <c:pt idx="6">
                  <c:v>10052097.469999999</c:v>
                </c:pt>
                <c:pt idx="7">
                  <c:v>120645588.70999999</c:v>
                </c:pt>
                <c:pt idx="8">
                  <c:v>14225590.469999999</c:v>
                </c:pt>
                <c:pt idx="9">
                  <c:v>14279419.110000003</c:v>
                </c:pt>
                <c:pt idx="10">
                  <c:v>12052856.48</c:v>
                </c:pt>
                <c:pt idx="11">
                  <c:v>11304046.720000001</c:v>
                </c:pt>
                <c:pt idx="12">
                  <c:v>11446899.780000001</c:v>
                </c:pt>
                <c:pt idx="13">
                  <c:v>118629437.01999997</c:v>
                </c:pt>
                <c:pt idx="14">
                  <c:v>10465232.470000001</c:v>
                </c:pt>
                <c:pt idx="15">
                  <c:v>17858670.030000001</c:v>
                </c:pt>
                <c:pt idx="16">
                  <c:v>27308824.360000003</c:v>
                </c:pt>
                <c:pt idx="17">
                  <c:v>485930469.85000056</c:v>
                </c:pt>
              </c:numCache>
            </c:numRef>
          </c:val>
          <c:extLst>
            <c:ext xmlns:c16="http://schemas.microsoft.com/office/drawing/2014/chart" uri="{C3380CC4-5D6E-409C-BE32-E72D297353CC}">
              <c16:uniqueId val="{00000000-0E27-435A-BAE0-2D2BE2ECF9A0}"/>
            </c:ext>
          </c:extLst>
        </c:ser>
        <c:ser>
          <c:idx val="1"/>
          <c:order val="1"/>
          <c:tx>
            <c:strRef>
              <c:f>'Cost analysis'!$C$3</c:f>
              <c:strCache>
                <c:ptCount val="1"/>
                <c:pt idx="0">
                  <c:v>Sum of Sum of Avg_Submtd_Cvrd_Chrg</c:v>
                </c:pt>
              </c:strCache>
            </c:strRef>
          </c:tx>
          <c:spPr>
            <a:gradFill rotWithShape="1">
              <a:gsLst>
                <a:gs pos="0">
                  <a:schemeClr val="accent5">
                    <a:tint val="100000"/>
                    <a:shade val="100000"/>
                    <a:satMod val="130000"/>
                  </a:schemeClr>
                </a:gs>
                <a:gs pos="100000">
                  <a:schemeClr val="accent5">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'Cost analysis'!$A$4:$A$22</c:f>
              <c:strCache>
                <c:ptCount val="18"/>
                <c:pt idx="0">
                  <c:v>Alcohol, Druge and Abuse</c:v>
                </c:pt>
                <c:pt idx="1">
                  <c:v>Allergy</c:v>
                </c:pt>
                <c:pt idx="2">
                  <c:v>Anal and Stomach</c:v>
                </c:pt>
                <c:pt idx="3">
                  <c:v>Cardio and Pulomonary Related</c:v>
                </c:pt>
                <c:pt idx="4">
                  <c:v>Eye</c:v>
                </c:pt>
                <c:pt idx="5">
                  <c:v>Hepatitis</c:v>
                </c:pt>
                <c:pt idx="6">
                  <c:v>Hip and Knee</c:v>
                </c:pt>
                <c:pt idx="7">
                  <c:v>Internal Major Procedures</c:v>
                </c:pt>
                <c:pt idx="8">
                  <c:v>Leukemia</c:v>
                </c:pt>
                <c:pt idx="9">
                  <c:v>Major Disorders</c:v>
                </c:pt>
                <c:pt idx="10">
                  <c:v>Maternity</c:v>
                </c:pt>
                <c:pt idx="11">
                  <c:v>Muscular and Skeletal</c:v>
                </c:pt>
                <c:pt idx="12">
                  <c:v>Nervous disorders</c:v>
                </c:pt>
                <c:pt idx="13">
                  <c:v>Other complications</c:v>
                </c:pt>
                <c:pt idx="14">
                  <c:v>Respiration ilness</c:v>
                </c:pt>
                <c:pt idx="15">
                  <c:v>Skin</c:v>
                </c:pt>
                <c:pt idx="16">
                  <c:v>Spine and Bone</c:v>
                </c:pt>
                <c:pt idx="17">
                  <c:v>(blank)</c:v>
                </c:pt>
              </c:strCache>
            </c:strRef>
          </c:cat>
          <c:val>
            <c:numRef>
              <c:f>'Cost analysis'!$C$4:$C$22</c:f>
              <c:numCache>
                <c:formatCode>General</c:formatCode>
                <c:ptCount val="18"/>
                <c:pt idx="0">
                  <c:v>7037082.6700000009</c:v>
                </c:pt>
                <c:pt idx="1">
                  <c:v>3504844.67</c:v>
                </c:pt>
                <c:pt idx="2">
                  <c:v>50735449.229999997</c:v>
                </c:pt>
                <c:pt idx="3">
                  <c:v>542834544.1700002</c:v>
                </c:pt>
                <c:pt idx="4">
                  <c:v>6193536.5300000003</c:v>
                </c:pt>
                <c:pt idx="5">
                  <c:v>33164755.919999994</c:v>
                </c:pt>
                <c:pt idx="6">
                  <c:v>51041981.339999996</c:v>
                </c:pt>
                <c:pt idx="7">
                  <c:v>660861170.77000034</c:v>
                </c:pt>
                <c:pt idx="8">
                  <c:v>70757083.140000015</c:v>
                </c:pt>
                <c:pt idx="9">
                  <c:v>77985506.509999976</c:v>
                </c:pt>
                <c:pt idx="10">
                  <c:v>62720178.410000011</c:v>
                </c:pt>
                <c:pt idx="11">
                  <c:v>60125396.749999993</c:v>
                </c:pt>
                <c:pt idx="12">
                  <c:v>62730115.060000002</c:v>
                </c:pt>
                <c:pt idx="13">
                  <c:v>647700632.12</c:v>
                </c:pt>
                <c:pt idx="14">
                  <c:v>53718570.680000007</c:v>
                </c:pt>
                <c:pt idx="15">
                  <c:v>89339831.499999985</c:v>
                </c:pt>
                <c:pt idx="16">
                  <c:v>133356081.68000001</c:v>
                </c:pt>
                <c:pt idx="17">
                  <c:v>2613806761.1500025</c:v>
                </c:pt>
              </c:numCache>
            </c:numRef>
          </c:val>
          <c:extLst>
            <c:ext xmlns:c16="http://schemas.microsoft.com/office/drawing/2014/chart" uri="{C3380CC4-5D6E-409C-BE32-E72D297353CC}">
              <c16:uniqueId val="{00000001-0E27-435A-BAE0-2D2BE2ECF9A0}"/>
            </c:ext>
          </c:extLst>
        </c:ser>
        <c:dLbls>
          <c:showLegendKey val="0"/>
          <c:showVal val="0"/>
          <c:showCatName val="0"/>
          <c:showSerName val="0"/>
          <c:showPercent val="0"/>
          <c:showBubbleSize val="0"/>
        </c:dLbls>
        <c:gapWidth val="150"/>
        <c:overlap val="100"/>
        <c:axId val="1165478784"/>
        <c:axId val="1165479264"/>
      </c:barChart>
      <c:catAx>
        <c:axId val="1165478784"/>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165479264"/>
        <c:crosses val="autoZero"/>
        <c:auto val="1"/>
        <c:lblAlgn val="ctr"/>
        <c:lblOffset val="100"/>
        <c:noMultiLvlLbl val="0"/>
      </c:catAx>
      <c:valAx>
        <c:axId val="1165479264"/>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165478784"/>
        <c:crosses val="autoZero"/>
        <c:crossBetween val="between"/>
      </c:valAx>
      <c:spPr>
        <a:noFill/>
        <a:ln>
          <a:noFill/>
        </a:ln>
        <a:effectLst/>
      </c:spPr>
    </c:plotArea>
    <c:legend>
      <c:legendPos val="r"/>
      <c:layout>
        <c:manualLayout>
          <c:xMode val="edge"/>
          <c:yMode val="edge"/>
          <c:x val="9.0124583581597278E-2"/>
          <c:y val="0.8808050474376482"/>
          <c:w val="0.86054435781461158"/>
          <c:h val="0.11697468195213111"/>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[Medicare_IP_Hospitals_by_Geography_and_Service_2023.xlsx]Discharge analysis!PivotTable1</c:name>
    <c:fmtId val="11"/>
  </c:pivotSource>
  <c:chart>
    <c:autoTitleDeleted val="1"/>
    <c:pivotFmts>
      <c:pivotFmt>
        <c:idx val="0"/>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'Discharge analysis'!$F$1</c:f>
              <c:strCache>
                <c:ptCount val="1"/>
                <c:pt idx="0">
                  <c:v>Total</c:v>
                </c:pt>
              </c:strCache>
            </c:strRef>
          </c:tx>
          <c:spPr>
            <a:solidFill>
              <a:schemeClr val="accent6"/>
            </a:solidFill>
            <a:ln>
              <a:noFill/>
            </a:ln>
            <a:effectLst/>
            <a:sp3d/>
          </c:spPr>
          <c:invertIfNegative val="0"/>
          <c:cat>
            <c:strRef>
              <c:f>'Discharge analysis'!$E$2:$E$18</c:f>
              <c:strCache>
                <c:ptCount val="16"/>
                <c:pt idx="0">
                  <c:v>Alcohol, Druge and Abuse</c:v>
                </c:pt>
                <c:pt idx="1">
                  <c:v>Allergy</c:v>
                </c:pt>
                <c:pt idx="2">
                  <c:v>Anal and Stomach</c:v>
                </c:pt>
                <c:pt idx="3">
                  <c:v>Cardio and Pulomonary Related</c:v>
                </c:pt>
                <c:pt idx="4">
                  <c:v>Eye</c:v>
                </c:pt>
                <c:pt idx="5">
                  <c:v>Hepatitis</c:v>
                </c:pt>
                <c:pt idx="6">
                  <c:v>Hip and Knee</c:v>
                </c:pt>
                <c:pt idx="7">
                  <c:v>Internal Major Procedures</c:v>
                </c:pt>
                <c:pt idx="8">
                  <c:v>Leukemia</c:v>
                </c:pt>
                <c:pt idx="9">
                  <c:v>Major Disorders</c:v>
                </c:pt>
                <c:pt idx="10">
                  <c:v>Maternity</c:v>
                </c:pt>
                <c:pt idx="11">
                  <c:v>Muscular and Skeletal</c:v>
                </c:pt>
                <c:pt idx="12">
                  <c:v>Nervous disorders</c:v>
                </c:pt>
                <c:pt idx="13">
                  <c:v>Respiration ilness</c:v>
                </c:pt>
                <c:pt idx="14">
                  <c:v>Skin</c:v>
                </c:pt>
                <c:pt idx="15">
                  <c:v>Spine and Bone</c:v>
                </c:pt>
              </c:strCache>
            </c:strRef>
          </c:cat>
          <c:val>
            <c:numRef>
              <c:f>'Discharge analysis'!$F$2:$F$18</c:f>
              <c:numCache>
                <c:formatCode>General</c:formatCode>
                <c:ptCount val="16"/>
                <c:pt idx="0">
                  <c:v>70536</c:v>
                </c:pt>
                <c:pt idx="1">
                  <c:v>7610</c:v>
                </c:pt>
                <c:pt idx="2">
                  <c:v>104008</c:v>
                </c:pt>
                <c:pt idx="3">
                  <c:v>2713218</c:v>
                </c:pt>
                <c:pt idx="4">
                  <c:v>15520</c:v>
                </c:pt>
                <c:pt idx="5">
                  <c:v>150172</c:v>
                </c:pt>
                <c:pt idx="6">
                  <c:v>467890</c:v>
                </c:pt>
                <c:pt idx="7">
                  <c:v>1731578</c:v>
                </c:pt>
                <c:pt idx="8">
                  <c:v>84799</c:v>
                </c:pt>
                <c:pt idx="9">
                  <c:v>852324</c:v>
                </c:pt>
                <c:pt idx="10">
                  <c:v>398197</c:v>
                </c:pt>
                <c:pt idx="11">
                  <c:v>190130</c:v>
                </c:pt>
                <c:pt idx="12">
                  <c:v>257236</c:v>
                </c:pt>
                <c:pt idx="13">
                  <c:v>817863</c:v>
                </c:pt>
                <c:pt idx="14">
                  <c:v>135095</c:v>
                </c:pt>
                <c:pt idx="15">
                  <c:v>253361</c:v>
                </c:pt>
              </c:numCache>
            </c:numRef>
          </c:val>
          <c:extLst>
            <c:ext xmlns:c16="http://schemas.microsoft.com/office/drawing/2014/chart" uri="{C3380CC4-5D6E-409C-BE32-E72D297353CC}">
              <c16:uniqueId val="{00000000-C95B-47CD-97C4-D555E288B5F8}"/>
            </c:ext>
          </c:extLst>
        </c:ser>
        <c:dLbls>
          <c:showLegendKey val="0"/>
          <c:showVal val="0"/>
          <c:showCatName val="0"/>
          <c:showSerName val="0"/>
          <c:showPercent val="0"/>
          <c:showBubbleSize val="0"/>
        </c:dLbls>
        <c:gapWidth val="150"/>
        <c:shape val="box"/>
        <c:axId val="248624895"/>
        <c:axId val="248627775"/>
        <c:axId val="0"/>
      </c:bar3DChart>
      <c:catAx>
        <c:axId val="24862489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48627775"/>
        <c:crosses val="autoZero"/>
        <c:auto val="1"/>
        <c:lblAlgn val="ctr"/>
        <c:lblOffset val="100"/>
        <c:noMultiLvlLbl val="0"/>
      </c:catAx>
      <c:valAx>
        <c:axId val="2486277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24862489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[Medicare_IP_Hospitals_by_Provider_and_Service_2023.xlsx]Sheet1!PivotTable5</c:name>
    <c:fmtId val="22"/>
  </c:pivotSource>
  <c:chart>
    <c:autoTitleDeleted val="0"/>
    <c:pivotFmts>
      <c:pivotFmt>
        <c:idx val="0"/>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a:sp3d/>
        </c:spPr>
        <c:marker>
          <c:symbol val="none"/>
        </c:marker>
        <c:dLbl>
          <c:idx val="0"/>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2"/>
        <c:spPr>
          <a:solidFill>
            <a:schemeClr val="accent6"/>
          </a:solidFill>
          <a:ln>
            <a:noFill/>
          </a:ln>
          <a:effectLst/>
          <a:sp3d/>
        </c:spPr>
        <c:marker>
          <c:symbol val="none"/>
        </c:marker>
        <c:dLbl>
          <c:idx val="0"/>
          <c:layout>
            <c:manualLayout>
              <c:x val="5.730659025787966E-2"/>
              <c:y val="-4.409448818897653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3"/>
        <c:spPr>
          <a:solidFill>
            <a:schemeClr val="accent6"/>
          </a:solidFill>
          <a:ln>
            <a:noFill/>
          </a:ln>
          <a:effectLst/>
          <a:sp3d/>
        </c:spPr>
        <c:marker>
          <c:symbol val="none"/>
        </c:marker>
        <c:dLbl>
          <c:idx val="0"/>
          <c:layout>
            <c:manualLayout>
              <c:x val="6.8767908309455519E-2"/>
              <c:y val="-8.8188976377952838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4"/>
        <c:spPr>
          <a:solidFill>
            <a:schemeClr val="accent6"/>
          </a:solidFill>
          <a:ln>
            <a:noFill/>
          </a:ln>
          <a:effectLst/>
          <a:sp3d/>
        </c:spPr>
        <c:marker>
          <c:symbol val="none"/>
        </c:marker>
        <c:dLbl>
          <c:idx val="0"/>
          <c:layout>
            <c:manualLayout>
              <c:x val="-9.5510983763132766E-3"/>
              <c:y val="-6.299212598425212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5"/>
        <c:spPr>
          <a:solidFill>
            <a:schemeClr val="accent6"/>
          </a:solidFill>
          <a:ln>
            <a:noFill/>
          </a:ln>
          <a:effectLst/>
          <a:sp3d/>
        </c:spPr>
        <c:marker>
          <c:symbol val="none"/>
        </c:marker>
        <c:dLbl>
          <c:idx val="0"/>
          <c:layout>
            <c:manualLayout>
              <c:x val="0.10124164278892073"/>
              <c:y val="-9.0288713910761154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6"/>
        <c:spPr>
          <a:solidFill>
            <a:schemeClr val="accent6"/>
          </a:solidFill>
          <a:ln>
            <a:noFill/>
          </a:ln>
          <a:effectLst/>
          <a:sp3d/>
        </c:spPr>
        <c:marker>
          <c:symbol val="none"/>
        </c:marker>
        <c:dLbl>
          <c:idx val="0"/>
          <c:layout>
            <c:manualLayout>
              <c:x val="2.8653295128939792E-2"/>
              <c:y val="4.4094488188976377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7"/>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a:sp3d/>
        </c:spPr>
        <c:marker>
          <c:symbol val="none"/>
        </c:marker>
        <c:dLbl>
          <c:idx val="0"/>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9"/>
        <c:spPr>
          <a:solidFill>
            <a:schemeClr val="accent6"/>
          </a:solidFill>
          <a:ln>
            <a:noFill/>
          </a:ln>
          <a:effectLst/>
          <a:sp3d/>
        </c:spPr>
        <c:dLbl>
          <c:idx val="0"/>
          <c:layout>
            <c:manualLayout>
              <c:x val="2.8653295128939792E-2"/>
              <c:y val="4.4094488188976377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0"/>
        <c:spPr>
          <a:solidFill>
            <a:schemeClr val="accent6"/>
          </a:solidFill>
          <a:ln>
            <a:noFill/>
          </a:ln>
          <a:effectLst/>
          <a:sp3d/>
        </c:spPr>
        <c:dLbl>
          <c:idx val="0"/>
          <c:layout>
            <c:manualLayout>
              <c:x val="0.10124164278892073"/>
              <c:y val="-9.0288713910761154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1"/>
        <c:spPr>
          <a:solidFill>
            <a:schemeClr val="accent6"/>
          </a:solidFill>
          <a:ln>
            <a:noFill/>
          </a:ln>
          <a:effectLst/>
          <a:sp3d/>
        </c:spPr>
        <c:dLbl>
          <c:idx val="0"/>
          <c:layout>
            <c:manualLayout>
              <c:x val="-9.5510983763132766E-3"/>
              <c:y val="-6.299212598425212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2"/>
        <c:spPr>
          <a:solidFill>
            <a:schemeClr val="accent6"/>
          </a:solidFill>
          <a:ln>
            <a:noFill/>
          </a:ln>
          <a:effectLst/>
          <a:sp3d/>
        </c:spPr>
        <c:dLbl>
          <c:idx val="0"/>
          <c:layout>
            <c:manualLayout>
              <c:x val="6.8767908309455519E-2"/>
              <c:y val="-8.8188976377952838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3"/>
        <c:spPr>
          <a:solidFill>
            <a:schemeClr val="accent6"/>
          </a:solidFill>
          <a:ln>
            <a:noFill/>
          </a:ln>
          <a:effectLst/>
          <a:sp3d/>
        </c:spPr>
        <c:dLbl>
          <c:idx val="0"/>
          <c:layout>
            <c:manualLayout>
              <c:x val="5.730659025787966E-2"/>
              <c:y val="-4.409448818897653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4"/>
        <c:spPr>
          <a:solidFill>
            <a:schemeClr val="accent6"/>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6"/>
          </a:solidFill>
          <a:ln>
            <a:noFill/>
          </a:ln>
          <a:effectLst/>
          <a:sp3d/>
        </c:spPr>
        <c:marker>
          <c:symbol val="none"/>
        </c:marker>
        <c:dLbl>
          <c:idx val="0"/>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6"/>
        <c:spPr>
          <a:solidFill>
            <a:schemeClr val="accent6"/>
          </a:solidFill>
          <a:ln>
            <a:noFill/>
          </a:ln>
          <a:effectLst/>
          <a:sp3d/>
        </c:spPr>
        <c:dLbl>
          <c:idx val="0"/>
          <c:layout>
            <c:manualLayout>
              <c:x val="2.8653295128939792E-2"/>
              <c:y val="4.4094488188976377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7"/>
        <c:spPr>
          <a:solidFill>
            <a:schemeClr val="accent6"/>
          </a:solidFill>
          <a:ln>
            <a:noFill/>
          </a:ln>
          <a:effectLst/>
          <a:sp3d/>
        </c:spPr>
        <c:dLbl>
          <c:idx val="0"/>
          <c:layout>
            <c:manualLayout>
              <c:x val="0.10124164278892073"/>
              <c:y val="-9.0288713910761154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8"/>
        <c:spPr>
          <a:solidFill>
            <a:schemeClr val="accent6"/>
          </a:solidFill>
          <a:ln>
            <a:noFill/>
          </a:ln>
          <a:effectLst/>
          <a:sp3d/>
        </c:spPr>
        <c:dLbl>
          <c:idx val="0"/>
          <c:layout>
            <c:manualLayout>
              <c:x val="-9.5510983763132766E-3"/>
              <c:y val="-6.299212598425212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9"/>
        <c:spPr>
          <a:solidFill>
            <a:schemeClr val="accent6"/>
          </a:solidFill>
          <a:ln>
            <a:noFill/>
          </a:ln>
          <a:effectLst/>
          <a:sp3d/>
        </c:spPr>
        <c:dLbl>
          <c:idx val="0"/>
          <c:layout>
            <c:manualLayout>
              <c:x val="6.8767908309455519E-2"/>
              <c:y val="-8.8188976377952838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20"/>
        <c:spPr>
          <a:solidFill>
            <a:schemeClr val="accent6"/>
          </a:solidFill>
          <a:ln>
            <a:noFill/>
          </a:ln>
          <a:effectLst/>
          <a:sp3d/>
        </c:spPr>
        <c:dLbl>
          <c:idx val="0"/>
          <c:layout>
            <c:manualLayout>
              <c:x val="5.730659025787966E-2"/>
              <c:y val="-4.409448818897653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s>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Sheet1!$B$3</c:f>
              <c:strCache>
                <c:ptCount val="1"/>
                <c:pt idx="0">
                  <c:v>Sum of Avg_Mdcr_Pymt_Amt</c:v>
                </c:pt>
              </c:strCache>
            </c:strRef>
          </c:tx>
          <c:spPr>
            <a:solidFill>
              <a:schemeClr val="accent6"/>
            </a:solidFill>
            <a:ln>
              <a:noFill/>
            </a:ln>
            <a:effectLst/>
            <a:sp3d/>
          </c:spPr>
          <c:invertIfNegative val="0"/>
          <c:dLbls>
            <c:dLbl>
              <c:idx val="0"/>
              <c:layout>
                <c:manualLayout>
                  <c:x val="4.0361775221283494E-2"/>
                  <c:y val="-0.1369223028821965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E04-4D9A-A6AE-B5625AAA8F4B}"/>
                </c:ext>
              </c:extLst>
            </c:dLbl>
            <c:dLbl>
              <c:idx val="1"/>
              <c:layout>
                <c:manualLayout>
                  <c:x val="5.8300341986298417E-2"/>
                  <c:y val="-0.1625952346726083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E04-4D9A-A6AE-B5625AAA8F4B}"/>
                </c:ext>
              </c:extLst>
            </c:dLbl>
            <c:dLbl>
              <c:idx val="2"/>
              <c:layout>
                <c:manualLayout>
                  <c:x val="5.5310580858795935E-2"/>
                  <c:y val="-0.1083968231150723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E04-4D9A-A6AE-B5625AAA8F4B}"/>
                </c:ext>
              </c:extLst>
            </c:dLbl>
            <c:dLbl>
              <c:idx val="3"/>
              <c:layout>
                <c:manualLayout>
                  <c:x val="7.1754267060059593E-2"/>
                  <c:y val="-0.1141019190684970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E04-4D9A-A6AE-B5625AAA8F4B}"/>
                </c:ext>
              </c:extLst>
            </c:dLbl>
            <c:dLbl>
              <c:idx val="4"/>
              <c:layout>
                <c:manualLayout>
                  <c:x val="9.4177475516328102E-2"/>
                  <c:y val="-0.1083968231150722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3E04-4D9A-A6AE-B5625AAA8F4B}"/>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Sheet1!$A$4:$A$9</c:f>
              <c:strCache>
                <c:ptCount val="5"/>
                <c:pt idx="0">
                  <c:v>Metropolitian</c:v>
                </c:pt>
                <c:pt idx="1">
                  <c:v>Micropolitian</c:v>
                </c:pt>
                <c:pt idx="2">
                  <c:v>Small Town</c:v>
                </c:pt>
                <c:pt idx="3">
                  <c:v>Rural</c:v>
                </c:pt>
                <c:pt idx="4">
                  <c:v>Secondary flow to Urban</c:v>
                </c:pt>
              </c:strCache>
            </c:strRef>
          </c:cat>
          <c:val>
            <c:numRef>
              <c:f>Sheet1!$B$4:$B$9</c:f>
              <c:numCache>
                <c:formatCode>"$"#,##0.00_);[Red]\("$"#,##0.00\)</c:formatCode>
                <c:ptCount val="5"/>
                <c:pt idx="0">
                  <c:v>2056723812.2501493</c:v>
                </c:pt>
                <c:pt idx="1">
                  <c:v>121063255.90999982</c:v>
                </c:pt>
                <c:pt idx="2">
                  <c:v>16950672.090000037</c:v>
                </c:pt>
                <c:pt idx="3">
                  <c:v>5451659.5399999982</c:v>
                </c:pt>
                <c:pt idx="4">
                  <c:v>36705518.619999975</c:v>
                </c:pt>
              </c:numCache>
            </c:numRef>
          </c:val>
          <c:extLst>
            <c:ext xmlns:c16="http://schemas.microsoft.com/office/drawing/2014/chart" uri="{C3380CC4-5D6E-409C-BE32-E72D297353CC}">
              <c16:uniqueId val="{00000000-9A46-4391-B0BC-110FC5CE6C27}"/>
            </c:ext>
          </c:extLst>
        </c:ser>
        <c:ser>
          <c:idx val="1"/>
          <c:order val="1"/>
          <c:tx>
            <c:strRef>
              <c:f>Sheet1!$C$3</c:f>
              <c:strCache>
                <c:ptCount val="1"/>
                <c:pt idx="0">
                  <c:v>Sum of Avg_Tot_Pymt_Amt</c:v>
                </c:pt>
              </c:strCache>
            </c:strRef>
          </c:tx>
          <c:spPr>
            <a:solidFill>
              <a:schemeClr val="accent5"/>
            </a:solidFill>
            <a:ln>
              <a:noFill/>
            </a:ln>
            <a:effectLst/>
            <a:sp3d/>
          </c:spPr>
          <c:invertIfNegative val="0"/>
          <c:dPt>
            <c:idx val="0"/>
            <c:invertIfNegative val="0"/>
            <c:bubble3D val="0"/>
            <c:spPr>
              <a:solidFill>
                <a:schemeClr val="accent5"/>
              </a:solidFill>
              <a:ln>
                <a:noFill/>
              </a:ln>
              <a:effectLst/>
              <a:sp3d/>
            </c:spPr>
            <c:extLst>
              <c:ext xmlns:c16="http://schemas.microsoft.com/office/drawing/2014/chart" uri="{C3380CC4-5D6E-409C-BE32-E72D297353CC}">
                <c16:uniqueId val="{00000002-9A46-4391-B0BC-110FC5CE6C27}"/>
              </c:ext>
            </c:extLst>
          </c:dPt>
          <c:dPt>
            <c:idx val="1"/>
            <c:invertIfNegative val="0"/>
            <c:bubble3D val="0"/>
            <c:spPr>
              <a:solidFill>
                <a:schemeClr val="accent5"/>
              </a:solidFill>
              <a:ln>
                <a:noFill/>
              </a:ln>
              <a:effectLst/>
              <a:sp3d/>
            </c:spPr>
            <c:extLst>
              <c:ext xmlns:c16="http://schemas.microsoft.com/office/drawing/2014/chart" uri="{C3380CC4-5D6E-409C-BE32-E72D297353CC}">
                <c16:uniqueId val="{00000004-9A46-4391-B0BC-110FC5CE6C27}"/>
              </c:ext>
            </c:extLst>
          </c:dPt>
          <c:dPt>
            <c:idx val="2"/>
            <c:invertIfNegative val="0"/>
            <c:bubble3D val="0"/>
            <c:spPr>
              <a:solidFill>
                <a:schemeClr val="accent5"/>
              </a:solidFill>
              <a:ln>
                <a:noFill/>
              </a:ln>
              <a:effectLst/>
              <a:sp3d/>
            </c:spPr>
            <c:extLst>
              <c:ext xmlns:c16="http://schemas.microsoft.com/office/drawing/2014/chart" uri="{C3380CC4-5D6E-409C-BE32-E72D297353CC}">
                <c16:uniqueId val="{00000006-9A46-4391-B0BC-110FC5CE6C27}"/>
              </c:ext>
            </c:extLst>
          </c:dPt>
          <c:dPt>
            <c:idx val="3"/>
            <c:invertIfNegative val="0"/>
            <c:bubble3D val="0"/>
            <c:spPr>
              <a:solidFill>
                <a:schemeClr val="accent5"/>
              </a:solidFill>
              <a:ln>
                <a:noFill/>
              </a:ln>
              <a:effectLst/>
              <a:sp3d/>
            </c:spPr>
            <c:extLst>
              <c:ext xmlns:c16="http://schemas.microsoft.com/office/drawing/2014/chart" uri="{C3380CC4-5D6E-409C-BE32-E72D297353CC}">
                <c16:uniqueId val="{00000008-9A46-4391-B0BC-110FC5CE6C27}"/>
              </c:ext>
            </c:extLst>
          </c:dPt>
          <c:dPt>
            <c:idx val="4"/>
            <c:invertIfNegative val="0"/>
            <c:bubble3D val="0"/>
            <c:spPr>
              <a:solidFill>
                <a:schemeClr val="accent5"/>
              </a:solidFill>
              <a:ln>
                <a:noFill/>
              </a:ln>
              <a:effectLst/>
              <a:sp3d/>
            </c:spPr>
            <c:extLst>
              <c:ext xmlns:c16="http://schemas.microsoft.com/office/drawing/2014/chart" uri="{C3380CC4-5D6E-409C-BE32-E72D297353CC}">
                <c16:uniqueId val="{0000000A-9A46-4391-B0BC-110FC5CE6C27}"/>
              </c:ext>
            </c:extLst>
          </c:dPt>
          <c:dLbls>
            <c:dLbl>
              <c:idx val="0"/>
              <c:layout>
                <c:manualLayout>
                  <c:x val="9.5922954561986989E-2"/>
                  <c:y val="5.835729174153669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A46-4391-B0BC-110FC5CE6C27}"/>
                </c:ext>
              </c:extLst>
            </c:dLbl>
            <c:dLbl>
              <c:idx val="1"/>
              <c:layout>
                <c:manualLayout>
                  <c:x val="4.4436207560988185E-2"/>
                  <c:y val="-0.1102565945518580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A46-4391-B0BC-110FC5CE6C27}"/>
                </c:ext>
              </c:extLst>
            </c:dLbl>
            <c:dLbl>
              <c:idx val="2"/>
              <c:layout>
                <c:manualLayout>
                  <c:x val="3.3800426617725664E-2"/>
                  <c:y val="-5.44344767483648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A46-4391-B0BC-110FC5CE6C27}"/>
                </c:ext>
              </c:extLst>
            </c:dLbl>
            <c:dLbl>
              <c:idx val="3"/>
              <c:layout>
                <c:manualLayout>
                  <c:x val="4.335494985558512E-2"/>
                  <c:y val="-5.39583033853231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A46-4391-B0BC-110FC5CE6C27}"/>
                </c:ext>
              </c:extLst>
            </c:dLbl>
            <c:dLbl>
              <c:idx val="4"/>
              <c:layout>
                <c:manualLayout>
                  <c:x val="6.926558518924128E-2"/>
                  <c:y val="-4.69470998346870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A46-4391-B0BC-110FC5CE6C27}"/>
                </c:ext>
              </c:extLst>
            </c:dLbl>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11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Sheet1!$A$4:$A$9</c:f>
              <c:strCache>
                <c:ptCount val="5"/>
                <c:pt idx="0">
                  <c:v>Metropolitian</c:v>
                </c:pt>
                <c:pt idx="1">
                  <c:v>Micropolitian</c:v>
                </c:pt>
                <c:pt idx="2">
                  <c:v>Small Town</c:v>
                </c:pt>
                <c:pt idx="3">
                  <c:v>Rural</c:v>
                </c:pt>
                <c:pt idx="4">
                  <c:v>Secondary flow to Urban</c:v>
                </c:pt>
              </c:strCache>
            </c:strRef>
          </c:cat>
          <c:val>
            <c:numRef>
              <c:f>Sheet1!$C$4:$C$9</c:f>
              <c:numCache>
                <c:formatCode>"$"#,##0.00_);[Red]\("$"#,##0.00\)</c:formatCode>
                <c:ptCount val="5"/>
                <c:pt idx="0">
                  <c:v>2491677698.4101396</c:v>
                </c:pt>
                <c:pt idx="1">
                  <c:v>140678142.40000039</c:v>
                </c:pt>
                <c:pt idx="2">
                  <c:v>19265333.670000024</c:v>
                </c:pt>
                <c:pt idx="3">
                  <c:v>6236795.2400000002</c:v>
                </c:pt>
                <c:pt idx="4">
                  <c:v>43360929.730000034</c:v>
                </c:pt>
              </c:numCache>
            </c:numRef>
          </c:val>
          <c:extLst>
            <c:ext xmlns:c16="http://schemas.microsoft.com/office/drawing/2014/chart" uri="{C3380CC4-5D6E-409C-BE32-E72D297353CC}">
              <c16:uniqueId val="{0000000B-9A46-4391-B0BC-110FC5CE6C27}"/>
            </c:ext>
          </c:extLst>
        </c:ser>
        <c:dLbls>
          <c:showLegendKey val="0"/>
          <c:showVal val="0"/>
          <c:showCatName val="0"/>
          <c:showSerName val="0"/>
          <c:showPercent val="0"/>
          <c:showBubbleSize val="0"/>
        </c:dLbls>
        <c:gapWidth val="219"/>
        <c:shape val="box"/>
        <c:axId val="137105359"/>
        <c:axId val="137106799"/>
        <c:axId val="0"/>
      </c:bar3DChart>
      <c:catAx>
        <c:axId val="1371053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37106799"/>
        <c:crosses val="autoZero"/>
        <c:auto val="1"/>
        <c:lblAlgn val="ctr"/>
        <c:lblOffset val="100"/>
        <c:noMultiLvlLbl val="0"/>
      </c:catAx>
      <c:valAx>
        <c:axId val="137106799"/>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_);[Red]\(&quot;$&quot;#,##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3710535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4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ata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ata5.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5.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615A78-1941-44B4-B846-C408D1E0F4E7}" type="doc">
      <dgm:prSet loTypeId="urn:microsoft.com/office/officeart/2016/7/layout/ChevronBlockProcess" loCatId="process" qsTypeId="urn:microsoft.com/office/officeart/2005/8/quickstyle/simple1" qsCatId="simple" csTypeId="urn:microsoft.com/office/officeart/2005/8/colors/colorful1" csCatId="colorful"/>
      <dgm:spPr/>
      <dgm:t>
        <a:bodyPr/>
        <a:lstStyle/>
        <a:p>
          <a:endParaRPr lang="en-US"/>
        </a:p>
      </dgm:t>
    </dgm:pt>
    <dgm:pt modelId="{564EFE37-AD11-4903-9DB0-BE414127D578}">
      <dgm:prSet/>
      <dgm:spPr/>
      <dgm:t>
        <a:bodyPr/>
        <a:lstStyle/>
        <a:p>
          <a:r>
            <a:rPr lang="en-US"/>
            <a:t>Evaluate</a:t>
          </a:r>
        </a:p>
      </dgm:t>
    </dgm:pt>
    <dgm:pt modelId="{3BDB03DF-EC05-422C-B929-2E3249176D38}" type="parTrans" cxnId="{1F594C81-4DD2-46C2-8AD6-2B9FCE50879B}">
      <dgm:prSet/>
      <dgm:spPr/>
      <dgm:t>
        <a:bodyPr/>
        <a:lstStyle/>
        <a:p>
          <a:endParaRPr lang="en-US"/>
        </a:p>
      </dgm:t>
    </dgm:pt>
    <dgm:pt modelId="{E6A1ADDC-9632-4000-948B-C1C4D6822224}" type="sibTrans" cxnId="{1F594C81-4DD2-46C2-8AD6-2B9FCE50879B}">
      <dgm:prSet/>
      <dgm:spPr/>
      <dgm:t>
        <a:bodyPr/>
        <a:lstStyle/>
        <a:p>
          <a:endParaRPr lang="en-US"/>
        </a:p>
      </dgm:t>
    </dgm:pt>
    <dgm:pt modelId="{8BE0922F-9376-4117-A72B-79DD091A5730}">
      <dgm:prSet/>
      <dgm:spPr/>
      <dgm:t>
        <a:bodyPr/>
        <a:lstStyle/>
        <a:p>
          <a:r>
            <a:rPr lang="en-US"/>
            <a:t>Evaluate provider availability vs. patient access</a:t>
          </a:r>
        </a:p>
      </dgm:t>
    </dgm:pt>
    <dgm:pt modelId="{F3ED7C85-A990-4601-AED7-8A4CC687A687}" type="parTrans" cxnId="{E8D23F43-333D-4126-ACCD-5EFA706707B5}">
      <dgm:prSet/>
      <dgm:spPr/>
      <dgm:t>
        <a:bodyPr/>
        <a:lstStyle/>
        <a:p>
          <a:endParaRPr lang="en-US"/>
        </a:p>
      </dgm:t>
    </dgm:pt>
    <dgm:pt modelId="{C3DB4F58-56EE-4BBF-8531-B8FDC3EF99C7}" type="sibTrans" cxnId="{E8D23F43-333D-4126-ACCD-5EFA706707B5}">
      <dgm:prSet/>
      <dgm:spPr/>
      <dgm:t>
        <a:bodyPr/>
        <a:lstStyle/>
        <a:p>
          <a:endParaRPr lang="en-US"/>
        </a:p>
      </dgm:t>
    </dgm:pt>
    <dgm:pt modelId="{6B1C6B79-1E94-4B0C-A1FA-4D6BE69927E6}">
      <dgm:prSet/>
      <dgm:spPr/>
      <dgm:t>
        <a:bodyPr/>
        <a:lstStyle/>
        <a:p>
          <a:r>
            <a:rPr lang="en-US"/>
            <a:t>Identify</a:t>
          </a:r>
        </a:p>
      </dgm:t>
    </dgm:pt>
    <dgm:pt modelId="{34ABF55A-1008-4D47-AB47-CD7424CB9F28}" type="parTrans" cxnId="{6A2CB0D3-45CB-40D4-A43C-CBAC3DD8895E}">
      <dgm:prSet/>
      <dgm:spPr/>
      <dgm:t>
        <a:bodyPr/>
        <a:lstStyle/>
        <a:p>
          <a:endParaRPr lang="en-US"/>
        </a:p>
      </dgm:t>
    </dgm:pt>
    <dgm:pt modelId="{0F3AE415-E58B-4446-9471-D0BDBB1C908A}" type="sibTrans" cxnId="{6A2CB0D3-45CB-40D4-A43C-CBAC3DD8895E}">
      <dgm:prSet/>
      <dgm:spPr/>
      <dgm:t>
        <a:bodyPr/>
        <a:lstStyle/>
        <a:p>
          <a:endParaRPr lang="en-US"/>
        </a:p>
      </dgm:t>
    </dgm:pt>
    <dgm:pt modelId="{E5813A94-3334-4814-8E42-EABF8E288590}">
      <dgm:prSet/>
      <dgm:spPr/>
      <dgm:t>
        <a:bodyPr/>
        <a:lstStyle/>
        <a:p>
          <a:r>
            <a:rPr lang="en-US"/>
            <a:t>Identify care intensity by plan categories</a:t>
          </a:r>
        </a:p>
      </dgm:t>
    </dgm:pt>
    <dgm:pt modelId="{AB9F21B3-1DC2-42DC-A153-BB7341B88560}" type="parTrans" cxnId="{150BE5DA-06C4-464D-A83F-5B86AF0B5018}">
      <dgm:prSet/>
      <dgm:spPr/>
      <dgm:t>
        <a:bodyPr/>
        <a:lstStyle/>
        <a:p>
          <a:endParaRPr lang="en-US"/>
        </a:p>
      </dgm:t>
    </dgm:pt>
    <dgm:pt modelId="{D7282DDD-1663-423F-B183-CB0A9146782C}" type="sibTrans" cxnId="{150BE5DA-06C4-464D-A83F-5B86AF0B5018}">
      <dgm:prSet/>
      <dgm:spPr/>
      <dgm:t>
        <a:bodyPr/>
        <a:lstStyle/>
        <a:p>
          <a:endParaRPr lang="en-US"/>
        </a:p>
      </dgm:t>
    </dgm:pt>
    <dgm:pt modelId="{A14B78E5-74AD-4073-A2FF-B967EA8F698C}">
      <dgm:prSet/>
      <dgm:spPr/>
      <dgm:t>
        <a:bodyPr/>
        <a:lstStyle/>
        <a:p>
          <a:r>
            <a:rPr lang="en-US"/>
            <a:t>Analyze</a:t>
          </a:r>
        </a:p>
      </dgm:t>
    </dgm:pt>
    <dgm:pt modelId="{4C1043AF-8264-4BDF-B79A-4E5B1828B575}" type="parTrans" cxnId="{C3F5A867-38A7-4BAB-869E-6CF226BC68B9}">
      <dgm:prSet/>
      <dgm:spPr/>
      <dgm:t>
        <a:bodyPr/>
        <a:lstStyle/>
        <a:p>
          <a:endParaRPr lang="en-US"/>
        </a:p>
      </dgm:t>
    </dgm:pt>
    <dgm:pt modelId="{49DE1C9A-27AB-48B5-A52E-1FD243E52AF6}" type="sibTrans" cxnId="{C3F5A867-38A7-4BAB-869E-6CF226BC68B9}">
      <dgm:prSet/>
      <dgm:spPr/>
      <dgm:t>
        <a:bodyPr/>
        <a:lstStyle/>
        <a:p>
          <a:endParaRPr lang="en-US"/>
        </a:p>
      </dgm:t>
    </dgm:pt>
    <dgm:pt modelId="{1F18AF79-4B8C-4F8F-81B0-AA9B8DF61F2B}">
      <dgm:prSet/>
      <dgm:spPr/>
      <dgm:t>
        <a:bodyPr/>
        <a:lstStyle/>
        <a:p>
          <a:r>
            <a:rPr lang="en-US"/>
            <a:t>Analyze utilization trends across states</a:t>
          </a:r>
        </a:p>
      </dgm:t>
    </dgm:pt>
    <dgm:pt modelId="{A15C8B8A-F69F-4B18-944A-2AC8E74A08A5}" type="parTrans" cxnId="{097D9F5C-023E-4A6C-AC79-F67BC1819E0C}">
      <dgm:prSet/>
      <dgm:spPr/>
      <dgm:t>
        <a:bodyPr/>
        <a:lstStyle/>
        <a:p>
          <a:endParaRPr lang="en-US"/>
        </a:p>
      </dgm:t>
    </dgm:pt>
    <dgm:pt modelId="{CDC9AFC1-C2B0-48E0-BE9B-A8FA30C9521D}" type="sibTrans" cxnId="{097D9F5C-023E-4A6C-AC79-F67BC1819E0C}">
      <dgm:prSet/>
      <dgm:spPr/>
      <dgm:t>
        <a:bodyPr/>
        <a:lstStyle/>
        <a:p>
          <a:endParaRPr lang="en-US"/>
        </a:p>
      </dgm:t>
    </dgm:pt>
    <dgm:pt modelId="{2D42004B-067D-4AB9-9CAD-1FDD4B42DAC2}">
      <dgm:prSet/>
      <dgm:spPr/>
      <dgm:t>
        <a:bodyPr/>
        <a:lstStyle/>
        <a:p>
          <a:r>
            <a:rPr lang="en-US"/>
            <a:t>Compare</a:t>
          </a:r>
        </a:p>
      </dgm:t>
    </dgm:pt>
    <dgm:pt modelId="{B143235B-0CFC-4286-BFA5-13879ADAC89D}" type="parTrans" cxnId="{B6D8084F-2DE6-4543-99AF-98520FAC02CE}">
      <dgm:prSet/>
      <dgm:spPr/>
      <dgm:t>
        <a:bodyPr/>
        <a:lstStyle/>
        <a:p>
          <a:endParaRPr lang="en-US"/>
        </a:p>
      </dgm:t>
    </dgm:pt>
    <dgm:pt modelId="{984279B6-0E82-49CC-9DF4-F97986A88530}" type="sibTrans" cxnId="{B6D8084F-2DE6-4543-99AF-98520FAC02CE}">
      <dgm:prSet/>
      <dgm:spPr/>
      <dgm:t>
        <a:bodyPr/>
        <a:lstStyle/>
        <a:p>
          <a:endParaRPr lang="en-US"/>
        </a:p>
      </dgm:t>
    </dgm:pt>
    <dgm:pt modelId="{569C482A-43BB-4553-A242-13608EBCC40B}">
      <dgm:prSet/>
      <dgm:spPr/>
      <dgm:t>
        <a:bodyPr/>
        <a:lstStyle/>
        <a:p>
          <a:r>
            <a:rPr lang="en-US"/>
            <a:t>Compare Medicare payments vs. charges</a:t>
          </a:r>
        </a:p>
      </dgm:t>
    </dgm:pt>
    <dgm:pt modelId="{3469D9B5-CAEE-4730-866D-49794973F6B5}" type="parTrans" cxnId="{92C14080-1B5A-457B-A240-BA8BE58063C1}">
      <dgm:prSet/>
      <dgm:spPr/>
      <dgm:t>
        <a:bodyPr/>
        <a:lstStyle/>
        <a:p>
          <a:endParaRPr lang="en-US"/>
        </a:p>
      </dgm:t>
    </dgm:pt>
    <dgm:pt modelId="{D7F31F18-25EB-4F4B-862E-F7C03549D34B}" type="sibTrans" cxnId="{92C14080-1B5A-457B-A240-BA8BE58063C1}">
      <dgm:prSet/>
      <dgm:spPr/>
      <dgm:t>
        <a:bodyPr/>
        <a:lstStyle/>
        <a:p>
          <a:endParaRPr lang="en-US"/>
        </a:p>
      </dgm:t>
    </dgm:pt>
    <dgm:pt modelId="{F038A9E8-C34B-4427-A85E-92B078E02DEC}">
      <dgm:prSet/>
      <dgm:spPr/>
      <dgm:t>
        <a:bodyPr/>
        <a:lstStyle/>
        <a:p>
          <a:r>
            <a:rPr lang="en-US"/>
            <a:t>Assess</a:t>
          </a:r>
        </a:p>
      </dgm:t>
    </dgm:pt>
    <dgm:pt modelId="{4D7B6650-E0C9-4D1C-AD7A-3703BF74A494}" type="parTrans" cxnId="{0FCD2F52-3A30-4203-ABFF-2E7DC6C51B47}">
      <dgm:prSet/>
      <dgm:spPr/>
      <dgm:t>
        <a:bodyPr/>
        <a:lstStyle/>
        <a:p>
          <a:endParaRPr lang="en-US"/>
        </a:p>
      </dgm:t>
    </dgm:pt>
    <dgm:pt modelId="{59E9804F-CA54-4281-90D7-006C9AEB927D}" type="sibTrans" cxnId="{0FCD2F52-3A30-4203-ABFF-2E7DC6C51B47}">
      <dgm:prSet/>
      <dgm:spPr/>
      <dgm:t>
        <a:bodyPr/>
        <a:lstStyle/>
        <a:p>
          <a:endParaRPr lang="en-US"/>
        </a:p>
      </dgm:t>
    </dgm:pt>
    <dgm:pt modelId="{E5CA9416-89B3-4D55-B382-78CE6FEFB2A2}">
      <dgm:prSet/>
      <dgm:spPr/>
      <dgm:t>
        <a:bodyPr/>
        <a:lstStyle/>
        <a:p>
          <a:r>
            <a:rPr lang="en-US"/>
            <a:t>Assess urban-rural disparities</a:t>
          </a:r>
        </a:p>
      </dgm:t>
    </dgm:pt>
    <dgm:pt modelId="{FF62EE86-D0DB-4317-B894-913333EC97AD}" type="parTrans" cxnId="{95BEED6C-FE58-4A12-B608-1BB137562BC9}">
      <dgm:prSet/>
      <dgm:spPr/>
      <dgm:t>
        <a:bodyPr/>
        <a:lstStyle/>
        <a:p>
          <a:endParaRPr lang="en-US"/>
        </a:p>
      </dgm:t>
    </dgm:pt>
    <dgm:pt modelId="{4FCA3828-3E58-4AA5-A306-C6BA112B58A0}" type="sibTrans" cxnId="{95BEED6C-FE58-4A12-B608-1BB137562BC9}">
      <dgm:prSet/>
      <dgm:spPr/>
      <dgm:t>
        <a:bodyPr/>
        <a:lstStyle/>
        <a:p>
          <a:endParaRPr lang="en-US"/>
        </a:p>
      </dgm:t>
    </dgm:pt>
    <dgm:pt modelId="{9225BABB-25B9-409C-8D7D-83199DAFBCA0}" type="pres">
      <dgm:prSet presAssocID="{B2615A78-1941-44B4-B846-C408D1E0F4E7}" presName="Name0" presStyleCnt="0">
        <dgm:presLayoutVars>
          <dgm:dir/>
          <dgm:animLvl val="lvl"/>
          <dgm:resizeHandles val="exact"/>
        </dgm:presLayoutVars>
      </dgm:prSet>
      <dgm:spPr/>
    </dgm:pt>
    <dgm:pt modelId="{8DCC73D3-FA17-47D1-9279-28FE37CF4939}" type="pres">
      <dgm:prSet presAssocID="{564EFE37-AD11-4903-9DB0-BE414127D578}" presName="composite" presStyleCnt="0"/>
      <dgm:spPr/>
    </dgm:pt>
    <dgm:pt modelId="{BF5CF869-4A3E-48BB-8D2C-A46683E0C801}" type="pres">
      <dgm:prSet presAssocID="{564EFE37-AD11-4903-9DB0-BE414127D578}" presName="parTx" presStyleLbl="alignNode1" presStyleIdx="0" presStyleCnt="5">
        <dgm:presLayoutVars>
          <dgm:chMax val="0"/>
          <dgm:chPref val="0"/>
        </dgm:presLayoutVars>
      </dgm:prSet>
      <dgm:spPr/>
    </dgm:pt>
    <dgm:pt modelId="{BB9CD12B-ECB6-46AC-B8C7-C09ADC5D16AC}" type="pres">
      <dgm:prSet presAssocID="{564EFE37-AD11-4903-9DB0-BE414127D578}" presName="desTx" presStyleLbl="alignAccFollowNode1" presStyleIdx="0" presStyleCnt="5">
        <dgm:presLayoutVars/>
      </dgm:prSet>
      <dgm:spPr/>
    </dgm:pt>
    <dgm:pt modelId="{C011C0F1-64CC-407E-B07F-FA0C11BCC48C}" type="pres">
      <dgm:prSet presAssocID="{E6A1ADDC-9632-4000-948B-C1C4D6822224}" presName="space" presStyleCnt="0"/>
      <dgm:spPr/>
    </dgm:pt>
    <dgm:pt modelId="{C23E7B3B-47F2-4797-84E8-C1D999EF4962}" type="pres">
      <dgm:prSet presAssocID="{6B1C6B79-1E94-4B0C-A1FA-4D6BE69927E6}" presName="composite" presStyleCnt="0"/>
      <dgm:spPr/>
    </dgm:pt>
    <dgm:pt modelId="{B00A0D0B-56BC-4125-A5F8-224FFF513390}" type="pres">
      <dgm:prSet presAssocID="{6B1C6B79-1E94-4B0C-A1FA-4D6BE69927E6}" presName="parTx" presStyleLbl="alignNode1" presStyleIdx="1" presStyleCnt="5">
        <dgm:presLayoutVars>
          <dgm:chMax val="0"/>
          <dgm:chPref val="0"/>
        </dgm:presLayoutVars>
      </dgm:prSet>
      <dgm:spPr/>
    </dgm:pt>
    <dgm:pt modelId="{0BFCD0AC-D790-4A4A-8AE8-8DC4F3B98CE7}" type="pres">
      <dgm:prSet presAssocID="{6B1C6B79-1E94-4B0C-A1FA-4D6BE69927E6}" presName="desTx" presStyleLbl="alignAccFollowNode1" presStyleIdx="1" presStyleCnt="5">
        <dgm:presLayoutVars/>
      </dgm:prSet>
      <dgm:spPr/>
    </dgm:pt>
    <dgm:pt modelId="{888F233D-90DB-46B1-8361-B12F5CEBE198}" type="pres">
      <dgm:prSet presAssocID="{0F3AE415-E58B-4446-9471-D0BDBB1C908A}" presName="space" presStyleCnt="0"/>
      <dgm:spPr/>
    </dgm:pt>
    <dgm:pt modelId="{30CC1756-B914-4233-BE49-68B556001806}" type="pres">
      <dgm:prSet presAssocID="{A14B78E5-74AD-4073-A2FF-B967EA8F698C}" presName="composite" presStyleCnt="0"/>
      <dgm:spPr/>
    </dgm:pt>
    <dgm:pt modelId="{67979850-2F25-4960-9DFA-0D1C4B882BF5}" type="pres">
      <dgm:prSet presAssocID="{A14B78E5-74AD-4073-A2FF-B967EA8F698C}" presName="parTx" presStyleLbl="alignNode1" presStyleIdx="2" presStyleCnt="5">
        <dgm:presLayoutVars>
          <dgm:chMax val="0"/>
          <dgm:chPref val="0"/>
        </dgm:presLayoutVars>
      </dgm:prSet>
      <dgm:spPr/>
    </dgm:pt>
    <dgm:pt modelId="{B1200D51-907A-4261-826B-DC78928DBA25}" type="pres">
      <dgm:prSet presAssocID="{A14B78E5-74AD-4073-A2FF-B967EA8F698C}" presName="desTx" presStyleLbl="alignAccFollowNode1" presStyleIdx="2" presStyleCnt="5">
        <dgm:presLayoutVars/>
      </dgm:prSet>
      <dgm:spPr/>
    </dgm:pt>
    <dgm:pt modelId="{8C292B36-C754-4FD2-A5D1-5AECF7EEB171}" type="pres">
      <dgm:prSet presAssocID="{49DE1C9A-27AB-48B5-A52E-1FD243E52AF6}" presName="space" presStyleCnt="0"/>
      <dgm:spPr/>
    </dgm:pt>
    <dgm:pt modelId="{162B235D-4154-476A-8DAB-F5480FFBB671}" type="pres">
      <dgm:prSet presAssocID="{2D42004B-067D-4AB9-9CAD-1FDD4B42DAC2}" presName="composite" presStyleCnt="0"/>
      <dgm:spPr/>
    </dgm:pt>
    <dgm:pt modelId="{EC89F7DC-3753-473A-A3A7-588B2FF6083E}" type="pres">
      <dgm:prSet presAssocID="{2D42004B-067D-4AB9-9CAD-1FDD4B42DAC2}" presName="parTx" presStyleLbl="alignNode1" presStyleIdx="3" presStyleCnt="5">
        <dgm:presLayoutVars>
          <dgm:chMax val="0"/>
          <dgm:chPref val="0"/>
        </dgm:presLayoutVars>
      </dgm:prSet>
      <dgm:spPr/>
    </dgm:pt>
    <dgm:pt modelId="{F42FE39D-AA41-407B-8661-6FFAF13DB84F}" type="pres">
      <dgm:prSet presAssocID="{2D42004B-067D-4AB9-9CAD-1FDD4B42DAC2}" presName="desTx" presStyleLbl="alignAccFollowNode1" presStyleIdx="3" presStyleCnt="5">
        <dgm:presLayoutVars/>
      </dgm:prSet>
      <dgm:spPr/>
    </dgm:pt>
    <dgm:pt modelId="{619F3962-C99C-449D-84A5-BACC671C27F5}" type="pres">
      <dgm:prSet presAssocID="{984279B6-0E82-49CC-9DF4-F97986A88530}" presName="space" presStyleCnt="0"/>
      <dgm:spPr/>
    </dgm:pt>
    <dgm:pt modelId="{F983CCB2-68D0-4774-87CC-3A1A9056C4CD}" type="pres">
      <dgm:prSet presAssocID="{F038A9E8-C34B-4427-A85E-92B078E02DEC}" presName="composite" presStyleCnt="0"/>
      <dgm:spPr/>
    </dgm:pt>
    <dgm:pt modelId="{DBE72A5F-AE71-43F5-9662-0F3AB7BD8E18}" type="pres">
      <dgm:prSet presAssocID="{F038A9E8-C34B-4427-A85E-92B078E02DEC}" presName="parTx" presStyleLbl="alignNode1" presStyleIdx="4" presStyleCnt="5">
        <dgm:presLayoutVars>
          <dgm:chMax val="0"/>
          <dgm:chPref val="0"/>
        </dgm:presLayoutVars>
      </dgm:prSet>
      <dgm:spPr/>
    </dgm:pt>
    <dgm:pt modelId="{7BE106FF-7851-4A39-9168-028B043B41C0}" type="pres">
      <dgm:prSet presAssocID="{F038A9E8-C34B-4427-A85E-92B078E02DEC}" presName="desTx" presStyleLbl="alignAccFollowNode1" presStyleIdx="4" presStyleCnt="5">
        <dgm:presLayoutVars/>
      </dgm:prSet>
      <dgm:spPr/>
    </dgm:pt>
  </dgm:ptLst>
  <dgm:cxnLst>
    <dgm:cxn modelId="{EF082220-2F5C-4528-8C6C-D9F78B0C03B0}" type="presOf" srcId="{1F18AF79-4B8C-4F8F-81B0-AA9B8DF61F2B}" destId="{B1200D51-907A-4261-826B-DC78928DBA25}" srcOrd="0" destOrd="0" presId="urn:microsoft.com/office/officeart/2016/7/layout/ChevronBlockProcess"/>
    <dgm:cxn modelId="{7B592423-945A-4EAA-B015-FDD3716AF415}" type="presOf" srcId="{A14B78E5-74AD-4073-A2FF-B967EA8F698C}" destId="{67979850-2F25-4960-9DFA-0D1C4B882BF5}" srcOrd="0" destOrd="0" presId="urn:microsoft.com/office/officeart/2016/7/layout/ChevronBlockProcess"/>
    <dgm:cxn modelId="{1888E92D-E4B1-4F60-B68C-147399BC0116}" type="presOf" srcId="{569C482A-43BB-4553-A242-13608EBCC40B}" destId="{F42FE39D-AA41-407B-8661-6FFAF13DB84F}" srcOrd="0" destOrd="0" presId="urn:microsoft.com/office/officeart/2016/7/layout/ChevronBlockProcess"/>
    <dgm:cxn modelId="{C65D2A2F-8E83-4803-9DD1-09F734AE1116}" type="presOf" srcId="{E5813A94-3334-4814-8E42-EABF8E288590}" destId="{0BFCD0AC-D790-4A4A-8AE8-8DC4F3B98CE7}" srcOrd="0" destOrd="0" presId="urn:microsoft.com/office/officeart/2016/7/layout/ChevronBlockProcess"/>
    <dgm:cxn modelId="{097D9F5C-023E-4A6C-AC79-F67BC1819E0C}" srcId="{A14B78E5-74AD-4073-A2FF-B967EA8F698C}" destId="{1F18AF79-4B8C-4F8F-81B0-AA9B8DF61F2B}" srcOrd="0" destOrd="0" parTransId="{A15C8B8A-F69F-4B18-944A-2AC8E74A08A5}" sibTransId="{CDC9AFC1-C2B0-48E0-BE9B-A8FA30C9521D}"/>
    <dgm:cxn modelId="{6A3E3A5E-F6BA-4A68-ABE1-29FF0A9BAE64}" type="presOf" srcId="{6B1C6B79-1E94-4B0C-A1FA-4D6BE69927E6}" destId="{B00A0D0B-56BC-4125-A5F8-224FFF513390}" srcOrd="0" destOrd="0" presId="urn:microsoft.com/office/officeart/2016/7/layout/ChevronBlockProcess"/>
    <dgm:cxn modelId="{066F1361-C6CC-4225-AA2D-84DF3431213D}" type="presOf" srcId="{E5CA9416-89B3-4D55-B382-78CE6FEFB2A2}" destId="{7BE106FF-7851-4A39-9168-028B043B41C0}" srcOrd="0" destOrd="0" presId="urn:microsoft.com/office/officeart/2016/7/layout/ChevronBlockProcess"/>
    <dgm:cxn modelId="{E8D23F43-333D-4126-ACCD-5EFA706707B5}" srcId="{564EFE37-AD11-4903-9DB0-BE414127D578}" destId="{8BE0922F-9376-4117-A72B-79DD091A5730}" srcOrd="0" destOrd="0" parTransId="{F3ED7C85-A990-4601-AED7-8A4CC687A687}" sibTransId="{C3DB4F58-56EE-4BBF-8531-B8FDC3EF99C7}"/>
    <dgm:cxn modelId="{C3F5A867-38A7-4BAB-869E-6CF226BC68B9}" srcId="{B2615A78-1941-44B4-B846-C408D1E0F4E7}" destId="{A14B78E5-74AD-4073-A2FF-B967EA8F698C}" srcOrd="2" destOrd="0" parTransId="{4C1043AF-8264-4BDF-B79A-4E5B1828B575}" sibTransId="{49DE1C9A-27AB-48B5-A52E-1FD243E52AF6}"/>
    <dgm:cxn modelId="{20071769-F70E-4C87-AC9D-5C149B61DAE3}" type="presOf" srcId="{564EFE37-AD11-4903-9DB0-BE414127D578}" destId="{BF5CF869-4A3E-48BB-8D2C-A46683E0C801}" srcOrd="0" destOrd="0" presId="urn:microsoft.com/office/officeart/2016/7/layout/ChevronBlockProcess"/>
    <dgm:cxn modelId="{95BEED6C-FE58-4A12-B608-1BB137562BC9}" srcId="{F038A9E8-C34B-4427-A85E-92B078E02DEC}" destId="{E5CA9416-89B3-4D55-B382-78CE6FEFB2A2}" srcOrd="0" destOrd="0" parTransId="{FF62EE86-D0DB-4317-B894-913333EC97AD}" sibTransId="{4FCA3828-3E58-4AA5-A306-C6BA112B58A0}"/>
    <dgm:cxn modelId="{B6D8084F-2DE6-4543-99AF-98520FAC02CE}" srcId="{B2615A78-1941-44B4-B846-C408D1E0F4E7}" destId="{2D42004B-067D-4AB9-9CAD-1FDD4B42DAC2}" srcOrd="3" destOrd="0" parTransId="{B143235B-0CFC-4286-BFA5-13879ADAC89D}" sibTransId="{984279B6-0E82-49CC-9DF4-F97986A88530}"/>
    <dgm:cxn modelId="{0FCD2F52-3A30-4203-ABFF-2E7DC6C51B47}" srcId="{B2615A78-1941-44B4-B846-C408D1E0F4E7}" destId="{F038A9E8-C34B-4427-A85E-92B078E02DEC}" srcOrd="4" destOrd="0" parTransId="{4D7B6650-E0C9-4D1C-AD7A-3703BF74A494}" sibTransId="{59E9804F-CA54-4281-90D7-006C9AEB927D}"/>
    <dgm:cxn modelId="{92C14080-1B5A-457B-A240-BA8BE58063C1}" srcId="{2D42004B-067D-4AB9-9CAD-1FDD4B42DAC2}" destId="{569C482A-43BB-4553-A242-13608EBCC40B}" srcOrd="0" destOrd="0" parTransId="{3469D9B5-CAEE-4730-866D-49794973F6B5}" sibTransId="{D7F31F18-25EB-4F4B-862E-F7C03549D34B}"/>
    <dgm:cxn modelId="{1F594C81-4DD2-46C2-8AD6-2B9FCE50879B}" srcId="{B2615A78-1941-44B4-B846-C408D1E0F4E7}" destId="{564EFE37-AD11-4903-9DB0-BE414127D578}" srcOrd="0" destOrd="0" parTransId="{3BDB03DF-EC05-422C-B929-2E3249176D38}" sibTransId="{E6A1ADDC-9632-4000-948B-C1C4D6822224}"/>
    <dgm:cxn modelId="{B8CF5AB2-7929-4751-A295-8AE6EAC5D042}" type="presOf" srcId="{8BE0922F-9376-4117-A72B-79DD091A5730}" destId="{BB9CD12B-ECB6-46AC-B8C7-C09ADC5D16AC}" srcOrd="0" destOrd="0" presId="urn:microsoft.com/office/officeart/2016/7/layout/ChevronBlockProcess"/>
    <dgm:cxn modelId="{30A964BB-065F-4808-84B1-2B284654185F}" type="presOf" srcId="{B2615A78-1941-44B4-B846-C408D1E0F4E7}" destId="{9225BABB-25B9-409C-8D7D-83199DAFBCA0}" srcOrd="0" destOrd="0" presId="urn:microsoft.com/office/officeart/2016/7/layout/ChevronBlockProcess"/>
    <dgm:cxn modelId="{6A2CB0D3-45CB-40D4-A43C-CBAC3DD8895E}" srcId="{B2615A78-1941-44B4-B846-C408D1E0F4E7}" destId="{6B1C6B79-1E94-4B0C-A1FA-4D6BE69927E6}" srcOrd="1" destOrd="0" parTransId="{34ABF55A-1008-4D47-AB47-CD7424CB9F28}" sibTransId="{0F3AE415-E58B-4446-9471-D0BDBB1C908A}"/>
    <dgm:cxn modelId="{274F90D4-A56D-49D0-AE65-62D0FDF27443}" type="presOf" srcId="{F038A9E8-C34B-4427-A85E-92B078E02DEC}" destId="{DBE72A5F-AE71-43F5-9662-0F3AB7BD8E18}" srcOrd="0" destOrd="0" presId="urn:microsoft.com/office/officeart/2016/7/layout/ChevronBlockProcess"/>
    <dgm:cxn modelId="{D3DC12DA-CDBF-435B-BC31-C58BA524C26A}" type="presOf" srcId="{2D42004B-067D-4AB9-9CAD-1FDD4B42DAC2}" destId="{EC89F7DC-3753-473A-A3A7-588B2FF6083E}" srcOrd="0" destOrd="0" presId="urn:microsoft.com/office/officeart/2016/7/layout/ChevronBlockProcess"/>
    <dgm:cxn modelId="{150BE5DA-06C4-464D-A83F-5B86AF0B5018}" srcId="{6B1C6B79-1E94-4B0C-A1FA-4D6BE69927E6}" destId="{E5813A94-3334-4814-8E42-EABF8E288590}" srcOrd="0" destOrd="0" parTransId="{AB9F21B3-1DC2-42DC-A153-BB7341B88560}" sibTransId="{D7282DDD-1663-423F-B183-CB0A9146782C}"/>
    <dgm:cxn modelId="{9DDFF242-E048-4558-B583-D706F7945A31}" type="presParOf" srcId="{9225BABB-25B9-409C-8D7D-83199DAFBCA0}" destId="{8DCC73D3-FA17-47D1-9279-28FE37CF4939}" srcOrd="0" destOrd="0" presId="urn:microsoft.com/office/officeart/2016/7/layout/ChevronBlockProcess"/>
    <dgm:cxn modelId="{98725CD4-74B6-4763-93E4-9D307C9875C2}" type="presParOf" srcId="{8DCC73D3-FA17-47D1-9279-28FE37CF4939}" destId="{BF5CF869-4A3E-48BB-8D2C-A46683E0C801}" srcOrd="0" destOrd="0" presId="urn:microsoft.com/office/officeart/2016/7/layout/ChevronBlockProcess"/>
    <dgm:cxn modelId="{FE79D79D-FD01-4CFE-9636-C9708F94ACA3}" type="presParOf" srcId="{8DCC73D3-FA17-47D1-9279-28FE37CF4939}" destId="{BB9CD12B-ECB6-46AC-B8C7-C09ADC5D16AC}" srcOrd="1" destOrd="0" presId="urn:microsoft.com/office/officeart/2016/7/layout/ChevronBlockProcess"/>
    <dgm:cxn modelId="{ED754FE6-86D2-470F-9D1E-8D1765138697}" type="presParOf" srcId="{9225BABB-25B9-409C-8D7D-83199DAFBCA0}" destId="{C011C0F1-64CC-407E-B07F-FA0C11BCC48C}" srcOrd="1" destOrd="0" presId="urn:microsoft.com/office/officeart/2016/7/layout/ChevronBlockProcess"/>
    <dgm:cxn modelId="{1CA7C590-DD11-4153-ACAC-02EF11C4D333}" type="presParOf" srcId="{9225BABB-25B9-409C-8D7D-83199DAFBCA0}" destId="{C23E7B3B-47F2-4797-84E8-C1D999EF4962}" srcOrd="2" destOrd="0" presId="urn:microsoft.com/office/officeart/2016/7/layout/ChevronBlockProcess"/>
    <dgm:cxn modelId="{721274C8-1374-4799-B7A4-66146364035A}" type="presParOf" srcId="{C23E7B3B-47F2-4797-84E8-C1D999EF4962}" destId="{B00A0D0B-56BC-4125-A5F8-224FFF513390}" srcOrd="0" destOrd="0" presId="urn:microsoft.com/office/officeart/2016/7/layout/ChevronBlockProcess"/>
    <dgm:cxn modelId="{0974EEB0-1B0F-43B9-AAF8-2D985A18E159}" type="presParOf" srcId="{C23E7B3B-47F2-4797-84E8-C1D999EF4962}" destId="{0BFCD0AC-D790-4A4A-8AE8-8DC4F3B98CE7}" srcOrd="1" destOrd="0" presId="urn:microsoft.com/office/officeart/2016/7/layout/ChevronBlockProcess"/>
    <dgm:cxn modelId="{89FBCE2E-6B52-4DE4-B9F4-4E23095BE586}" type="presParOf" srcId="{9225BABB-25B9-409C-8D7D-83199DAFBCA0}" destId="{888F233D-90DB-46B1-8361-B12F5CEBE198}" srcOrd="3" destOrd="0" presId="urn:microsoft.com/office/officeart/2016/7/layout/ChevronBlockProcess"/>
    <dgm:cxn modelId="{5DF322BF-C08E-4143-BF7F-E6DF802A8AEB}" type="presParOf" srcId="{9225BABB-25B9-409C-8D7D-83199DAFBCA0}" destId="{30CC1756-B914-4233-BE49-68B556001806}" srcOrd="4" destOrd="0" presId="urn:microsoft.com/office/officeart/2016/7/layout/ChevronBlockProcess"/>
    <dgm:cxn modelId="{4983DCC5-F39B-4E8C-89BA-5B3C2C03AD63}" type="presParOf" srcId="{30CC1756-B914-4233-BE49-68B556001806}" destId="{67979850-2F25-4960-9DFA-0D1C4B882BF5}" srcOrd="0" destOrd="0" presId="urn:microsoft.com/office/officeart/2016/7/layout/ChevronBlockProcess"/>
    <dgm:cxn modelId="{0070D387-D261-4B36-B930-65AA8B618104}" type="presParOf" srcId="{30CC1756-B914-4233-BE49-68B556001806}" destId="{B1200D51-907A-4261-826B-DC78928DBA25}" srcOrd="1" destOrd="0" presId="urn:microsoft.com/office/officeart/2016/7/layout/ChevronBlockProcess"/>
    <dgm:cxn modelId="{B6ACF984-FC1A-4353-92F5-D78D3DD2E7DF}" type="presParOf" srcId="{9225BABB-25B9-409C-8D7D-83199DAFBCA0}" destId="{8C292B36-C754-4FD2-A5D1-5AECF7EEB171}" srcOrd="5" destOrd="0" presId="urn:microsoft.com/office/officeart/2016/7/layout/ChevronBlockProcess"/>
    <dgm:cxn modelId="{A5A54999-1455-4706-906D-D1AA57E6E5BE}" type="presParOf" srcId="{9225BABB-25B9-409C-8D7D-83199DAFBCA0}" destId="{162B235D-4154-476A-8DAB-F5480FFBB671}" srcOrd="6" destOrd="0" presId="urn:microsoft.com/office/officeart/2016/7/layout/ChevronBlockProcess"/>
    <dgm:cxn modelId="{BF603106-6F33-4C70-B446-BD6958466795}" type="presParOf" srcId="{162B235D-4154-476A-8DAB-F5480FFBB671}" destId="{EC89F7DC-3753-473A-A3A7-588B2FF6083E}" srcOrd="0" destOrd="0" presId="urn:microsoft.com/office/officeart/2016/7/layout/ChevronBlockProcess"/>
    <dgm:cxn modelId="{EA1EAC5A-78D2-48C5-9A9A-4BC651BF9D8A}" type="presParOf" srcId="{162B235D-4154-476A-8DAB-F5480FFBB671}" destId="{F42FE39D-AA41-407B-8661-6FFAF13DB84F}" srcOrd="1" destOrd="0" presId="urn:microsoft.com/office/officeart/2016/7/layout/ChevronBlockProcess"/>
    <dgm:cxn modelId="{94C2F701-973A-4E81-A464-5B4CB939E3D3}" type="presParOf" srcId="{9225BABB-25B9-409C-8D7D-83199DAFBCA0}" destId="{619F3962-C99C-449D-84A5-BACC671C27F5}" srcOrd="7" destOrd="0" presId="urn:microsoft.com/office/officeart/2016/7/layout/ChevronBlockProcess"/>
    <dgm:cxn modelId="{14B07866-95E0-4524-A34E-4FCFBAFE92AD}" type="presParOf" srcId="{9225BABB-25B9-409C-8D7D-83199DAFBCA0}" destId="{F983CCB2-68D0-4774-87CC-3A1A9056C4CD}" srcOrd="8" destOrd="0" presId="urn:microsoft.com/office/officeart/2016/7/layout/ChevronBlockProcess"/>
    <dgm:cxn modelId="{655C3BAA-EEB4-4E49-8F2B-71DCAA2289DC}" type="presParOf" srcId="{F983CCB2-68D0-4774-87CC-3A1A9056C4CD}" destId="{DBE72A5F-AE71-43F5-9662-0F3AB7BD8E18}" srcOrd="0" destOrd="0" presId="urn:microsoft.com/office/officeart/2016/7/layout/ChevronBlockProcess"/>
    <dgm:cxn modelId="{98B9F9E8-57A7-460C-9F9E-D4B569C6EDCB}" type="presParOf" srcId="{F983CCB2-68D0-4774-87CC-3A1A9056C4CD}" destId="{7BE106FF-7851-4A39-9168-028B043B41C0}" srcOrd="1" destOrd="0" presId="urn:microsoft.com/office/officeart/2016/7/layout/Chevron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42B020-BA3D-4A89-AF57-5B3760973674}"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8E51CDF8-86FA-4DD5-926E-60B40841E738}">
      <dgm:prSet/>
      <dgm:spPr/>
      <dgm:t>
        <a:bodyPr/>
        <a:lstStyle/>
        <a:p>
          <a:pPr>
            <a:lnSpc>
              <a:spcPct val="100000"/>
            </a:lnSpc>
          </a:pPr>
          <a:r>
            <a:rPr lang="en-US" b="1" dirty="0"/>
            <a:t>Does provider availability increase patient access?</a:t>
          </a:r>
        </a:p>
      </dgm:t>
    </dgm:pt>
    <dgm:pt modelId="{D74CA1DB-4AF4-42F5-AE1D-6C18F166518B}" type="parTrans" cxnId="{FD0C36F9-BD07-45DE-AE84-DBD4808BB228}">
      <dgm:prSet/>
      <dgm:spPr/>
      <dgm:t>
        <a:bodyPr/>
        <a:lstStyle/>
        <a:p>
          <a:endParaRPr lang="en-US" b="1"/>
        </a:p>
      </dgm:t>
    </dgm:pt>
    <dgm:pt modelId="{77C059D7-8C51-4E15-AA74-1CE703064A9F}" type="sibTrans" cxnId="{FD0C36F9-BD07-45DE-AE84-DBD4808BB228}">
      <dgm:prSet/>
      <dgm:spPr/>
      <dgm:t>
        <a:bodyPr/>
        <a:lstStyle/>
        <a:p>
          <a:pPr>
            <a:lnSpc>
              <a:spcPct val="100000"/>
            </a:lnSpc>
          </a:pPr>
          <a:endParaRPr lang="en-US" b="1"/>
        </a:p>
      </dgm:t>
    </dgm:pt>
    <dgm:pt modelId="{D75F95AC-6098-462C-83A2-5241BF183577}">
      <dgm:prSet/>
      <dgm:spPr/>
      <dgm:t>
        <a:bodyPr/>
        <a:lstStyle/>
        <a:p>
          <a:pPr>
            <a:lnSpc>
              <a:spcPct val="100000"/>
            </a:lnSpc>
          </a:pPr>
          <a:r>
            <a:rPr lang="en-US" b="1" dirty="0"/>
            <a:t>Which plans deliver more services per patient?</a:t>
          </a:r>
        </a:p>
      </dgm:t>
    </dgm:pt>
    <dgm:pt modelId="{ABBC3AA4-B540-434B-87AA-59AE105BBDE3}" type="parTrans" cxnId="{8583C256-D721-4356-9B0C-4220251E2429}">
      <dgm:prSet/>
      <dgm:spPr/>
      <dgm:t>
        <a:bodyPr/>
        <a:lstStyle/>
        <a:p>
          <a:endParaRPr lang="en-US" b="1"/>
        </a:p>
      </dgm:t>
    </dgm:pt>
    <dgm:pt modelId="{A0D8FEF4-DB62-4D6E-9BAA-D79D8C0558D2}" type="sibTrans" cxnId="{8583C256-D721-4356-9B0C-4220251E2429}">
      <dgm:prSet/>
      <dgm:spPr/>
      <dgm:t>
        <a:bodyPr/>
        <a:lstStyle/>
        <a:p>
          <a:pPr>
            <a:lnSpc>
              <a:spcPct val="100000"/>
            </a:lnSpc>
          </a:pPr>
          <a:endParaRPr lang="en-US" b="1"/>
        </a:p>
      </dgm:t>
    </dgm:pt>
    <dgm:pt modelId="{9BCB1389-76C5-43E3-AE83-DAFB25CFBA53}">
      <dgm:prSet/>
      <dgm:spPr/>
      <dgm:t>
        <a:bodyPr/>
        <a:lstStyle/>
        <a:p>
          <a:pPr>
            <a:lnSpc>
              <a:spcPct val="100000"/>
            </a:lnSpc>
          </a:pPr>
          <a:r>
            <a:rPr lang="en-US" b="1"/>
            <a:t>How do service trends vary by state?</a:t>
          </a:r>
        </a:p>
      </dgm:t>
    </dgm:pt>
    <dgm:pt modelId="{2CE09321-A1F8-4BF5-8E53-614EDD8B5DE9}" type="parTrans" cxnId="{6B2D841F-7903-4AFF-895B-E7699A87EA59}">
      <dgm:prSet/>
      <dgm:spPr/>
      <dgm:t>
        <a:bodyPr/>
        <a:lstStyle/>
        <a:p>
          <a:endParaRPr lang="en-US" b="1"/>
        </a:p>
      </dgm:t>
    </dgm:pt>
    <dgm:pt modelId="{FF1FF901-C7E7-464A-B9B4-43A137EBA294}" type="sibTrans" cxnId="{6B2D841F-7903-4AFF-895B-E7699A87EA59}">
      <dgm:prSet/>
      <dgm:spPr/>
      <dgm:t>
        <a:bodyPr/>
        <a:lstStyle/>
        <a:p>
          <a:pPr>
            <a:lnSpc>
              <a:spcPct val="100000"/>
            </a:lnSpc>
          </a:pPr>
          <a:endParaRPr lang="en-US" b="1"/>
        </a:p>
      </dgm:t>
    </dgm:pt>
    <dgm:pt modelId="{6EB4903C-0F91-4880-8AAA-386DE0352587}">
      <dgm:prSet/>
      <dgm:spPr/>
      <dgm:t>
        <a:bodyPr/>
        <a:lstStyle/>
        <a:p>
          <a:pPr>
            <a:lnSpc>
              <a:spcPct val="100000"/>
            </a:lnSpc>
          </a:pPr>
          <a:r>
            <a:rPr lang="en-US" b="1"/>
            <a:t>Are there discrepancies between Medicare payments and charges?</a:t>
          </a:r>
        </a:p>
      </dgm:t>
    </dgm:pt>
    <dgm:pt modelId="{D5CF1791-3524-4C70-8C81-4B01CBEF9CF1}" type="parTrans" cxnId="{FE04F239-0AC8-49D1-90F8-9B6398199F23}">
      <dgm:prSet/>
      <dgm:spPr/>
      <dgm:t>
        <a:bodyPr/>
        <a:lstStyle/>
        <a:p>
          <a:endParaRPr lang="en-US" b="1"/>
        </a:p>
      </dgm:t>
    </dgm:pt>
    <dgm:pt modelId="{E50A27FC-E123-42A6-AF17-D6766E1F91A5}" type="sibTrans" cxnId="{FE04F239-0AC8-49D1-90F8-9B6398199F23}">
      <dgm:prSet/>
      <dgm:spPr/>
      <dgm:t>
        <a:bodyPr/>
        <a:lstStyle/>
        <a:p>
          <a:pPr>
            <a:lnSpc>
              <a:spcPct val="100000"/>
            </a:lnSpc>
          </a:pPr>
          <a:endParaRPr lang="en-US" b="1"/>
        </a:p>
      </dgm:t>
    </dgm:pt>
    <dgm:pt modelId="{558960B3-D31F-4947-8D40-51852F6FC3DB}">
      <dgm:prSet/>
      <dgm:spPr/>
      <dgm:t>
        <a:bodyPr/>
        <a:lstStyle/>
        <a:p>
          <a:pPr>
            <a:lnSpc>
              <a:spcPct val="100000"/>
            </a:lnSpc>
          </a:pPr>
          <a:r>
            <a:rPr lang="en-US" b="1"/>
            <a:t>Which DRGs have the highest total discharges and payments?</a:t>
          </a:r>
        </a:p>
      </dgm:t>
    </dgm:pt>
    <dgm:pt modelId="{C635E193-EAA5-498F-A720-F924187EC053}" type="parTrans" cxnId="{F477540F-4A8A-4E38-9057-70F6ADA0238D}">
      <dgm:prSet/>
      <dgm:spPr/>
      <dgm:t>
        <a:bodyPr/>
        <a:lstStyle/>
        <a:p>
          <a:endParaRPr lang="en-US" b="1"/>
        </a:p>
      </dgm:t>
    </dgm:pt>
    <dgm:pt modelId="{A9F7F65D-6D1B-4591-8CA6-30F96B1FA8D4}" type="sibTrans" cxnId="{F477540F-4A8A-4E38-9057-70F6ADA0238D}">
      <dgm:prSet/>
      <dgm:spPr/>
      <dgm:t>
        <a:bodyPr/>
        <a:lstStyle/>
        <a:p>
          <a:pPr>
            <a:lnSpc>
              <a:spcPct val="100000"/>
            </a:lnSpc>
          </a:pPr>
          <a:endParaRPr lang="en-US" b="1"/>
        </a:p>
      </dgm:t>
    </dgm:pt>
    <dgm:pt modelId="{F3E5D895-1D40-4F3B-A3A8-010400ACBF8C}">
      <dgm:prSet/>
      <dgm:spPr/>
      <dgm:t>
        <a:bodyPr/>
        <a:lstStyle/>
        <a:p>
          <a:pPr>
            <a:lnSpc>
              <a:spcPct val="100000"/>
            </a:lnSpc>
          </a:pPr>
          <a:r>
            <a:rPr lang="en-US" b="1"/>
            <a:t>Do urban and rural providers differ in payments?</a:t>
          </a:r>
        </a:p>
      </dgm:t>
    </dgm:pt>
    <dgm:pt modelId="{ED1E129A-2C34-4386-AB27-A85F624DB1A5}" type="parTrans" cxnId="{5FB7B4D2-4F9A-4DF3-B6D4-210C67AC5E62}">
      <dgm:prSet/>
      <dgm:spPr/>
      <dgm:t>
        <a:bodyPr/>
        <a:lstStyle/>
        <a:p>
          <a:endParaRPr lang="en-US" b="1"/>
        </a:p>
      </dgm:t>
    </dgm:pt>
    <dgm:pt modelId="{377F4150-E536-494B-946D-1360A642D493}" type="sibTrans" cxnId="{5FB7B4D2-4F9A-4DF3-B6D4-210C67AC5E62}">
      <dgm:prSet/>
      <dgm:spPr/>
      <dgm:t>
        <a:bodyPr/>
        <a:lstStyle/>
        <a:p>
          <a:endParaRPr lang="en-US" b="1"/>
        </a:p>
      </dgm:t>
    </dgm:pt>
    <dgm:pt modelId="{A660044C-5372-4417-8CED-B8FF8AF83CDD}" type="pres">
      <dgm:prSet presAssocID="{B142B020-BA3D-4A89-AF57-5B3760973674}" presName="root" presStyleCnt="0">
        <dgm:presLayoutVars>
          <dgm:dir/>
          <dgm:resizeHandles val="exact"/>
        </dgm:presLayoutVars>
      </dgm:prSet>
      <dgm:spPr/>
    </dgm:pt>
    <dgm:pt modelId="{1F3EEA66-16AA-41FE-A72B-3CDF0BEB7895}" type="pres">
      <dgm:prSet presAssocID="{B142B020-BA3D-4A89-AF57-5B3760973674}" presName="container" presStyleCnt="0">
        <dgm:presLayoutVars>
          <dgm:dir/>
          <dgm:resizeHandles val="exact"/>
        </dgm:presLayoutVars>
      </dgm:prSet>
      <dgm:spPr/>
    </dgm:pt>
    <dgm:pt modelId="{0D9C8BFB-1D74-4BB9-8024-08E20EA7D43C}" type="pres">
      <dgm:prSet presAssocID="{8E51CDF8-86FA-4DD5-926E-60B40841E738}" presName="compNode" presStyleCnt="0"/>
      <dgm:spPr/>
    </dgm:pt>
    <dgm:pt modelId="{95B653D2-B4DD-4A1A-84B3-858B747CDDEC}" type="pres">
      <dgm:prSet presAssocID="{8E51CDF8-86FA-4DD5-926E-60B40841E738}" presName="iconBgRect" presStyleLbl="bgShp" presStyleIdx="0" presStyleCnt="6"/>
      <dgm:spPr/>
    </dgm:pt>
    <dgm:pt modelId="{7590ED7B-1BFC-40F1-A3EA-F5A2AC7882E6}" type="pres">
      <dgm:prSet presAssocID="{8E51CDF8-86FA-4DD5-926E-60B40841E73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ospital"/>
        </a:ext>
      </dgm:extLst>
    </dgm:pt>
    <dgm:pt modelId="{BEF826B1-D90D-4057-A99C-1F6C6AA1B050}" type="pres">
      <dgm:prSet presAssocID="{8E51CDF8-86FA-4DD5-926E-60B40841E738}" presName="spaceRect" presStyleCnt="0"/>
      <dgm:spPr/>
    </dgm:pt>
    <dgm:pt modelId="{AEE73F45-FBCC-4CAD-A0B0-209B3CF263D2}" type="pres">
      <dgm:prSet presAssocID="{8E51CDF8-86FA-4DD5-926E-60B40841E738}" presName="textRect" presStyleLbl="revTx" presStyleIdx="0" presStyleCnt="6">
        <dgm:presLayoutVars>
          <dgm:chMax val="1"/>
          <dgm:chPref val="1"/>
        </dgm:presLayoutVars>
      </dgm:prSet>
      <dgm:spPr/>
    </dgm:pt>
    <dgm:pt modelId="{8AAFB1EF-9B70-40A4-9CB7-436BCF1910AF}" type="pres">
      <dgm:prSet presAssocID="{77C059D7-8C51-4E15-AA74-1CE703064A9F}" presName="sibTrans" presStyleLbl="sibTrans2D1" presStyleIdx="0" presStyleCnt="0"/>
      <dgm:spPr/>
    </dgm:pt>
    <dgm:pt modelId="{A3FC2CFE-0ADB-435A-8B7A-F1CD6F064C6A}" type="pres">
      <dgm:prSet presAssocID="{D75F95AC-6098-462C-83A2-5241BF183577}" presName="compNode" presStyleCnt="0"/>
      <dgm:spPr/>
    </dgm:pt>
    <dgm:pt modelId="{809C3D82-B390-4951-841B-14E5A7A6D0CA}" type="pres">
      <dgm:prSet presAssocID="{D75F95AC-6098-462C-83A2-5241BF183577}" presName="iconBgRect" presStyleLbl="bgShp" presStyleIdx="1" presStyleCnt="6"/>
      <dgm:spPr/>
    </dgm:pt>
    <dgm:pt modelId="{1D398847-4569-4F94-A7DE-4ACE2C29104C}" type="pres">
      <dgm:prSet presAssocID="{D75F95AC-6098-462C-83A2-5241BF183577}"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D567505E-1A4C-4E87-8B72-3A047B785D89}" type="pres">
      <dgm:prSet presAssocID="{D75F95AC-6098-462C-83A2-5241BF183577}" presName="spaceRect" presStyleCnt="0"/>
      <dgm:spPr/>
    </dgm:pt>
    <dgm:pt modelId="{CD9C0337-833B-4967-A33F-ED23FBF2BC96}" type="pres">
      <dgm:prSet presAssocID="{D75F95AC-6098-462C-83A2-5241BF183577}" presName="textRect" presStyleLbl="revTx" presStyleIdx="1" presStyleCnt="6">
        <dgm:presLayoutVars>
          <dgm:chMax val="1"/>
          <dgm:chPref val="1"/>
        </dgm:presLayoutVars>
      </dgm:prSet>
      <dgm:spPr/>
    </dgm:pt>
    <dgm:pt modelId="{978118B7-241E-4EE8-AC6F-E94D7358AA4A}" type="pres">
      <dgm:prSet presAssocID="{A0D8FEF4-DB62-4D6E-9BAA-D79D8C0558D2}" presName="sibTrans" presStyleLbl="sibTrans2D1" presStyleIdx="0" presStyleCnt="0"/>
      <dgm:spPr/>
    </dgm:pt>
    <dgm:pt modelId="{9DD34530-786D-4AFC-B3CC-6E306344A309}" type="pres">
      <dgm:prSet presAssocID="{9BCB1389-76C5-43E3-AE83-DAFB25CFBA53}" presName="compNode" presStyleCnt="0"/>
      <dgm:spPr/>
    </dgm:pt>
    <dgm:pt modelId="{C46FC9C5-41A2-4677-B792-94D74EC0C32F}" type="pres">
      <dgm:prSet presAssocID="{9BCB1389-76C5-43E3-AE83-DAFB25CFBA53}" presName="iconBgRect" presStyleLbl="bgShp" presStyleIdx="2" presStyleCnt="6"/>
      <dgm:spPr/>
    </dgm:pt>
    <dgm:pt modelId="{94FC2089-3E46-46C7-8635-3E2687331C1F}" type="pres">
      <dgm:prSet presAssocID="{9BCB1389-76C5-43E3-AE83-DAFB25CFBA53}"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64F3ACC3-96B3-4449-899C-085AE13C4F5B}" type="pres">
      <dgm:prSet presAssocID="{9BCB1389-76C5-43E3-AE83-DAFB25CFBA53}" presName="spaceRect" presStyleCnt="0"/>
      <dgm:spPr/>
    </dgm:pt>
    <dgm:pt modelId="{42E5B254-4D7E-40B9-AB1A-16160B0DA381}" type="pres">
      <dgm:prSet presAssocID="{9BCB1389-76C5-43E3-AE83-DAFB25CFBA53}" presName="textRect" presStyleLbl="revTx" presStyleIdx="2" presStyleCnt="6">
        <dgm:presLayoutVars>
          <dgm:chMax val="1"/>
          <dgm:chPref val="1"/>
        </dgm:presLayoutVars>
      </dgm:prSet>
      <dgm:spPr/>
    </dgm:pt>
    <dgm:pt modelId="{30FDC8C4-9E62-4F60-9AB4-555B0360FAED}" type="pres">
      <dgm:prSet presAssocID="{FF1FF901-C7E7-464A-B9B4-43A137EBA294}" presName="sibTrans" presStyleLbl="sibTrans2D1" presStyleIdx="0" presStyleCnt="0"/>
      <dgm:spPr/>
    </dgm:pt>
    <dgm:pt modelId="{E8A2C91B-8086-4EF3-A962-3FF9684357A8}" type="pres">
      <dgm:prSet presAssocID="{6EB4903C-0F91-4880-8AAA-386DE0352587}" presName="compNode" presStyleCnt="0"/>
      <dgm:spPr/>
    </dgm:pt>
    <dgm:pt modelId="{DC8130FB-CBCA-4602-A008-1CCED8F63189}" type="pres">
      <dgm:prSet presAssocID="{6EB4903C-0F91-4880-8AAA-386DE0352587}" presName="iconBgRect" presStyleLbl="bgShp" presStyleIdx="3" presStyleCnt="6"/>
      <dgm:spPr/>
    </dgm:pt>
    <dgm:pt modelId="{1077CB9F-0926-47D1-8AB6-8D47AF3D114C}" type="pres">
      <dgm:prSet presAssocID="{6EB4903C-0F91-4880-8AAA-386DE0352587}"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ethoscope"/>
        </a:ext>
      </dgm:extLst>
    </dgm:pt>
    <dgm:pt modelId="{2CEDFA7B-8726-4CCA-A6D5-847F63C2AD52}" type="pres">
      <dgm:prSet presAssocID="{6EB4903C-0F91-4880-8AAA-386DE0352587}" presName="spaceRect" presStyleCnt="0"/>
      <dgm:spPr/>
    </dgm:pt>
    <dgm:pt modelId="{D7CDA4F2-78F4-4C8F-BEBB-560BA8603C91}" type="pres">
      <dgm:prSet presAssocID="{6EB4903C-0F91-4880-8AAA-386DE0352587}" presName="textRect" presStyleLbl="revTx" presStyleIdx="3" presStyleCnt="6">
        <dgm:presLayoutVars>
          <dgm:chMax val="1"/>
          <dgm:chPref val="1"/>
        </dgm:presLayoutVars>
      </dgm:prSet>
      <dgm:spPr/>
    </dgm:pt>
    <dgm:pt modelId="{100AEAC3-E357-4854-852B-C58B04669E59}" type="pres">
      <dgm:prSet presAssocID="{E50A27FC-E123-42A6-AF17-D6766E1F91A5}" presName="sibTrans" presStyleLbl="sibTrans2D1" presStyleIdx="0" presStyleCnt="0"/>
      <dgm:spPr/>
    </dgm:pt>
    <dgm:pt modelId="{8D76F22E-ACDC-453F-B023-8AEE8D0CE72F}" type="pres">
      <dgm:prSet presAssocID="{558960B3-D31F-4947-8D40-51852F6FC3DB}" presName="compNode" presStyleCnt="0"/>
      <dgm:spPr/>
    </dgm:pt>
    <dgm:pt modelId="{D2A15262-EDDA-4B7D-97AD-93FEF3B532D8}" type="pres">
      <dgm:prSet presAssocID="{558960B3-D31F-4947-8D40-51852F6FC3DB}" presName="iconBgRect" presStyleLbl="bgShp" presStyleIdx="4" presStyleCnt="6"/>
      <dgm:spPr/>
    </dgm:pt>
    <dgm:pt modelId="{FFFECCC0-8B31-4F81-A8D6-4657DA1671D3}" type="pres">
      <dgm:prSet presAssocID="{558960B3-D31F-4947-8D40-51852F6FC3DB}"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ollar"/>
        </a:ext>
      </dgm:extLst>
    </dgm:pt>
    <dgm:pt modelId="{FA0E1CC4-3BB4-4566-83D7-4DE6CA6BCF11}" type="pres">
      <dgm:prSet presAssocID="{558960B3-D31F-4947-8D40-51852F6FC3DB}" presName="spaceRect" presStyleCnt="0"/>
      <dgm:spPr/>
    </dgm:pt>
    <dgm:pt modelId="{8B6AE8AF-49B7-4840-9A9E-EE4B4EE1C9DF}" type="pres">
      <dgm:prSet presAssocID="{558960B3-D31F-4947-8D40-51852F6FC3DB}" presName="textRect" presStyleLbl="revTx" presStyleIdx="4" presStyleCnt="6">
        <dgm:presLayoutVars>
          <dgm:chMax val="1"/>
          <dgm:chPref val="1"/>
        </dgm:presLayoutVars>
      </dgm:prSet>
      <dgm:spPr/>
    </dgm:pt>
    <dgm:pt modelId="{4A504939-D151-4218-9260-E3A461EB99D0}" type="pres">
      <dgm:prSet presAssocID="{A9F7F65D-6D1B-4591-8CA6-30F96B1FA8D4}" presName="sibTrans" presStyleLbl="sibTrans2D1" presStyleIdx="0" presStyleCnt="0"/>
      <dgm:spPr/>
    </dgm:pt>
    <dgm:pt modelId="{DCA5D9C3-8C11-4D47-82E2-7425ED923EC8}" type="pres">
      <dgm:prSet presAssocID="{F3E5D895-1D40-4F3B-A3A8-010400ACBF8C}" presName="compNode" presStyleCnt="0"/>
      <dgm:spPr/>
    </dgm:pt>
    <dgm:pt modelId="{4B17C03B-A889-4B4E-A922-5C7DCC54E2C4}" type="pres">
      <dgm:prSet presAssocID="{F3E5D895-1D40-4F3B-A3A8-010400ACBF8C}" presName="iconBgRect" presStyleLbl="bgShp" presStyleIdx="5" presStyleCnt="6"/>
      <dgm:spPr/>
    </dgm:pt>
    <dgm:pt modelId="{195C4C7C-273A-462B-8B3C-4833E1BD352C}" type="pres">
      <dgm:prSet presAssocID="{F3E5D895-1D40-4F3B-A3A8-010400ACBF8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ity"/>
        </a:ext>
      </dgm:extLst>
    </dgm:pt>
    <dgm:pt modelId="{E8677858-7419-4502-A8D4-834C2500D605}" type="pres">
      <dgm:prSet presAssocID="{F3E5D895-1D40-4F3B-A3A8-010400ACBF8C}" presName="spaceRect" presStyleCnt="0"/>
      <dgm:spPr/>
    </dgm:pt>
    <dgm:pt modelId="{7E0B06BD-2F58-4CFD-8E2F-4B9155395C04}" type="pres">
      <dgm:prSet presAssocID="{F3E5D895-1D40-4F3B-A3A8-010400ACBF8C}" presName="textRect" presStyleLbl="revTx" presStyleIdx="5" presStyleCnt="6">
        <dgm:presLayoutVars>
          <dgm:chMax val="1"/>
          <dgm:chPref val="1"/>
        </dgm:presLayoutVars>
      </dgm:prSet>
      <dgm:spPr/>
    </dgm:pt>
  </dgm:ptLst>
  <dgm:cxnLst>
    <dgm:cxn modelId="{F477540F-4A8A-4E38-9057-70F6ADA0238D}" srcId="{B142B020-BA3D-4A89-AF57-5B3760973674}" destId="{558960B3-D31F-4947-8D40-51852F6FC3DB}" srcOrd="4" destOrd="0" parTransId="{C635E193-EAA5-498F-A720-F924187EC053}" sibTransId="{A9F7F65D-6D1B-4591-8CA6-30F96B1FA8D4}"/>
    <dgm:cxn modelId="{BAC9E31E-6D5C-4939-A96B-466CC14C500E}" type="presOf" srcId="{6EB4903C-0F91-4880-8AAA-386DE0352587}" destId="{D7CDA4F2-78F4-4C8F-BEBB-560BA8603C91}" srcOrd="0" destOrd="0" presId="urn:microsoft.com/office/officeart/2018/2/layout/IconCircleList"/>
    <dgm:cxn modelId="{6B2D841F-7903-4AFF-895B-E7699A87EA59}" srcId="{B142B020-BA3D-4A89-AF57-5B3760973674}" destId="{9BCB1389-76C5-43E3-AE83-DAFB25CFBA53}" srcOrd="2" destOrd="0" parTransId="{2CE09321-A1F8-4BF5-8E53-614EDD8B5DE9}" sibTransId="{FF1FF901-C7E7-464A-B9B4-43A137EBA294}"/>
    <dgm:cxn modelId="{FE04F239-0AC8-49D1-90F8-9B6398199F23}" srcId="{B142B020-BA3D-4A89-AF57-5B3760973674}" destId="{6EB4903C-0F91-4880-8AAA-386DE0352587}" srcOrd="3" destOrd="0" parTransId="{D5CF1791-3524-4C70-8C81-4B01CBEF9CF1}" sibTransId="{E50A27FC-E123-42A6-AF17-D6766E1F91A5}"/>
    <dgm:cxn modelId="{11608D45-3EFF-459A-9503-98EDAB7CA73A}" type="presOf" srcId="{E50A27FC-E123-42A6-AF17-D6766E1F91A5}" destId="{100AEAC3-E357-4854-852B-C58B04669E59}" srcOrd="0" destOrd="0" presId="urn:microsoft.com/office/officeart/2018/2/layout/IconCircleList"/>
    <dgm:cxn modelId="{E1C96D68-95B9-4280-93A8-758247C32880}" type="presOf" srcId="{F3E5D895-1D40-4F3B-A3A8-010400ACBF8C}" destId="{7E0B06BD-2F58-4CFD-8E2F-4B9155395C04}" srcOrd="0" destOrd="0" presId="urn:microsoft.com/office/officeart/2018/2/layout/IconCircleList"/>
    <dgm:cxn modelId="{BE0A2356-F0A7-4D72-9C73-3EA6FF7293BC}" type="presOf" srcId="{8E51CDF8-86FA-4DD5-926E-60B40841E738}" destId="{AEE73F45-FBCC-4CAD-A0B0-209B3CF263D2}" srcOrd="0" destOrd="0" presId="urn:microsoft.com/office/officeart/2018/2/layout/IconCircleList"/>
    <dgm:cxn modelId="{8583C256-D721-4356-9B0C-4220251E2429}" srcId="{B142B020-BA3D-4A89-AF57-5B3760973674}" destId="{D75F95AC-6098-462C-83A2-5241BF183577}" srcOrd="1" destOrd="0" parTransId="{ABBC3AA4-B540-434B-87AA-59AE105BBDE3}" sibTransId="{A0D8FEF4-DB62-4D6E-9BAA-D79D8C0558D2}"/>
    <dgm:cxn modelId="{72343F84-A304-480B-A2B8-EA3722CCCCA0}" type="presOf" srcId="{FF1FF901-C7E7-464A-B9B4-43A137EBA294}" destId="{30FDC8C4-9E62-4F60-9AB4-555B0360FAED}" srcOrd="0" destOrd="0" presId="urn:microsoft.com/office/officeart/2018/2/layout/IconCircleList"/>
    <dgm:cxn modelId="{E9D194B0-2130-4036-A9EB-BDA4E8511F76}" type="presOf" srcId="{A0D8FEF4-DB62-4D6E-9BAA-D79D8C0558D2}" destId="{978118B7-241E-4EE8-AC6F-E94D7358AA4A}" srcOrd="0" destOrd="0" presId="urn:microsoft.com/office/officeart/2018/2/layout/IconCircleList"/>
    <dgm:cxn modelId="{ECC328B8-C9BF-468B-8ECD-8182C88A1BAB}" type="presOf" srcId="{77C059D7-8C51-4E15-AA74-1CE703064A9F}" destId="{8AAFB1EF-9B70-40A4-9CB7-436BCF1910AF}" srcOrd="0" destOrd="0" presId="urn:microsoft.com/office/officeart/2018/2/layout/IconCircleList"/>
    <dgm:cxn modelId="{AE9922D0-B39F-407C-8711-1B2696F56A59}" type="presOf" srcId="{558960B3-D31F-4947-8D40-51852F6FC3DB}" destId="{8B6AE8AF-49B7-4840-9A9E-EE4B4EE1C9DF}" srcOrd="0" destOrd="0" presId="urn:microsoft.com/office/officeart/2018/2/layout/IconCircleList"/>
    <dgm:cxn modelId="{5FB7B4D2-4F9A-4DF3-B6D4-210C67AC5E62}" srcId="{B142B020-BA3D-4A89-AF57-5B3760973674}" destId="{F3E5D895-1D40-4F3B-A3A8-010400ACBF8C}" srcOrd="5" destOrd="0" parTransId="{ED1E129A-2C34-4386-AB27-A85F624DB1A5}" sibTransId="{377F4150-E536-494B-946D-1360A642D493}"/>
    <dgm:cxn modelId="{CE6D8FF1-6E04-4AE6-BED9-C60ADD31D007}" type="presOf" srcId="{D75F95AC-6098-462C-83A2-5241BF183577}" destId="{CD9C0337-833B-4967-A33F-ED23FBF2BC96}" srcOrd="0" destOrd="0" presId="urn:microsoft.com/office/officeart/2018/2/layout/IconCircleList"/>
    <dgm:cxn modelId="{660093F5-065D-45AD-99E0-FD749D8B8D42}" type="presOf" srcId="{A9F7F65D-6D1B-4591-8CA6-30F96B1FA8D4}" destId="{4A504939-D151-4218-9260-E3A461EB99D0}" srcOrd="0" destOrd="0" presId="urn:microsoft.com/office/officeart/2018/2/layout/IconCircleList"/>
    <dgm:cxn modelId="{FD0C36F9-BD07-45DE-AE84-DBD4808BB228}" srcId="{B142B020-BA3D-4A89-AF57-5B3760973674}" destId="{8E51CDF8-86FA-4DD5-926E-60B40841E738}" srcOrd="0" destOrd="0" parTransId="{D74CA1DB-4AF4-42F5-AE1D-6C18F166518B}" sibTransId="{77C059D7-8C51-4E15-AA74-1CE703064A9F}"/>
    <dgm:cxn modelId="{B2E372FE-8413-4373-84B8-8704CC7910A5}" type="presOf" srcId="{B142B020-BA3D-4A89-AF57-5B3760973674}" destId="{A660044C-5372-4417-8CED-B8FF8AF83CDD}" srcOrd="0" destOrd="0" presId="urn:microsoft.com/office/officeart/2018/2/layout/IconCircleList"/>
    <dgm:cxn modelId="{CCF556FF-44FB-4F56-B9F9-A40943153752}" type="presOf" srcId="{9BCB1389-76C5-43E3-AE83-DAFB25CFBA53}" destId="{42E5B254-4D7E-40B9-AB1A-16160B0DA381}" srcOrd="0" destOrd="0" presId="urn:microsoft.com/office/officeart/2018/2/layout/IconCircleList"/>
    <dgm:cxn modelId="{B30222A8-63FF-496D-BF38-206D6F5B8EC0}" type="presParOf" srcId="{A660044C-5372-4417-8CED-B8FF8AF83CDD}" destId="{1F3EEA66-16AA-41FE-A72B-3CDF0BEB7895}" srcOrd="0" destOrd="0" presId="urn:microsoft.com/office/officeart/2018/2/layout/IconCircleList"/>
    <dgm:cxn modelId="{DE3D7D77-61FF-4EA3-AFB4-222EDE1614FF}" type="presParOf" srcId="{1F3EEA66-16AA-41FE-A72B-3CDF0BEB7895}" destId="{0D9C8BFB-1D74-4BB9-8024-08E20EA7D43C}" srcOrd="0" destOrd="0" presId="urn:microsoft.com/office/officeart/2018/2/layout/IconCircleList"/>
    <dgm:cxn modelId="{A12B2E6D-4A98-43B0-A463-6CF06047027E}" type="presParOf" srcId="{0D9C8BFB-1D74-4BB9-8024-08E20EA7D43C}" destId="{95B653D2-B4DD-4A1A-84B3-858B747CDDEC}" srcOrd="0" destOrd="0" presId="urn:microsoft.com/office/officeart/2018/2/layout/IconCircleList"/>
    <dgm:cxn modelId="{826EA965-7309-4BEB-B18B-D03CAD98FBB3}" type="presParOf" srcId="{0D9C8BFB-1D74-4BB9-8024-08E20EA7D43C}" destId="{7590ED7B-1BFC-40F1-A3EA-F5A2AC7882E6}" srcOrd="1" destOrd="0" presId="urn:microsoft.com/office/officeart/2018/2/layout/IconCircleList"/>
    <dgm:cxn modelId="{24578324-7AF7-4831-82A0-AEEED460127E}" type="presParOf" srcId="{0D9C8BFB-1D74-4BB9-8024-08E20EA7D43C}" destId="{BEF826B1-D90D-4057-A99C-1F6C6AA1B050}" srcOrd="2" destOrd="0" presId="urn:microsoft.com/office/officeart/2018/2/layout/IconCircleList"/>
    <dgm:cxn modelId="{687C81E2-D75C-4CAE-BC58-00A4C82B9278}" type="presParOf" srcId="{0D9C8BFB-1D74-4BB9-8024-08E20EA7D43C}" destId="{AEE73F45-FBCC-4CAD-A0B0-209B3CF263D2}" srcOrd="3" destOrd="0" presId="urn:microsoft.com/office/officeart/2018/2/layout/IconCircleList"/>
    <dgm:cxn modelId="{253A3F37-16D7-4C19-8E92-E926AE6A5771}" type="presParOf" srcId="{1F3EEA66-16AA-41FE-A72B-3CDF0BEB7895}" destId="{8AAFB1EF-9B70-40A4-9CB7-436BCF1910AF}" srcOrd="1" destOrd="0" presId="urn:microsoft.com/office/officeart/2018/2/layout/IconCircleList"/>
    <dgm:cxn modelId="{8B46DF8D-7AF1-43FC-90BF-1FE238C43D62}" type="presParOf" srcId="{1F3EEA66-16AA-41FE-A72B-3CDF0BEB7895}" destId="{A3FC2CFE-0ADB-435A-8B7A-F1CD6F064C6A}" srcOrd="2" destOrd="0" presId="urn:microsoft.com/office/officeart/2018/2/layout/IconCircleList"/>
    <dgm:cxn modelId="{51C467C6-2D88-4CEA-A540-8106945B2059}" type="presParOf" srcId="{A3FC2CFE-0ADB-435A-8B7A-F1CD6F064C6A}" destId="{809C3D82-B390-4951-841B-14E5A7A6D0CA}" srcOrd="0" destOrd="0" presId="urn:microsoft.com/office/officeart/2018/2/layout/IconCircleList"/>
    <dgm:cxn modelId="{09584A25-6C59-4470-8382-3C02A20EA62F}" type="presParOf" srcId="{A3FC2CFE-0ADB-435A-8B7A-F1CD6F064C6A}" destId="{1D398847-4569-4F94-A7DE-4ACE2C29104C}" srcOrd="1" destOrd="0" presId="urn:microsoft.com/office/officeart/2018/2/layout/IconCircleList"/>
    <dgm:cxn modelId="{0188B322-6FEB-4BBE-A85C-60C8026F2228}" type="presParOf" srcId="{A3FC2CFE-0ADB-435A-8B7A-F1CD6F064C6A}" destId="{D567505E-1A4C-4E87-8B72-3A047B785D89}" srcOrd="2" destOrd="0" presId="urn:microsoft.com/office/officeart/2018/2/layout/IconCircleList"/>
    <dgm:cxn modelId="{54C89BE1-0DAD-43A0-9BF1-70F892AC9FE8}" type="presParOf" srcId="{A3FC2CFE-0ADB-435A-8B7A-F1CD6F064C6A}" destId="{CD9C0337-833B-4967-A33F-ED23FBF2BC96}" srcOrd="3" destOrd="0" presId="urn:microsoft.com/office/officeart/2018/2/layout/IconCircleList"/>
    <dgm:cxn modelId="{D2D96D90-8186-4331-9A7F-F5BB04534EC4}" type="presParOf" srcId="{1F3EEA66-16AA-41FE-A72B-3CDF0BEB7895}" destId="{978118B7-241E-4EE8-AC6F-E94D7358AA4A}" srcOrd="3" destOrd="0" presId="urn:microsoft.com/office/officeart/2018/2/layout/IconCircleList"/>
    <dgm:cxn modelId="{90A8995F-5B71-4569-BA59-4752917C76CD}" type="presParOf" srcId="{1F3EEA66-16AA-41FE-A72B-3CDF0BEB7895}" destId="{9DD34530-786D-4AFC-B3CC-6E306344A309}" srcOrd="4" destOrd="0" presId="urn:microsoft.com/office/officeart/2018/2/layout/IconCircleList"/>
    <dgm:cxn modelId="{F3AD992B-2809-4529-89F6-5A0D82E02F5A}" type="presParOf" srcId="{9DD34530-786D-4AFC-B3CC-6E306344A309}" destId="{C46FC9C5-41A2-4677-B792-94D74EC0C32F}" srcOrd="0" destOrd="0" presId="urn:microsoft.com/office/officeart/2018/2/layout/IconCircleList"/>
    <dgm:cxn modelId="{4124BA72-684D-48A6-AECC-6DEBAA64179B}" type="presParOf" srcId="{9DD34530-786D-4AFC-B3CC-6E306344A309}" destId="{94FC2089-3E46-46C7-8635-3E2687331C1F}" srcOrd="1" destOrd="0" presId="urn:microsoft.com/office/officeart/2018/2/layout/IconCircleList"/>
    <dgm:cxn modelId="{17E88C39-9E35-4D12-BDF9-9C5FECC4CE0C}" type="presParOf" srcId="{9DD34530-786D-4AFC-B3CC-6E306344A309}" destId="{64F3ACC3-96B3-4449-899C-085AE13C4F5B}" srcOrd="2" destOrd="0" presId="urn:microsoft.com/office/officeart/2018/2/layout/IconCircleList"/>
    <dgm:cxn modelId="{C60CDE24-1056-43C4-AABA-9EDF8E5C5EFF}" type="presParOf" srcId="{9DD34530-786D-4AFC-B3CC-6E306344A309}" destId="{42E5B254-4D7E-40B9-AB1A-16160B0DA381}" srcOrd="3" destOrd="0" presId="urn:microsoft.com/office/officeart/2018/2/layout/IconCircleList"/>
    <dgm:cxn modelId="{8F09D281-FAA4-4E26-AA2F-A3E7640BB4DD}" type="presParOf" srcId="{1F3EEA66-16AA-41FE-A72B-3CDF0BEB7895}" destId="{30FDC8C4-9E62-4F60-9AB4-555B0360FAED}" srcOrd="5" destOrd="0" presId="urn:microsoft.com/office/officeart/2018/2/layout/IconCircleList"/>
    <dgm:cxn modelId="{762A895D-1647-4CA6-9E76-FFBC55668762}" type="presParOf" srcId="{1F3EEA66-16AA-41FE-A72B-3CDF0BEB7895}" destId="{E8A2C91B-8086-4EF3-A962-3FF9684357A8}" srcOrd="6" destOrd="0" presId="urn:microsoft.com/office/officeart/2018/2/layout/IconCircleList"/>
    <dgm:cxn modelId="{120A87C9-C5EE-4961-B113-9AB4416D67B2}" type="presParOf" srcId="{E8A2C91B-8086-4EF3-A962-3FF9684357A8}" destId="{DC8130FB-CBCA-4602-A008-1CCED8F63189}" srcOrd="0" destOrd="0" presId="urn:microsoft.com/office/officeart/2018/2/layout/IconCircleList"/>
    <dgm:cxn modelId="{138AE2A8-D285-4E77-8939-1ED569FBC38F}" type="presParOf" srcId="{E8A2C91B-8086-4EF3-A962-3FF9684357A8}" destId="{1077CB9F-0926-47D1-8AB6-8D47AF3D114C}" srcOrd="1" destOrd="0" presId="urn:microsoft.com/office/officeart/2018/2/layout/IconCircleList"/>
    <dgm:cxn modelId="{626FEEFB-33B2-48F4-A7E7-446FBB58EF4E}" type="presParOf" srcId="{E8A2C91B-8086-4EF3-A962-3FF9684357A8}" destId="{2CEDFA7B-8726-4CCA-A6D5-847F63C2AD52}" srcOrd="2" destOrd="0" presId="urn:microsoft.com/office/officeart/2018/2/layout/IconCircleList"/>
    <dgm:cxn modelId="{D81C79D7-8CD5-45FA-BE7A-45AF4211CC59}" type="presParOf" srcId="{E8A2C91B-8086-4EF3-A962-3FF9684357A8}" destId="{D7CDA4F2-78F4-4C8F-BEBB-560BA8603C91}" srcOrd="3" destOrd="0" presId="urn:microsoft.com/office/officeart/2018/2/layout/IconCircleList"/>
    <dgm:cxn modelId="{39A601E4-894E-400F-8D4B-BBEE8CF3DD2F}" type="presParOf" srcId="{1F3EEA66-16AA-41FE-A72B-3CDF0BEB7895}" destId="{100AEAC3-E357-4854-852B-C58B04669E59}" srcOrd="7" destOrd="0" presId="urn:microsoft.com/office/officeart/2018/2/layout/IconCircleList"/>
    <dgm:cxn modelId="{7C703CD8-3543-4565-A58E-908A78E20BC1}" type="presParOf" srcId="{1F3EEA66-16AA-41FE-A72B-3CDF0BEB7895}" destId="{8D76F22E-ACDC-453F-B023-8AEE8D0CE72F}" srcOrd="8" destOrd="0" presId="urn:microsoft.com/office/officeart/2018/2/layout/IconCircleList"/>
    <dgm:cxn modelId="{D8809AB1-D35A-4A86-BAEE-EE8E166C0982}" type="presParOf" srcId="{8D76F22E-ACDC-453F-B023-8AEE8D0CE72F}" destId="{D2A15262-EDDA-4B7D-97AD-93FEF3B532D8}" srcOrd="0" destOrd="0" presId="urn:microsoft.com/office/officeart/2018/2/layout/IconCircleList"/>
    <dgm:cxn modelId="{F8D4906D-6260-4219-882B-A10C376BAF71}" type="presParOf" srcId="{8D76F22E-ACDC-453F-B023-8AEE8D0CE72F}" destId="{FFFECCC0-8B31-4F81-A8D6-4657DA1671D3}" srcOrd="1" destOrd="0" presId="urn:microsoft.com/office/officeart/2018/2/layout/IconCircleList"/>
    <dgm:cxn modelId="{9AA876C7-E7B1-4AB0-889D-3F378316C482}" type="presParOf" srcId="{8D76F22E-ACDC-453F-B023-8AEE8D0CE72F}" destId="{FA0E1CC4-3BB4-4566-83D7-4DE6CA6BCF11}" srcOrd="2" destOrd="0" presId="urn:microsoft.com/office/officeart/2018/2/layout/IconCircleList"/>
    <dgm:cxn modelId="{3E244F7F-5A9B-46F6-BC1A-3ED0CC9CBFB3}" type="presParOf" srcId="{8D76F22E-ACDC-453F-B023-8AEE8D0CE72F}" destId="{8B6AE8AF-49B7-4840-9A9E-EE4B4EE1C9DF}" srcOrd="3" destOrd="0" presId="urn:microsoft.com/office/officeart/2018/2/layout/IconCircleList"/>
    <dgm:cxn modelId="{61023234-FC5D-401B-919E-2827B0BE5DBD}" type="presParOf" srcId="{1F3EEA66-16AA-41FE-A72B-3CDF0BEB7895}" destId="{4A504939-D151-4218-9260-E3A461EB99D0}" srcOrd="9" destOrd="0" presId="urn:microsoft.com/office/officeart/2018/2/layout/IconCircleList"/>
    <dgm:cxn modelId="{B6016DBB-3A99-4C0B-8ADC-EE017465EB0C}" type="presParOf" srcId="{1F3EEA66-16AA-41FE-A72B-3CDF0BEB7895}" destId="{DCA5D9C3-8C11-4D47-82E2-7425ED923EC8}" srcOrd="10" destOrd="0" presId="urn:microsoft.com/office/officeart/2018/2/layout/IconCircleList"/>
    <dgm:cxn modelId="{58579E0A-1AEA-493B-9227-645FD86DC444}" type="presParOf" srcId="{DCA5D9C3-8C11-4D47-82E2-7425ED923EC8}" destId="{4B17C03B-A889-4B4E-A922-5C7DCC54E2C4}" srcOrd="0" destOrd="0" presId="urn:microsoft.com/office/officeart/2018/2/layout/IconCircleList"/>
    <dgm:cxn modelId="{641B5DF4-D9DB-48C0-8650-94B94A79280C}" type="presParOf" srcId="{DCA5D9C3-8C11-4D47-82E2-7425ED923EC8}" destId="{195C4C7C-273A-462B-8B3C-4833E1BD352C}" srcOrd="1" destOrd="0" presId="urn:microsoft.com/office/officeart/2018/2/layout/IconCircleList"/>
    <dgm:cxn modelId="{132ABB20-9F59-467C-B5DB-EF5F2E018996}" type="presParOf" srcId="{DCA5D9C3-8C11-4D47-82E2-7425ED923EC8}" destId="{E8677858-7419-4502-A8D4-834C2500D605}" srcOrd="2" destOrd="0" presId="urn:microsoft.com/office/officeart/2018/2/layout/IconCircleList"/>
    <dgm:cxn modelId="{3EC40014-8378-4886-9F7A-25651B3F2E9D}" type="presParOf" srcId="{DCA5D9C3-8C11-4D47-82E2-7425ED923EC8}" destId="{7E0B06BD-2F58-4CFD-8E2F-4B9155395C04}"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080A883-2264-4CE0-8498-83C753842297}" type="doc">
      <dgm:prSet loTypeId="urn:microsoft.com/office/officeart/2018/2/layout/IconVerticalSolidList" loCatId="icon" qsTypeId="urn:microsoft.com/office/officeart/2005/8/quickstyle/3d3" qsCatId="3D" csTypeId="urn:microsoft.com/office/officeart/2005/8/colors/colorful5" csCatId="colorful" phldr="1"/>
      <dgm:spPr/>
      <dgm:t>
        <a:bodyPr/>
        <a:lstStyle/>
        <a:p>
          <a:endParaRPr lang="en-US"/>
        </a:p>
      </dgm:t>
    </dgm:pt>
    <dgm:pt modelId="{F553CBE8-D030-48FF-A9C4-0E2D335B40CB}">
      <dgm:prSet/>
      <dgm:spPr/>
      <dgm:t>
        <a:bodyPr/>
        <a:lstStyle/>
        <a:p>
          <a:pPr>
            <a:lnSpc>
              <a:spcPct val="100000"/>
            </a:lnSpc>
          </a:pPr>
          <a:r>
            <a:rPr lang="en-US" b="1" dirty="0"/>
            <a:t>Tools Used:</a:t>
          </a:r>
          <a:endParaRPr lang="en-US" dirty="0"/>
        </a:p>
      </dgm:t>
    </dgm:pt>
    <dgm:pt modelId="{D224B6B2-2052-4176-A037-BF967C216DEA}" type="parTrans" cxnId="{78BE2EBD-7386-4F5A-A4E0-8821BC513AF3}">
      <dgm:prSet/>
      <dgm:spPr/>
      <dgm:t>
        <a:bodyPr/>
        <a:lstStyle/>
        <a:p>
          <a:endParaRPr lang="en-US"/>
        </a:p>
      </dgm:t>
    </dgm:pt>
    <dgm:pt modelId="{8572B904-4B5D-4862-A1D7-9AF5FD8F2080}" type="sibTrans" cxnId="{78BE2EBD-7386-4F5A-A4E0-8821BC513AF3}">
      <dgm:prSet/>
      <dgm:spPr/>
      <dgm:t>
        <a:bodyPr/>
        <a:lstStyle/>
        <a:p>
          <a:endParaRPr lang="en-US"/>
        </a:p>
      </dgm:t>
    </dgm:pt>
    <dgm:pt modelId="{57622136-A5B6-40BF-9F4B-D3B6AE912BF4}">
      <dgm:prSet/>
      <dgm:spPr/>
      <dgm:t>
        <a:bodyPr/>
        <a:lstStyle/>
        <a:p>
          <a:pPr>
            <a:lnSpc>
              <a:spcPct val="100000"/>
            </a:lnSpc>
          </a:pPr>
          <a:r>
            <a:rPr lang="en-US"/>
            <a:t>SAS Studio</a:t>
          </a:r>
        </a:p>
      </dgm:t>
    </dgm:pt>
    <dgm:pt modelId="{23D5B0E7-E47B-45FB-93B5-182365573CA7}" type="parTrans" cxnId="{98C51871-E0F1-4E58-980C-74816BA00809}">
      <dgm:prSet/>
      <dgm:spPr/>
      <dgm:t>
        <a:bodyPr/>
        <a:lstStyle/>
        <a:p>
          <a:endParaRPr lang="en-US"/>
        </a:p>
      </dgm:t>
    </dgm:pt>
    <dgm:pt modelId="{8D940D86-0FD3-46D6-A6CD-C0120F55B762}" type="sibTrans" cxnId="{98C51871-E0F1-4E58-980C-74816BA00809}">
      <dgm:prSet/>
      <dgm:spPr/>
      <dgm:t>
        <a:bodyPr/>
        <a:lstStyle/>
        <a:p>
          <a:endParaRPr lang="en-US"/>
        </a:p>
      </dgm:t>
    </dgm:pt>
    <dgm:pt modelId="{88205216-C743-4726-8397-00343D8BFD03}">
      <dgm:prSet/>
      <dgm:spPr/>
      <dgm:t>
        <a:bodyPr/>
        <a:lstStyle/>
        <a:p>
          <a:pPr>
            <a:lnSpc>
              <a:spcPct val="100000"/>
            </a:lnSpc>
          </a:pPr>
          <a:r>
            <a:rPr lang="en-US" dirty="0"/>
            <a:t>Python (</a:t>
          </a:r>
          <a:r>
            <a:rPr lang="en-US" dirty="0" err="1"/>
            <a:t>Jupyter</a:t>
          </a:r>
          <a:r>
            <a:rPr lang="en-US" dirty="0"/>
            <a:t>)</a:t>
          </a:r>
        </a:p>
      </dgm:t>
    </dgm:pt>
    <dgm:pt modelId="{37BFC9F2-79DA-4E2B-93F7-AB08C937682B}" type="parTrans" cxnId="{0C740970-DBDE-40B4-BD72-F8A570DFA85F}">
      <dgm:prSet/>
      <dgm:spPr/>
      <dgm:t>
        <a:bodyPr/>
        <a:lstStyle/>
        <a:p>
          <a:endParaRPr lang="en-US"/>
        </a:p>
      </dgm:t>
    </dgm:pt>
    <dgm:pt modelId="{EB362356-37BF-4D67-B83F-3FA0468AFA9D}" type="sibTrans" cxnId="{0C740970-DBDE-40B4-BD72-F8A570DFA85F}">
      <dgm:prSet/>
      <dgm:spPr/>
      <dgm:t>
        <a:bodyPr/>
        <a:lstStyle/>
        <a:p>
          <a:endParaRPr lang="en-US"/>
        </a:p>
      </dgm:t>
    </dgm:pt>
    <dgm:pt modelId="{4DDFF3DC-0ADE-4036-887F-FE245C6A228A}">
      <dgm:prSet/>
      <dgm:spPr/>
      <dgm:t>
        <a:bodyPr/>
        <a:lstStyle/>
        <a:p>
          <a:pPr>
            <a:lnSpc>
              <a:spcPct val="100000"/>
            </a:lnSpc>
          </a:pPr>
          <a:r>
            <a:rPr lang="en-US" dirty="0"/>
            <a:t>PostgreSQL</a:t>
          </a:r>
        </a:p>
      </dgm:t>
    </dgm:pt>
    <dgm:pt modelId="{66EFA434-CF96-4A63-9C6B-E6383B4D7FC4}" type="parTrans" cxnId="{28783D74-9A29-4E3B-AFD8-29E8138EB4EE}">
      <dgm:prSet/>
      <dgm:spPr/>
      <dgm:t>
        <a:bodyPr/>
        <a:lstStyle/>
        <a:p>
          <a:endParaRPr lang="en-US"/>
        </a:p>
      </dgm:t>
    </dgm:pt>
    <dgm:pt modelId="{457310C3-6455-47B4-BC42-4F653E01FD43}" type="sibTrans" cxnId="{28783D74-9A29-4E3B-AFD8-29E8138EB4EE}">
      <dgm:prSet/>
      <dgm:spPr/>
      <dgm:t>
        <a:bodyPr/>
        <a:lstStyle/>
        <a:p>
          <a:endParaRPr lang="en-US"/>
        </a:p>
      </dgm:t>
    </dgm:pt>
    <dgm:pt modelId="{215F030B-F58E-41DD-A4B3-9A80643D07D6}">
      <dgm:prSet/>
      <dgm:spPr/>
      <dgm:t>
        <a:bodyPr/>
        <a:lstStyle/>
        <a:p>
          <a:pPr>
            <a:lnSpc>
              <a:spcPct val="100000"/>
            </a:lnSpc>
          </a:pPr>
          <a:r>
            <a:rPr lang="en-US"/>
            <a:t>Excel</a:t>
          </a:r>
        </a:p>
      </dgm:t>
    </dgm:pt>
    <dgm:pt modelId="{910A164F-A64F-4852-A564-E485D87AA6F6}" type="parTrans" cxnId="{2FB45605-B6E7-4848-A85E-312C6C5AA481}">
      <dgm:prSet/>
      <dgm:spPr/>
      <dgm:t>
        <a:bodyPr/>
        <a:lstStyle/>
        <a:p>
          <a:endParaRPr lang="en-US"/>
        </a:p>
      </dgm:t>
    </dgm:pt>
    <dgm:pt modelId="{EBDBBDE7-8867-48CA-BB39-06BBBC285960}" type="sibTrans" cxnId="{2FB45605-B6E7-4848-A85E-312C6C5AA481}">
      <dgm:prSet/>
      <dgm:spPr/>
      <dgm:t>
        <a:bodyPr/>
        <a:lstStyle/>
        <a:p>
          <a:endParaRPr lang="en-US"/>
        </a:p>
      </dgm:t>
    </dgm:pt>
    <dgm:pt modelId="{3ED05FB8-7FC7-4007-A496-6E0E02D868D1}" type="pres">
      <dgm:prSet presAssocID="{7080A883-2264-4CE0-8498-83C753842297}" presName="root" presStyleCnt="0">
        <dgm:presLayoutVars>
          <dgm:dir/>
          <dgm:resizeHandles val="exact"/>
        </dgm:presLayoutVars>
      </dgm:prSet>
      <dgm:spPr/>
    </dgm:pt>
    <dgm:pt modelId="{087E0EA6-64AA-4750-B402-944246DF4EC3}" type="pres">
      <dgm:prSet presAssocID="{F553CBE8-D030-48FF-A9C4-0E2D335B40CB}" presName="compNode" presStyleCnt="0"/>
      <dgm:spPr/>
    </dgm:pt>
    <dgm:pt modelId="{FA5A9AF0-5221-4039-9F2E-3B5FE8D48CFC}" type="pres">
      <dgm:prSet presAssocID="{F553CBE8-D030-48FF-A9C4-0E2D335B40CB}" presName="bgRect" presStyleLbl="bgShp" presStyleIdx="0" presStyleCnt="5" custLinFactY="-175795" custLinFactNeighborX="58445" custLinFactNeighborY="-200000"/>
      <dgm:spPr/>
    </dgm:pt>
    <dgm:pt modelId="{A1AEDC86-D348-41D7-B089-950C4EB626B1}" type="pres">
      <dgm:prSet presAssocID="{F553CBE8-D030-48FF-A9C4-0E2D335B40C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ools"/>
        </a:ext>
      </dgm:extLst>
    </dgm:pt>
    <dgm:pt modelId="{C1A65137-B3AE-4D52-B35E-402147635538}" type="pres">
      <dgm:prSet presAssocID="{F553CBE8-D030-48FF-A9C4-0E2D335B40CB}" presName="spaceRect" presStyleCnt="0"/>
      <dgm:spPr/>
    </dgm:pt>
    <dgm:pt modelId="{99147649-8F59-42E7-B402-F96DE24DDCA4}" type="pres">
      <dgm:prSet presAssocID="{F553CBE8-D030-48FF-A9C4-0E2D335B40CB}" presName="parTx" presStyleLbl="revTx" presStyleIdx="0" presStyleCnt="5">
        <dgm:presLayoutVars>
          <dgm:chMax val="0"/>
          <dgm:chPref val="0"/>
        </dgm:presLayoutVars>
      </dgm:prSet>
      <dgm:spPr/>
    </dgm:pt>
    <dgm:pt modelId="{5F2355CB-8C46-4A0B-A58D-46C4041B7804}" type="pres">
      <dgm:prSet presAssocID="{8572B904-4B5D-4862-A1D7-9AF5FD8F2080}" presName="sibTrans" presStyleCnt="0"/>
      <dgm:spPr/>
    </dgm:pt>
    <dgm:pt modelId="{6549F67F-5382-495D-AF19-113F6F1454EA}" type="pres">
      <dgm:prSet presAssocID="{57622136-A5B6-40BF-9F4B-D3B6AE912BF4}" presName="compNode" presStyleCnt="0"/>
      <dgm:spPr/>
    </dgm:pt>
    <dgm:pt modelId="{D5CB9D38-AFE2-4B8B-9D95-CF3462F91A45}" type="pres">
      <dgm:prSet presAssocID="{57622136-A5B6-40BF-9F4B-D3B6AE912BF4}" presName="bgRect" presStyleLbl="bgShp" presStyleIdx="1" presStyleCnt="5"/>
      <dgm:spPr/>
    </dgm:pt>
    <dgm:pt modelId="{AE5C6E4A-3814-4FD6-A02C-56B7BB0ECE96}" type="pres">
      <dgm:prSet presAssocID="{57622136-A5B6-40BF-9F4B-D3B6AE912BF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onitor"/>
        </a:ext>
      </dgm:extLst>
    </dgm:pt>
    <dgm:pt modelId="{75C5963D-2B18-4C01-A8F3-01106D240A57}" type="pres">
      <dgm:prSet presAssocID="{57622136-A5B6-40BF-9F4B-D3B6AE912BF4}" presName="spaceRect" presStyleCnt="0"/>
      <dgm:spPr/>
    </dgm:pt>
    <dgm:pt modelId="{ED81F105-A3E8-4F5E-AB75-0D569D98A8A7}" type="pres">
      <dgm:prSet presAssocID="{57622136-A5B6-40BF-9F4B-D3B6AE912BF4}" presName="parTx" presStyleLbl="revTx" presStyleIdx="1" presStyleCnt="5">
        <dgm:presLayoutVars>
          <dgm:chMax val="0"/>
          <dgm:chPref val="0"/>
        </dgm:presLayoutVars>
      </dgm:prSet>
      <dgm:spPr/>
    </dgm:pt>
    <dgm:pt modelId="{E666C5F8-CD5C-4BA1-A0D4-2D9A69981804}" type="pres">
      <dgm:prSet presAssocID="{8D940D86-0FD3-46D6-A6CD-C0120F55B762}" presName="sibTrans" presStyleCnt="0"/>
      <dgm:spPr/>
    </dgm:pt>
    <dgm:pt modelId="{A95CA818-1C46-4EEE-AB4C-9386B9E2DE80}" type="pres">
      <dgm:prSet presAssocID="{88205216-C743-4726-8397-00343D8BFD03}" presName="compNode" presStyleCnt="0"/>
      <dgm:spPr/>
    </dgm:pt>
    <dgm:pt modelId="{962CF0D9-CB09-41C6-B5FE-25E45A9241FF}" type="pres">
      <dgm:prSet presAssocID="{88205216-C743-4726-8397-00343D8BFD03}" presName="bgRect" presStyleLbl="bgShp" presStyleIdx="2" presStyleCnt="5"/>
      <dgm:spPr/>
    </dgm:pt>
    <dgm:pt modelId="{A2265E5E-3663-449C-8814-EFDC3814EE34}" type="pres">
      <dgm:prSet presAssocID="{88205216-C743-4726-8397-00343D8BFD0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grammer"/>
        </a:ext>
      </dgm:extLst>
    </dgm:pt>
    <dgm:pt modelId="{1ABA807C-2BF9-4244-96D1-253791FAC0AA}" type="pres">
      <dgm:prSet presAssocID="{88205216-C743-4726-8397-00343D8BFD03}" presName="spaceRect" presStyleCnt="0"/>
      <dgm:spPr/>
    </dgm:pt>
    <dgm:pt modelId="{A122057D-A3DB-40C2-B03D-BE74548F4517}" type="pres">
      <dgm:prSet presAssocID="{88205216-C743-4726-8397-00343D8BFD03}" presName="parTx" presStyleLbl="revTx" presStyleIdx="2" presStyleCnt="5">
        <dgm:presLayoutVars>
          <dgm:chMax val="0"/>
          <dgm:chPref val="0"/>
        </dgm:presLayoutVars>
      </dgm:prSet>
      <dgm:spPr/>
    </dgm:pt>
    <dgm:pt modelId="{A9E2EF86-CA87-4B2C-9A8B-8A02773DE4AE}" type="pres">
      <dgm:prSet presAssocID="{EB362356-37BF-4D67-B83F-3FA0468AFA9D}" presName="sibTrans" presStyleCnt="0"/>
      <dgm:spPr/>
    </dgm:pt>
    <dgm:pt modelId="{CCC4820E-B181-4CEC-B20D-9E9114F5E71D}" type="pres">
      <dgm:prSet presAssocID="{4DDFF3DC-0ADE-4036-887F-FE245C6A228A}" presName="compNode" presStyleCnt="0"/>
      <dgm:spPr/>
    </dgm:pt>
    <dgm:pt modelId="{9911C06C-AEF6-47A2-B146-69DB7AE19912}" type="pres">
      <dgm:prSet presAssocID="{4DDFF3DC-0ADE-4036-887F-FE245C6A228A}" presName="bgRect" presStyleLbl="bgShp" presStyleIdx="3" presStyleCnt="5"/>
      <dgm:spPr/>
    </dgm:pt>
    <dgm:pt modelId="{F062DC07-41C3-4FB9-BA5A-FF5EF4449A4E}" type="pres">
      <dgm:prSet presAssocID="{4DDFF3DC-0ADE-4036-887F-FE245C6A228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712F5A66-3800-449F-9F53-EF682FD377F8}" type="pres">
      <dgm:prSet presAssocID="{4DDFF3DC-0ADE-4036-887F-FE245C6A228A}" presName="spaceRect" presStyleCnt="0"/>
      <dgm:spPr/>
    </dgm:pt>
    <dgm:pt modelId="{0E13DDB6-F981-479D-AE5C-CFA2D1FEC5FB}" type="pres">
      <dgm:prSet presAssocID="{4DDFF3DC-0ADE-4036-887F-FE245C6A228A}" presName="parTx" presStyleLbl="revTx" presStyleIdx="3" presStyleCnt="5">
        <dgm:presLayoutVars>
          <dgm:chMax val="0"/>
          <dgm:chPref val="0"/>
        </dgm:presLayoutVars>
      </dgm:prSet>
      <dgm:spPr/>
    </dgm:pt>
    <dgm:pt modelId="{DC236F64-0B33-4E1D-B671-25ED118F3684}" type="pres">
      <dgm:prSet presAssocID="{457310C3-6455-47B4-BC42-4F653E01FD43}" presName="sibTrans" presStyleCnt="0"/>
      <dgm:spPr/>
    </dgm:pt>
    <dgm:pt modelId="{B2FE618B-27CB-4557-9892-CE8C628F5A52}" type="pres">
      <dgm:prSet presAssocID="{215F030B-F58E-41DD-A4B3-9A80643D07D6}" presName="compNode" presStyleCnt="0"/>
      <dgm:spPr/>
    </dgm:pt>
    <dgm:pt modelId="{95BFE4E9-4862-433D-9E45-5DE646744996}" type="pres">
      <dgm:prSet presAssocID="{215F030B-F58E-41DD-A4B3-9A80643D07D6}" presName="bgRect" presStyleLbl="bgShp" presStyleIdx="4" presStyleCnt="5"/>
      <dgm:spPr/>
    </dgm:pt>
    <dgm:pt modelId="{3E0340AF-27C1-4BB6-8D97-8A8E646426E5}" type="pres">
      <dgm:prSet presAssocID="{215F030B-F58E-41DD-A4B3-9A80643D07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Table"/>
        </a:ext>
      </dgm:extLst>
    </dgm:pt>
    <dgm:pt modelId="{84A6920C-D9C6-4E26-A01E-974E8F2BEE53}" type="pres">
      <dgm:prSet presAssocID="{215F030B-F58E-41DD-A4B3-9A80643D07D6}" presName="spaceRect" presStyleCnt="0"/>
      <dgm:spPr/>
    </dgm:pt>
    <dgm:pt modelId="{DEF89BD3-AC72-4983-BF05-2C2E5A33687C}" type="pres">
      <dgm:prSet presAssocID="{215F030B-F58E-41DD-A4B3-9A80643D07D6}" presName="parTx" presStyleLbl="revTx" presStyleIdx="4" presStyleCnt="5">
        <dgm:presLayoutVars>
          <dgm:chMax val="0"/>
          <dgm:chPref val="0"/>
        </dgm:presLayoutVars>
      </dgm:prSet>
      <dgm:spPr/>
    </dgm:pt>
  </dgm:ptLst>
  <dgm:cxnLst>
    <dgm:cxn modelId="{95046F04-973F-43DA-8540-30EAF5B5B17E}" type="presOf" srcId="{4DDFF3DC-0ADE-4036-887F-FE245C6A228A}" destId="{0E13DDB6-F981-479D-AE5C-CFA2D1FEC5FB}" srcOrd="0" destOrd="0" presId="urn:microsoft.com/office/officeart/2018/2/layout/IconVerticalSolidList"/>
    <dgm:cxn modelId="{2FB45605-B6E7-4848-A85E-312C6C5AA481}" srcId="{7080A883-2264-4CE0-8498-83C753842297}" destId="{215F030B-F58E-41DD-A4B3-9A80643D07D6}" srcOrd="4" destOrd="0" parTransId="{910A164F-A64F-4852-A564-E485D87AA6F6}" sibTransId="{EBDBBDE7-8867-48CA-BB39-06BBBC285960}"/>
    <dgm:cxn modelId="{7C309A22-15DD-4DC8-B482-AE59CAD1DCBA}" type="presOf" srcId="{7080A883-2264-4CE0-8498-83C753842297}" destId="{3ED05FB8-7FC7-4007-A496-6E0E02D868D1}" srcOrd="0" destOrd="0" presId="urn:microsoft.com/office/officeart/2018/2/layout/IconVerticalSolidList"/>
    <dgm:cxn modelId="{D922276C-1961-4ADA-A244-8C56797FE449}" type="presOf" srcId="{57622136-A5B6-40BF-9F4B-D3B6AE912BF4}" destId="{ED81F105-A3E8-4F5E-AB75-0D569D98A8A7}" srcOrd="0" destOrd="0" presId="urn:microsoft.com/office/officeart/2018/2/layout/IconVerticalSolidList"/>
    <dgm:cxn modelId="{0C740970-DBDE-40B4-BD72-F8A570DFA85F}" srcId="{7080A883-2264-4CE0-8498-83C753842297}" destId="{88205216-C743-4726-8397-00343D8BFD03}" srcOrd="2" destOrd="0" parTransId="{37BFC9F2-79DA-4E2B-93F7-AB08C937682B}" sibTransId="{EB362356-37BF-4D67-B83F-3FA0468AFA9D}"/>
    <dgm:cxn modelId="{98C51871-E0F1-4E58-980C-74816BA00809}" srcId="{7080A883-2264-4CE0-8498-83C753842297}" destId="{57622136-A5B6-40BF-9F4B-D3B6AE912BF4}" srcOrd="1" destOrd="0" parTransId="{23D5B0E7-E47B-45FB-93B5-182365573CA7}" sibTransId="{8D940D86-0FD3-46D6-A6CD-C0120F55B762}"/>
    <dgm:cxn modelId="{FBA25D53-9594-4463-AA96-5817681F77F3}" type="presOf" srcId="{F553CBE8-D030-48FF-A9C4-0E2D335B40CB}" destId="{99147649-8F59-42E7-B402-F96DE24DDCA4}" srcOrd="0" destOrd="0" presId="urn:microsoft.com/office/officeart/2018/2/layout/IconVerticalSolidList"/>
    <dgm:cxn modelId="{28783D74-9A29-4E3B-AFD8-29E8138EB4EE}" srcId="{7080A883-2264-4CE0-8498-83C753842297}" destId="{4DDFF3DC-0ADE-4036-887F-FE245C6A228A}" srcOrd="3" destOrd="0" parTransId="{66EFA434-CF96-4A63-9C6B-E6383B4D7FC4}" sibTransId="{457310C3-6455-47B4-BC42-4F653E01FD43}"/>
    <dgm:cxn modelId="{F2F1838C-F7E9-43B0-8107-C813151164D5}" type="presOf" srcId="{215F030B-F58E-41DD-A4B3-9A80643D07D6}" destId="{DEF89BD3-AC72-4983-BF05-2C2E5A33687C}" srcOrd="0" destOrd="0" presId="urn:microsoft.com/office/officeart/2018/2/layout/IconVerticalSolidList"/>
    <dgm:cxn modelId="{78BE2EBD-7386-4F5A-A4E0-8821BC513AF3}" srcId="{7080A883-2264-4CE0-8498-83C753842297}" destId="{F553CBE8-D030-48FF-A9C4-0E2D335B40CB}" srcOrd="0" destOrd="0" parTransId="{D224B6B2-2052-4176-A037-BF967C216DEA}" sibTransId="{8572B904-4B5D-4862-A1D7-9AF5FD8F2080}"/>
    <dgm:cxn modelId="{568AF3D1-A3A7-4A4F-B03C-2ECCC73C2FE7}" type="presOf" srcId="{88205216-C743-4726-8397-00343D8BFD03}" destId="{A122057D-A3DB-40C2-B03D-BE74548F4517}" srcOrd="0" destOrd="0" presId="urn:microsoft.com/office/officeart/2018/2/layout/IconVerticalSolidList"/>
    <dgm:cxn modelId="{974B150E-FF0D-4357-AAEE-5F822E51D09D}" type="presParOf" srcId="{3ED05FB8-7FC7-4007-A496-6E0E02D868D1}" destId="{087E0EA6-64AA-4750-B402-944246DF4EC3}" srcOrd="0" destOrd="0" presId="urn:microsoft.com/office/officeart/2018/2/layout/IconVerticalSolidList"/>
    <dgm:cxn modelId="{DF8D85DB-7475-4EF3-8FD5-1FE199AD4E24}" type="presParOf" srcId="{087E0EA6-64AA-4750-B402-944246DF4EC3}" destId="{FA5A9AF0-5221-4039-9F2E-3B5FE8D48CFC}" srcOrd="0" destOrd="0" presId="urn:microsoft.com/office/officeart/2018/2/layout/IconVerticalSolidList"/>
    <dgm:cxn modelId="{5022FBCC-5860-4155-A8DC-82029E6BD0DE}" type="presParOf" srcId="{087E0EA6-64AA-4750-B402-944246DF4EC3}" destId="{A1AEDC86-D348-41D7-B089-950C4EB626B1}" srcOrd="1" destOrd="0" presId="urn:microsoft.com/office/officeart/2018/2/layout/IconVerticalSolidList"/>
    <dgm:cxn modelId="{926F4D2E-6C72-449A-95AA-5A64C874BA57}" type="presParOf" srcId="{087E0EA6-64AA-4750-B402-944246DF4EC3}" destId="{C1A65137-B3AE-4D52-B35E-402147635538}" srcOrd="2" destOrd="0" presId="urn:microsoft.com/office/officeart/2018/2/layout/IconVerticalSolidList"/>
    <dgm:cxn modelId="{B1E55D87-D3F4-4875-A040-D45FCA590FFF}" type="presParOf" srcId="{087E0EA6-64AA-4750-B402-944246DF4EC3}" destId="{99147649-8F59-42E7-B402-F96DE24DDCA4}" srcOrd="3" destOrd="0" presId="urn:microsoft.com/office/officeart/2018/2/layout/IconVerticalSolidList"/>
    <dgm:cxn modelId="{13C3DDF0-BB12-45CC-9CB3-C0949BAD12A8}" type="presParOf" srcId="{3ED05FB8-7FC7-4007-A496-6E0E02D868D1}" destId="{5F2355CB-8C46-4A0B-A58D-46C4041B7804}" srcOrd="1" destOrd="0" presId="urn:microsoft.com/office/officeart/2018/2/layout/IconVerticalSolidList"/>
    <dgm:cxn modelId="{B0B6B407-5E7C-42AA-B6D5-99EA69BE5861}" type="presParOf" srcId="{3ED05FB8-7FC7-4007-A496-6E0E02D868D1}" destId="{6549F67F-5382-495D-AF19-113F6F1454EA}" srcOrd="2" destOrd="0" presId="urn:microsoft.com/office/officeart/2018/2/layout/IconVerticalSolidList"/>
    <dgm:cxn modelId="{CAE53DAE-7C39-47C2-889A-F2A6D9263641}" type="presParOf" srcId="{6549F67F-5382-495D-AF19-113F6F1454EA}" destId="{D5CB9D38-AFE2-4B8B-9D95-CF3462F91A45}" srcOrd="0" destOrd="0" presId="urn:microsoft.com/office/officeart/2018/2/layout/IconVerticalSolidList"/>
    <dgm:cxn modelId="{EE368BA3-7A02-4FB8-90D1-8D72ABEDEBC9}" type="presParOf" srcId="{6549F67F-5382-495D-AF19-113F6F1454EA}" destId="{AE5C6E4A-3814-4FD6-A02C-56B7BB0ECE96}" srcOrd="1" destOrd="0" presId="urn:microsoft.com/office/officeart/2018/2/layout/IconVerticalSolidList"/>
    <dgm:cxn modelId="{40C5D275-9EC2-4C15-A1AC-F964BDEF0CAE}" type="presParOf" srcId="{6549F67F-5382-495D-AF19-113F6F1454EA}" destId="{75C5963D-2B18-4C01-A8F3-01106D240A57}" srcOrd="2" destOrd="0" presId="urn:microsoft.com/office/officeart/2018/2/layout/IconVerticalSolidList"/>
    <dgm:cxn modelId="{BF5ED5B0-CE95-482B-B6A5-B9D63727D92D}" type="presParOf" srcId="{6549F67F-5382-495D-AF19-113F6F1454EA}" destId="{ED81F105-A3E8-4F5E-AB75-0D569D98A8A7}" srcOrd="3" destOrd="0" presId="urn:microsoft.com/office/officeart/2018/2/layout/IconVerticalSolidList"/>
    <dgm:cxn modelId="{67BC171B-48E7-42BB-8776-4346FA5717C0}" type="presParOf" srcId="{3ED05FB8-7FC7-4007-A496-6E0E02D868D1}" destId="{E666C5F8-CD5C-4BA1-A0D4-2D9A69981804}" srcOrd="3" destOrd="0" presId="urn:microsoft.com/office/officeart/2018/2/layout/IconVerticalSolidList"/>
    <dgm:cxn modelId="{1F0DB90F-750C-4C0B-B578-C7064046992F}" type="presParOf" srcId="{3ED05FB8-7FC7-4007-A496-6E0E02D868D1}" destId="{A95CA818-1C46-4EEE-AB4C-9386B9E2DE80}" srcOrd="4" destOrd="0" presId="urn:microsoft.com/office/officeart/2018/2/layout/IconVerticalSolidList"/>
    <dgm:cxn modelId="{8EB6544D-EFC2-40E3-B2F6-D4DE5013D75E}" type="presParOf" srcId="{A95CA818-1C46-4EEE-AB4C-9386B9E2DE80}" destId="{962CF0D9-CB09-41C6-B5FE-25E45A9241FF}" srcOrd="0" destOrd="0" presId="urn:microsoft.com/office/officeart/2018/2/layout/IconVerticalSolidList"/>
    <dgm:cxn modelId="{42C9AD6E-A116-4AE3-A198-B607A440C146}" type="presParOf" srcId="{A95CA818-1C46-4EEE-AB4C-9386B9E2DE80}" destId="{A2265E5E-3663-449C-8814-EFDC3814EE34}" srcOrd="1" destOrd="0" presId="urn:microsoft.com/office/officeart/2018/2/layout/IconVerticalSolidList"/>
    <dgm:cxn modelId="{C6B3A6EC-52CF-471A-9354-AA062D9CC48C}" type="presParOf" srcId="{A95CA818-1C46-4EEE-AB4C-9386B9E2DE80}" destId="{1ABA807C-2BF9-4244-96D1-253791FAC0AA}" srcOrd="2" destOrd="0" presId="urn:microsoft.com/office/officeart/2018/2/layout/IconVerticalSolidList"/>
    <dgm:cxn modelId="{C9989ECC-B22D-4D54-A556-732A9E3075FE}" type="presParOf" srcId="{A95CA818-1C46-4EEE-AB4C-9386B9E2DE80}" destId="{A122057D-A3DB-40C2-B03D-BE74548F4517}" srcOrd="3" destOrd="0" presId="urn:microsoft.com/office/officeart/2018/2/layout/IconVerticalSolidList"/>
    <dgm:cxn modelId="{0EBD15A7-2A9E-4D31-8929-C75F5801268A}" type="presParOf" srcId="{3ED05FB8-7FC7-4007-A496-6E0E02D868D1}" destId="{A9E2EF86-CA87-4B2C-9A8B-8A02773DE4AE}" srcOrd="5" destOrd="0" presId="urn:microsoft.com/office/officeart/2018/2/layout/IconVerticalSolidList"/>
    <dgm:cxn modelId="{80097435-51BF-4045-BD2A-89022AD37A1A}" type="presParOf" srcId="{3ED05FB8-7FC7-4007-A496-6E0E02D868D1}" destId="{CCC4820E-B181-4CEC-B20D-9E9114F5E71D}" srcOrd="6" destOrd="0" presId="urn:microsoft.com/office/officeart/2018/2/layout/IconVerticalSolidList"/>
    <dgm:cxn modelId="{523F19F0-898F-4255-A689-C659838BA465}" type="presParOf" srcId="{CCC4820E-B181-4CEC-B20D-9E9114F5E71D}" destId="{9911C06C-AEF6-47A2-B146-69DB7AE19912}" srcOrd="0" destOrd="0" presId="urn:microsoft.com/office/officeart/2018/2/layout/IconVerticalSolidList"/>
    <dgm:cxn modelId="{B3438895-F2AA-4536-93AD-D01319ADF272}" type="presParOf" srcId="{CCC4820E-B181-4CEC-B20D-9E9114F5E71D}" destId="{F062DC07-41C3-4FB9-BA5A-FF5EF4449A4E}" srcOrd="1" destOrd="0" presId="urn:microsoft.com/office/officeart/2018/2/layout/IconVerticalSolidList"/>
    <dgm:cxn modelId="{DEF20238-D820-4D91-A47A-A34F0941D748}" type="presParOf" srcId="{CCC4820E-B181-4CEC-B20D-9E9114F5E71D}" destId="{712F5A66-3800-449F-9F53-EF682FD377F8}" srcOrd="2" destOrd="0" presId="urn:microsoft.com/office/officeart/2018/2/layout/IconVerticalSolidList"/>
    <dgm:cxn modelId="{2D32B8CB-C0EC-43F6-BD77-312B6BE5C8BF}" type="presParOf" srcId="{CCC4820E-B181-4CEC-B20D-9E9114F5E71D}" destId="{0E13DDB6-F981-479D-AE5C-CFA2D1FEC5FB}" srcOrd="3" destOrd="0" presId="urn:microsoft.com/office/officeart/2018/2/layout/IconVerticalSolidList"/>
    <dgm:cxn modelId="{60D53890-16CF-4827-B980-88DA01D8105F}" type="presParOf" srcId="{3ED05FB8-7FC7-4007-A496-6E0E02D868D1}" destId="{DC236F64-0B33-4E1D-B671-25ED118F3684}" srcOrd="7" destOrd="0" presId="urn:microsoft.com/office/officeart/2018/2/layout/IconVerticalSolidList"/>
    <dgm:cxn modelId="{6133D96E-40AA-448F-9E33-FCEA61FF9DCF}" type="presParOf" srcId="{3ED05FB8-7FC7-4007-A496-6E0E02D868D1}" destId="{B2FE618B-27CB-4557-9892-CE8C628F5A52}" srcOrd="8" destOrd="0" presId="urn:microsoft.com/office/officeart/2018/2/layout/IconVerticalSolidList"/>
    <dgm:cxn modelId="{D17460AB-B449-4913-91F2-1C2CC33EE55E}" type="presParOf" srcId="{B2FE618B-27CB-4557-9892-CE8C628F5A52}" destId="{95BFE4E9-4862-433D-9E45-5DE646744996}" srcOrd="0" destOrd="0" presId="urn:microsoft.com/office/officeart/2018/2/layout/IconVerticalSolidList"/>
    <dgm:cxn modelId="{3AB62A2D-7799-46C2-B715-A28C9397FA47}" type="presParOf" srcId="{B2FE618B-27CB-4557-9892-CE8C628F5A52}" destId="{3E0340AF-27C1-4BB6-8D97-8A8E646426E5}" srcOrd="1" destOrd="0" presId="urn:microsoft.com/office/officeart/2018/2/layout/IconVerticalSolidList"/>
    <dgm:cxn modelId="{917914FB-DB57-44DB-95A7-FB4003A1450D}" type="presParOf" srcId="{B2FE618B-27CB-4557-9892-CE8C628F5A52}" destId="{84A6920C-D9C6-4E26-A01E-974E8F2BEE53}" srcOrd="2" destOrd="0" presId="urn:microsoft.com/office/officeart/2018/2/layout/IconVerticalSolidList"/>
    <dgm:cxn modelId="{DB8461B6-8323-457C-AB1C-6E584274CCDC}" type="presParOf" srcId="{B2FE618B-27CB-4557-9892-CE8C628F5A52}" destId="{DEF89BD3-AC72-4983-BF05-2C2E5A33687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073390-6DDF-4EDE-8822-CD13725BBC63}" type="doc">
      <dgm:prSet loTypeId="urn:microsoft.com/office/officeart/2018/2/layout/IconVerticalSolidList" loCatId="icon" qsTypeId="urn:microsoft.com/office/officeart/2005/8/quickstyle/3d3" qsCatId="3D" csTypeId="urn:microsoft.com/office/officeart/2005/8/colors/colorful5" csCatId="colorful" phldr="1"/>
      <dgm:spPr/>
      <dgm:t>
        <a:bodyPr/>
        <a:lstStyle/>
        <a:p>
          <a:endParaRPr lang="en-US"/>
        </a:p>
      </dgm:t>
    </dgm:pt>
    <dgm:pt modelId="{11F4A853-6C18-45B6-9D2A-184CA89098AA}">
      <dgm:prSet/>
      <dgm:spPr/>
      <dgm:t>
        <a:bodyPr/>
        <a:lstStyle/>
        <a:p>
          <a:pPr>
            <a:lnSpc>
              <a:spcPct val="100000"/>
            </a:lnSpc>
          </a:pPr>
          <a:r>
            <a:rPr lang="en-US" b="1" dirty="0"/>
            <a:t>Data Sets used:</a:t>
          </a:r>
          <a:endParaRPr lang="en-US" dirty="0"/>
        </a:p>
      </dgm:t>
    </dgm:pt>
    <dgm:pt modelId="{743638EB-4551-4FD0-8991-54580DD81BF0}" type="parTrans" cxnId="{E8EB4C7C-E6F6-49E5-9402-9068E8F968FB}">
      <dgm:prSet/>
      <dgm:spPr/>
      <dgm:t>
        <a:bodyPr/>
        <a:lstStyle/>
        <a:p>
          <a:endParaRPr lang="en-US"/>
        </a:p>
      </dgm:t>
    </dgm:pt>
    <dgm:pt modelId="{B877E789-80EE-4CA9-B895-A00BEDD9C78B}" type="sibTrans" cxnId="{E8EB4C7C-E6F6-49E5-9402-9068E8F968FB}">
      <dgm:prSet/>
      <dgm:spPr/>
      <dgm:t>
        <a:bodyPr/>
        <a:lstStyle/>
        <a:p>
          <a:endParaRPr lang="en-US"/>
        </a:p>
      </dgm:t>
    </dgm:pt>
    <dgm:pt modelId="{1DE47D79-7100-4DF1-B69A-C61E3FE7E32B}">
      <dgm:prSet/>
      <dgm:spPr/>
      <dgm:t>
        <a:bodyPr/>
        <a:lstStyle/>
        <a:p>
          <a:pPr>
            <a:lnSpc>
              <a:spcPct val="100000"/>
            </a:lnSpc>
          </a:pPr>
          <a:r>
            <a:rPr lang="en-US"/>
            <a:t>Medicaid Managed Care datasets</a:t>
          </a:r>
        </a:p>
      </dgm:t>
    </dgm:pt>
    <dgm:pt modelId="{502A228B-7851-4A71-AAE8-8C3F68DF464F}" type="parTrans" cxnId="{C53B14C4-80DC-4D84-93AB-D0875A3849AC}">
      <dgm:prSet/>
      <dgm:spPr/>
      <dgm:t>
        <a:bodyPr/>
        <a:lstStyle/>
        <a:p>
          <a:endParaRPr lang="en-US"/>
        </a:p>
      </dgm:t>
    </dgm:pt>
    <dgm:pt modelId="{EAB342A1-A5D8-4670-8676-0E9C03A1ABDD}" type="sibTrans" cxnId="{C53B14C4-80DC-4D84-93AB-D0875A3849AC}">
      <dgm:prSet/>
      <dgm:spPr/>
      <dgm:t>
        <a:bodyPr/>
        <a:lstStyle/>
        <a:p>
          <a:endParaRPr lang="en-US"/>
        </a:p>
      </dgm:t>
    </dgm:pt>
    <dgm:pt modelId="{8A4061F3-4CCD-4F90-A6C4-05A4ABCAAED2}">
      <dgm:prSet/>
      <dgm:spPr/>
      <dgm:t>
        <a:bodyPr/>
        <a:lstStyle/>
        <a:p>
          <a:pPr>
            <a:lnSpc>
              <a:spcPct val="100000"/>
            </a:lnSpc>
          </a:pPr>
          <a:r>
            <a:rPr lang="en-US"/>
            <a:t>Medicare IP Hospitals by Geography and Service</a:t>
          </a:r>
        </a:p>
      </dgm:t>
    </dgm:pt>
    <dgm:pt modelId="{0EBA05F6-B742-4629-B7D1-87783BD2D523}" type="parTrans" cxnId="{1479F72F-1836-4BCE-A45D-352F48F3F47F}">
      <dgm:prSet/>
      <dgm:spPr/>
      <dgm:t>
        <a:bodyPr/>
        <a:lstStyle/>
        <a:p>
          <a:endParaRPr lang="en-US"/>
        </a:p>
      </dgm:t>
    </dgm:pt>
    <dgm:pt modelId="{E3A89955-9848-4405-B1D7-AA3308E225ED}" type="sibTrans" cxnId="{1479F72F-1836-4BCE-A45D-352F48F3F47F}">
      <dgm:prSet/>
      <dgm:spPr/>
      <dgm:t>
        <a:bodyPr/>
        <a:lstStyle/>
        <a:p>
          <a:endParaRPr lang="en-US"/>
        </a:p>
      </dgm:t>
    </dgm:pt>
    <dgm:pt modelId="{AA14D4CA-A882-43DB-AB9A-E65525ADF3A0}">
      <dgm:prSet/>
      <dgm:spPr/>
      <dgm:t>
        <a:bodyPr/>
        <a:lstStyle/>
        <a:p>
          <a:pPr>
            <a:lnSpc>
              <a:spcPct val="100000"/>
            </a:lnSpc>
          </a:pPr>
          <a:r>
            <a:rPr lang="en-US" dirty="0"/>
            <a:t>Medicare IP Hospitals by Provider and Service</a:t>
          </a:r>
        </a:p>
      </dgm:t>
    </dgm:pt>
    <dgm:pt modelId="{9EEC20A7-E13A-4D73-AF27-449C31603C83}" type="parTrans" cxnId="{25745A8B-83B6-417B-B6AB-FE9D25DCC225}">
      <dgm:prSet/>
      <dgm:spPr/>
      <dgm:t>
        <a:bodyPr/>
        <a:lstStyle/>
        <a:p>
          <a:endParaRPr lang="en-US"/>
        </a:p>
      </dgm:t>
    </dgm:pt>
    <dgm:pt modelId="{662A17ED-D5EF-4DA5-9691-5AC30CFE5416}" type="sibTrans" cxnId="{25745A8B-83B6-417B-B6AB-FE9D25DCC225}">
      <dgm:prSet/>
      <dgm:spPr/>
      <dgm:t>
        <a:bodyPr/>
        <a:lstStyle/>
        <a:p>
          <a:endParaRPr lang="en-US"/>
        </a:p>
      </dgm:t>
    </dgm:pt>
    <dgm:pt modelId="{B29C6ACF-0C15-4B77-A492-29AAF7EE5435}" type="pres">
      <dgm:prSet presAssocID="{84073390-6DDF-4EDE-8822-CD13725BBC63}" presName="root" presStyleCnt="0">
        <dgm:presLayoutVars>
          <dgm:dir/>
          <dgm:resizeHandles val="exact"/>
        </dgm:presLayoutVars>
      </dgm:prSet>
      <dgm:spPr/>
    </dgm:pt>
    <dgm:pt modelId="{2513A4B9-656D-477F-8EDC-BA1966F33B83}" type="pres">
      <dgm:prSet presAssocID="{11F4A853-6C18-45B6-9D2A-184CA89098AA}" presName="compNode" presStyleCnt="0"/>
      <dgm:spPr/>
    </dgm:pt>
    <dgm:pt modelId="{7FC7BC36-A179-427E-8E65-B180FADC0138}" type="pres">
      <dgm:prSet presAssocID="{11F4A853-6C18-45B6-9D2A-184CA89098AA}" presName="bgRect" presStyleLbl="bgShp" presStyleIdx="0" presStyleCnt="4"/>
      <dgm:spPr/>
    </dgm:pt>
    <dgm:pt modelId="{91F9A872-7CF3-4D9A-8F9C-7219D0498ED9}" type="pres">
      <dgm:prSet presAssocID="{11F4A853-6C18-45B6-9D2A-184CA89098A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ble"/>
        </a:ext>
      </dgm:extLst>
    </dgm:pt>
    <dgm:pt modelId="{5D7C54B6-2DA6-469C-BF2E-129240F78829}" type="pres">
      <dgm:prSet presAssocID="{11F4A853-6C18-45B6-9D2A-184CA89098AA}" presName="spaceRect" presStyleCnt="0"/>
      <dgm:spPr/>
    </dgm:pt>
    <dgm:pt modelId="{941CB8DC-BCCF-4B39-82D6-EC6BA0092817}" type="pres">
      <dgm:prSet presAssocID="{11F4A853-6C18-45B6-9D2A-184CA89098AA}" presName="parTx" presStyleLbl="revTx" presStyleIdx="0" presStyleCnt="4">
        <dgm:presLayoutVars>
          <dgm:chMax val="0"/>
          <dgm:chPref val="0"/>
        </dgm:presLayoutVars>
      </dgm:prSet>
      <dgm:spPr/>
    </dgm:pt>
    <dgm:pt modelId="{4AB5080C-B4FB-458C-BD16-E9B3D5B175E1}" type="pres">
      <dgm:prSet presAssocID="{B877E789-80EE-4CA9-B895-A00BEDD9C78B}" presName="sibTrans" presStyleCnt="0"/>
      <dgm:spPr/>
    </dgm:pt>
    <dgm:pt modelId="{ADF1F89C-1156-48E2-A7A1-E1B3D2447A2F}" type="pres">
      <dgm:prSet presAssocID="{1DE47D79-7100-4DF1-B69A-C61E3FE7E32B}" presName="compNode" presStyleCnt="0"/>
      <dgm:spPr/>
    </dgm:pt>
    <dgm:pt modelId="{405C70D4-D26D-4EC5-AC6F-E99DCE0DE5D8}" type="pres">
      <dgm:prSet presAssocID="{1DE47D79-7100-4DF1-B69A-C61E3FE7E32B}" presName="bgRect" presStyleLbl="bgShp" presStyleIdx="1" presStyleCnt="4"/>
      <dgm:spPr/>
    </dgm:pt>
    <dgm:pt modelId="{E933CA62-4EDC-466C-BB99-9F989278ED4E}" type="pres">
      <dgm:prSet presAssocID="{1DE47D79-7100-4DF1-B69A-C61E3FE7E32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7EE71240-745B-4DE2-8018-E58DBA86C123}" type="pres">
      <dgm:prSet presAssocID="{1DE47D79-7100-4DF1-B69A-C61E3FE7E32B}" presName="spaceRect" presStyleCnt="0"/>
      <dgm:spPr/>
    </dgm:pt>
    <dgm:pt modelId="{5720EB2C-1DBD-4560-B370-58694F087841}" type="pres">
      <dgm:prSet presAssocID="{1DE47D79-7100-4DF1-B69A-C61E3FE7E32B}" presName="parTx" presStyleLbl="revTx" presStyleIdx="1" presStyleCnt="4">
        <dgm:presLayoutVars>
          <dgm:chMax val="0"/>
          <dgm:chPref val="0"/>
        </dgm:presLayoutVars>
      </dgm:prSet>
      <dgm:spPr/>
    </dgm:pt>
    <dgm:pt modelId="{D726B34C-264F-4091-A7F1-345D357EF432}" type="pres">
      <dgm:prSet presAssocID="{EAB342A1-A5D8-4670-8676-0E9C03A1ABDD}" presName="sibTrans" presStyleCnt="0"/>
      <dgm:spPr/>
    </dgm:pt>
    <dgm:pt modelId="{62208715-5694-47C9-BE33-6EAC3657BCEF}" type="pres">
      <dgm:prSet presAssocID="{8A4061F3-4CCD-4F90-A6C4-05A4ABCAAED2}" presName="compNode" presStyleCnt="0"/>
      <dgm:spPr/>
    </dgm:pt>
    <dgm:pt modelId="{13C05C82-8C2B-4B02-B553-451F942BD45B}" type="pres">
      <dgm:prSet presAssocID="{8A4061F3-4CCD-4F90-A6C4-05A4ABCAAED2}" presName="bgRect" presStyleLbl="bgShp" presStyleIdx="2" presStyleCnt="4"/>
      <dgm:spPr/>
    </dgm:pt>
    <dgm:pt modelId="{AAD1A3E1-9468-44D1-A7A3-535E59B30769}" type="pres">
      <dgm:prSet presAssocID="{8A4061F3-4CCD-4F90-A6C4-05A4ABCAAED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edical"/>
        </a:ext>
      </dgm:extLst>
    </dgm:pt>
    <dgm:pt modelId="{E7D1BA53-081F-499A-9192-45124CED2575}" type="pres">
      <dgm:prSet presAssocID="{8A4061F3-4CCD-4F90-A6C4-05A4ABCAAED2}" presName="spaceRect" presStyleCnt="0"/>
      <dgm:spPr/>
    </dgm:pt>
    <dgm:pt modelId="{2DDF7790-56C1-45D1-9EAC-E5B24BE93507}" type="pres">
      <dgm:prSet presAssocID="{8A4061F3-4CCD-4F90-A6C4-05A4ABCAAED2}" presName="parTx" presStyleLbl="revTx" presStyleIdx="2" presStyleCnt="4">
        <dgm:presLayoutVars>
          <dgm:chMax val="0"/>
          <dgm:chPref val="0"/>
        </dgm:presLayoutVars>
      </dgm:prSet>
      <dgm:spPr/>
    </dgm:pt>
    <dgm:pt modelId="{67197E01-CC64-4ABB-9AA8-8A38B76066F0}" type="pres">
      <dgm:prSet presAssocID="{E3A89955-9848-4405-B1D7-AA3308E225ED}" presName="sibTrans" presStyleCnt="0"/>
      <dgm:spPr/>
    </dgm:pt>
    <dgm:pt modelId="{3FDA6871-852E-41C9-954B-F285E8144162}" type="pres">
      <dgm:prSet presAssocID="{AA14D4CA-A882-43DB-AB9A-E65525ADF3A0}" presName="compNode" presStyleCnt="0"/>
      <dgm:spPr/>
    </dgm:pt>
    <dgm:pt modelId="{40409BF7-C341-464D-BCED-621AB67C12E9}" type="pres">
      <dgm:prSet presAssocID="{AA14D4CA-A882-43DB-AB9A-E65525ADF3A0}" presName="bgRect" presStyleLbl="bgShp" presStyleIdx="3" presStyleCnt="4"/>
      <dgm:spPr/>
    </dgm:pt>
    <dgm:pt modelId="{3C3B35E0-4A24-42FB-B535-53AFFC90A250}" type="pres">
      <dgm:prSet presAssocID="{AA14D4CA-A882-43DB-AB9A-E65525ADF3A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ethoscope"/>
        </a:ext>
      </dgm:extLst>
    </dgm:pt>
    <dgm:pt modelId="{0C1A0AFF-155A-4955-B96E-DD83B3DCBFD4}" type="pres">
      <dgm:prSet presAssocID="{AA14D4CA-A882-43DB-AB9A-E65525ADF3A0}" presName="spaceRect" presStyleCnt="0"/>
      <dgm:spPr/>
    </dgm:pt>
    <dgm:pt modelId="{B0685828-8B1A-46B6-BD5C-F7F310542B24}" type="pres">
      <dgm:prSet presAssocID="{AA14D4CA-A882-43DB-AB9A-E65525ADF3A0}" presName="parTx" presStyleLbl="revTx" presStyleIdx="3" presStyleCnt="4">
        <dgm:presLayoutVars>
          <dgm:chMax val="0"/>
          <dgm:chPref val="0"/>
        </dgm:presLayoutVars>
      </dgm:prSet>
      <dgm:spPr/>
    </dgm:pt>
  </dgm:ptLst>
  <dgm:cxnLst>
    <dgm:cxn modelId="{49F6E30E-70C7-46B9-B70C-7414AB1CA03B}" type="presOf" srcId="{8A4061F3-4CCD-4F90-A6C4-05A4ABCAAED2}" destId="{2DDF7790-56C1-45D1-9EAC-E5B24BE93507}" srcOrd="0" destOrd="0" presId="urn:microsoft.com/office/officeart/2018/2/layout/IconVerticalSolidList"/>
    <dgm:cxn modelId="{26671A2F-072D-4425-90E0-1519ED5CFEED}" type="presOf" srcId="{84073390-6DDF-4EDE-8822-CD13725BBC63}" destId="{B29C6ACF-0C15-4B77-A492-29AAF7EE5435}" srcOrd="0" destOrd="0" presId="urn:microsoft.com/office/officeart/2018/2/layout/IconVerticalSolidList"/>
    <dgm:cxn modelId="{1479F72F-1836-4BCE-A45D-352F48F3F47F}" srcId="{84073390-6DDF-4EDE-8822-CD13725BBC63}" destId="{8A4061F3-4CCD-4F90-A6C4-05A4ABCAAED2}" srcOrd="2" destOrd="0" parTransId="{0EBA05F6-B742-4629-B7D1-87783BD2D523}" sibTransId="{E3A89955-9848-4405-B1D7-AA3308E225ED}"/>
    <dgm:cxn modelId="{D88ECE69-7953-4E7C-8ED0-C0D452D0FEEC}" type="presOf" srcId="{1DE47D79-7100-4DF1-B69A-C61E3FE7E32B}" destId="{5720EB2C-1DBD-4560-B370-58694F087841}" srcOrd="0" destOrd="0" presId="urn:microsoft.com/office/officeart/2018/2/layout/IconVerticalSolidList"/>
    <dgm:cxn modelId="{E8EB4C7C-E6F6-49E5-9402-9068E8F968FB}" srcId="{84073390-6DDF-4EDE-8822-CD13725BBC63}" destId="{11F4A853-6C18-45B6-9D2A-184CA89098AA}" srcOrd="0" destOrd="0" parTransId="{743638EB-4551-4FD0-8991-54580DD81BF0}" sibTransId="{B877E789-80EE-4CA9-B895-A00BEDD9C78B}"/>
    <dgm:cxn modelId="{25745A8B-83B6-417B-B6AB-FE9D25DCC225}" srcId="{84073390-6DDF-4EDE-8822-CD13725BBC63}" destId="{AA14D4CA-A882-43DB-AB9A-E65525ADF3A0}" srcOrd="3" destOrd="0" parTransId="{9EEC20A7-E13A-4D73-AF27-449C31603C83}" sibTransId="{662A17ED-D5EF-4DA5-9691-5AC30CFE5416}"/>
    <dgm:cxn modelId="{C53B14C4-80DC-4D84-93AB-D0875A3849AC}" srcId="{84073390-6DDF-4EDE-8822-CD13725BBC63}" destId="{1DE47D79-7100-4DF1-B69A-C61E3FE7E32B}" srcOrd="1" destOrd="0" parTransId="{502A228B-7851-4A71-AAE8-8C3F68DF464F}" sibTransId="{EAB342A1-A5D8-4670-8676-0E9C03A1ABDD}"/>
    <dgm:cxn modelId="{C87591DE-C95F-47AA-A20D-6F82CB8F6DF0}" type="presOf" srcId="{AA14D4CA-A882-43DB-AB9A-E65525ADF3A0}" destId="{B0685828-8B1A-46B6-BD5C-F7F310542B24}" srcOrd="0" destOrd="0" presId="urn:microsoft.com/office/officeart/2018/2/layout/IconVerticalSolidList"/>
    <dgm:cxn modelId="{B86C3BF9-DC0F-494B-9185-0C57DABF7129}" type="presOf" srcId="{11F4A853-6C18-45B6-9D2A-184CA89098AA}" destId="{941CB8DC-BCCF-4B39-82D6-EC6BA0092817}" srcOrd="0" destOrd="0" presId="urn:microsoft.com/office/officeart/2018/2/layout/IconVerticalSolidList"/>
    <dgm:cxn modelId="{51EBE6AE-6945-458C-A158-BFBCFF072AA7}" type="presParOf" srcId="{B29C6ACF-0C15-4B77-A492-29AAF7EE5435}" destId="{2513A4B9-656D-477F-8EDC-BA1966F33B83}" srcOrd="0" destOrd="0" presId="urn:microsoft.com/office/officeart/2018/2/layout/IconVerticalSolidList"/>
    <dgm:cxn modelId="{35EFC88A-D578-4545-95CC-F08B385954E6}" type="presParOf" srcId="{2513A4B9-656D-477F-8EDC-BA1966F33B83}" destId="{7FC7BC36-A179-427E-8E65-B180FADC0138}" srcOrd="0" destOrd="0" presId="urn:microsoft.com/office/officeart/2018/2/layout/IconVerticalSolidList"/>
    <dgm:cxn modelId="{87E2C3B1-6097-420C-8968-D4A124771BCE}" type="presParOf" srcId="{2513A4B9-656D-477F-8EDC-BA1966F33B83}" destId="{91F9A872-7CF3-4D9A-8F9C-7219D0498ED9}" srcOrd="1" destOrd="0" presId="urn:microsoft.com/office/officeart/2018/2/layout/IconVerticalSolidList"/>
    <dgm:cxn modelId="{1EADF735-CBB9-45F9-B200-985FEB1AEAC1}" type="presParOf" srcId="{2513A4B9-656D-477F-8EDC-BA1966F33B83}" destId="{5D7C54B6-2DA6-469C-BF2E-129240F78829}" srcOrd="2" destOrd="0" presId="urn:microsoft.com/office/officeart/2018/2/layout/IconVerticalSolidList"/>
    <dgm:cxn modelId="{00F5D9F4-B9E3-40FA-BB1A-2069DDD8243D}" type="presParOf" srcId="{2513A4B9-656D-477F-8EDC-BA1966F33B83}" destId="{941CB8DC-BCCF-4B39-82D6-EC6BA0092817}" srcOrd="3" destOrd="0" presId="urn:microsoft.com/office/officeart/2018/2/layout/IconVerticalSolidList"/>
    <dgm:cxn modelId="{373A31CA-9F59-4A25-BB1D-5A49F4D92345}" type="presParOf" srcId="{B29C6ACF-0C15-4B77-A492-29AAF7EE5435}" destId="{4AB5080C-B4FB-458C-BD16-E9B3D5B175E1}" srcOrd="1" destOrd="0" presId="urn:microsoft.com/office/officeart/2018/2/layout/IconVerticalSolidList"/>
    <dgm:cxn modelId="{07F08D17-3929-46BC-BE4C-03B7B4ABE45F}" type="presParOf" srcId="{B29C6ACF-0C15-4B77-A492-29AAF7EE5435}" destId="{ADF1F89C-1156-48E2-A7A1-E1B3D2447A2F}" srcOrd="2" destOrd="0" presId="urn:microsoft.com/office/officeart/2018/2/layout/IconVerticalSolidList"/>
    <dgm:cxn modelId="{E47CBA71-9C78-4F05-B9C5-CBF3D6F9F43C}" type="presParOf" srcId="{ADF1F89C-1156-48E2-A7A1-E1B3D2447A2F}" destId="{405C70D4-D26D-4EC5-AC6F-E99DCE0DE5D8}" srcOrd="0" destOrd="0" presId="urn:microsoft.com/office/officeart/2018/2/layout/IconVerticalSolidList"/>
    <dgm:cxn modelId="{5881D5DB-ABF1-455A-993A-42F7186AA059}" type="presParOf" srcId="{ADF1F89C-1156-48E2-A7A1-E1B3D2447A2F}" destId="{E933CA62-4EDC-466C-BB99-9F989278ED4E}" srcOrd="1" destOrd="0" presId="urn:microsoft.com/office/officeart/2018/2/layout/IconVerticalSolidList"/>
    <dgm:cxn modelId="{12E3377B-1388-4EFD-BC1D-C49623416FF9}" type="presParOf" srcId="{ADF1F89C-1156-48E2-A7A1-E1B3D2447A2F}" destId="{7EE71240-745B-4DE2-8018-E58DBA86C123}" srcOrd="2" destOrd="0" presId="urn:microsoft.com/office/officeart/2018/2/layout/IconVerticalSolidList"/>
    <dgm:cxn modelId="{07ED1FF9-FE83-4C69-AFEF-852F1FDE18F6}" type="presParOf" srcId="{ADF1F89C-1156-48E2-A7A1-E1B3D2447A2F}" destId="{5720EB2C-1DBD-4560-B370-58694F087841}" srcOrd="3" destOrd="0" presId="urn:microsoft.com/office/officeart/2018/2/layout/IconVerticalSolidList"/>
    <dgm:cxn modelId="{95947F6F-C85F-4C66-983D-E4653B2145D7}" type="presParOf" srcId="{B29C6ACF-0C15-4B77-A492-29AAF7EE5435}" destId="{D726B34C-264F-4091-A7F1-345D357EF432}" srcOrd="3" destOrd="0" presId="urn:microsoft.com/office/officeart/2018/2/layout/IconVerticalSolidList"/>
    <dgm:cxn modelId="{DB788B67-A038-44D0-8E5A-346F73ECE308}" type="presParOf" srcId="{B29C6ACF-0C15-4B77-A492-29AAF7EE5435}" destId="{62208715-5694-47C9-BE33-6EAC3657BCEF}" srcOrd="4" destOrd="0" presId="urn:microsoft.com/office/officeart/2018/2/layout/IconVerticalSolidList"/>
    <dgm:cxn modelId="{70D3C4C0-2BC1-4020-B6D1-7A083CA73C84}" type="presParOf" srcId="{62208715-5694-47C9-BE33-6EAC3657BCEF}" destId="{13C05C82-8C2B-4B02-B553-451F942BD45B}" srcOrd="0" destOrd="0" presId="urn:microsoft.com/office/officeart/2018/2/layout/IconVerticalSolidList"/>
    <dgm:cxn modelId="{F51A1DE9-DC51-44C3-BEA9-81BF359BF997}" type="presParOf" srcId="{62208715-5694-47C9-BE33-6EAC3657BCEF}" destId="{AAD1A3E1-9468-44D1-A7A3-535E59B30769}" srcOrd="1" destOrd="0" presId="urn:microsoft.com/office/officeart/2018/2/layout/IconVerticalSolidList"/>
    <dgm:cxn modelId="{760AADFB-8444-4DBD-82FB-A13719CB9587}" type="presParOf" srcId="{62208715-5694-47C9-BE33-6EAC3657BCEF}" destId="{E7D1BA53-081F-499A-9192-45124CED2575}" srcOrd="2" destOrd="0" presId="urn:microsoft.com/office/officeart/2018/2/layout/IconVerticalSolidList"/>
    <dgm:cxn modelId="{F27000E7-83BC-4911-BFF4-CB958722CB50}" type="presParOf" srcId="{62208715-5694-47C9-BE33-6EAC3657BCEF}" destId="{2DDF7790-56C1-45D1-9EAC-E5B24BE93507}" srcOrd="3" destOrd="0" presId="urn:microsoft.com/office/officeart/2018/2/layout/IconVerticalSolidList"/>
    <dgm:cxn modelId="{7F41D330-3541-4470-9B82-BEA1E7DFB590}" type="presParOf" srcId="{B29C6ACF-0C15-4B77-A492-29AAF7EE5435}" destId="{67197E01-CC64-4ABB-9AA8-8A38B76066F0}" srcOrd="5" destOrd="0" presId="urn:microsoft.com/office/officeart/2018/2/layout/IconVerticalSolidList"/>
    <dgm:cxn modelId="{0A973593-8398-4FCB-9F8B-B4AA744B5FF9}" type="presParOf" srcId="{B29C6ACF-0C15-4B77-A492-29AAF7EE5435}" destId="{3FDA6871-852E-41C9-954B-F285E8144162}" srcOrd="6" destOrd="0" presId="urn:microsoft.com/office/officeart/2018/2/layout/IconVerticalSolidList"/>
    <dgm:cxn modelId="{41E98158-5F02-4AD3-82EE-72140D7BFDA2}" type="presParOf" srcId="{3FDA6871-852E-41C9-954B-F285E8144162}" destId="{40409BF7-C341-464D-BCED-621AB67C12E9}" srcOrd="0" destOrd="0" presId="urn:microsoft.com/office/officeart/2018/2/layout/IconVerticalSolidList"/>
    <dgm:cxn modelId="{C35C7CFB-B2C1-4B43-81EF-C85F412ED8AE}" type="presParOf" srcId="{3FDA6871-852E-41C9-954B-F285E8144162}" destId="{3C3B35E0-4A24-42FB-B535-53AFFC90A250}" srcOrd="1" destOrd="0" presId="urn:microsoft.com/office/officeart/2018/2/layout/IconVerticalSolidList"/>
    <dgm:cxn modelId="{D2C7CBF3-6962-498B-A273-CA274CFE5025}" type="presParOf" srcId="{3FDA6871-852E-41C9-954B-F285E8144162}" destId="{0C1A0AFF-155A-4955-B96E-DD83B3DCBFD4}" srcOrd="2" destOrd="0" presId="urn:microsoft.com/office/officeart/2018/2/layout/IconVerticalSolidList"/>
    <dgm:cxn modelId="{6B61DC21-5970-404B-B913-B52D778515F9}" type="presParOf" srcId="{3FDA6871-852E-41C9-954B-F285E8144162}" destId="{B0685828-8B1A-46B6-BD5C-F7F310542B24}" srcOrd="3" destOrd="0" presId="urn:microsoft.com/office/officeart/2018/2/layout/IconVerticalSoli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A4F44D8-81B6-416B-A12F-4BD3D02596C4}"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23E2395-5872-4E59-90D4-0A08A40C8644}">
      <dgm:prSet/>
      <dgm:spPr/>
      <dgm:t>
        <a:bodyPr/>
        <a:lstStyle/>
        <a:p>
          <a:pPr>
            <a:lnSpc>
              <a:spcPct val="100000"/>
            </a:lnSpc>
          </a:pPr>
          <a:r>
            <a:rPr lang="en-US"/>
            <a:t>Plan types impact service delivery intensity</a:t>
          </a:r>
        </a:p>
      </dgm:t>
    </dgm:pt>
    <dgm:pt modelId="{8C6DC0A9-8212-4475-AE68-F35A75206891}" type="parTrans" cxnId="{A2F80D11-BC2D-414F-BFD4-8816342B74FE}">
      <dgm:prSet/>
      <dgm:spPr/>
      <dgm:t>
        <a:bodyPr/>
        <a:lstStyle/>
        <a:p>
          <a:endParaRPr lang="en-US"/>
        </a:p>
      </dgm:t>
    </dgm:pt>
    <dgm:pt modelId="{4E3A4332-1F2F-42F3-A047-782B239C2736}" type="sibTrans" cxnId="{A2F80D11-BC2D-414F-BFD4-8816342B74FE}">
      <dgm:prSet/>
      <dgm:spPr/>
      <dgm:t>
        <a:bodyPr/>
        <a:lstStyle/>
        <a:p>
          <a:pPr>
            <a:lnSpc>
              <a:spcPct val="100000"/>
            </a:lnSpc>
          </a:pPr>
          <a:endParaRPr lang="en-US"/>
        </a:p>
      </dgm:t>
    </dgm:pt>
    <dgm:pt modelId="{54F0000E-18C6-4AA3-90CF-94A0A5C093D9}">
      <dgm:prSet/>
      <dgm:spPr/>
      <dgm:t>
        <a:bodyPr/>
        <a:lstStyle/>
        <a:p>
          <a:pPr>
            <a:lnSpc>
              <a:spcPct val="100000"/>
            </a:lnSpc>
          </a:pPr>
          <a:r>
            <a:rPr lang="en-US"/>
            <a:t>Significant Medicare payment-to-charge gaps exist</a:t>
          </a:r>
        </a:p>
      </dgm:t>
    </dgm:pt>
    <dgm:pt modelId="{DDB5186A-729F-41FE-AE73-70A43A7AC504}" type="parTrans" cxnId="{BF4344D0-C487-47FE-BF88-17F01F77A328}">
      <dgm:prSet/>
      <dgm:spPr/>
      <dgm:t>
        <a:bodyPr/>
        <a:lstStyle/>
        <a:p>
          <a:endParaRPr lang="en-US"/>
        </a:p>
      </dgm:t>
    </dgm:pt>
    <dgm:pt modelId="{32DA61F5-D566-4E2D-8D0A-CC4E252A2038}" type="sibTrans" cxnId="{BF4344D0-C487-47FE-BF88-17F01F77A328}">
      <dgm:prSet/>
      <dgm:spPr/>
      <dgm:t>
        <a:bodyPr/>
        <a:lstStyle/>
        <a:p>
          <a:pPr>
            <a:lnSpc>
              <a:spcPct val="100000"/>
            </a:lnSpc>
          </a:pPr>
          <a:endParaRPr lang="en-US"/>
        </a:p>
      </dgm:t>
    </dgm:pt>
    <dgm:pt modelId="{EC5F2D44-8989-43A9-90A8-64A3E237DF24}">
      <dgm:prSet/>
      <dgm:spPr/>
      <dgm:t>
        <a:bodyPr/>
        <a:lstStyle/>
        <a:p>
          <a:pPr>
            <a:lnSpc>
              <a:spcPct val="100000"/>
            </a:lnSpc>
          </a:pPr>
          <a:r>
            <a:rPr lang="en-US"/>
            <a:t>Care intensity varies by plan &amp; geography</a:t>
          </a:r>
        </a:p>
      </dgm:t>
    </dgm:pt>
    <dgm:pt modelId="{FB9DE881-1069-4AAD-A4CE-76EBBAE55921}" type="parTrans" cxnId="{DC2CFCD3-E8B2-44E9-9F86-80B94322EF18}">
      <dgm:prSet/>
      <dgm:spPr/>
      <dgm:t>
        <a:bodyPr/>
        <a:lstStyle/>
        <a:p>
          <a:endParaRPr lang="en-US"/>
        </a:p>
      </dgm:t>
    </dgm:pt>
    <dgm:pt modelId="{3D63DEBD-6676-4ADD-9A30-D908D9DFAC60}" type="sibTrans" cxnId="{DC2CFCD3-E8B2-44E9-9F86-80B94322EF18}">
      <dgm:prSet/>
      <dgm:spPr/>
      <dgm:t>
        <a:bodyPr/>
        <a:lstStyle/>
        <a:p>
          <a:pPr>
            <a:lnSpc>
              <a:spcPct val="100000"/>
            </a:lnSpc>
          </a:pPr>
          <a:endParaRPr lang="en-US"/>
        </a:p>
      </dgm:t>
    </dgm:pt>
    <dgm:pt modelId="{C462204C-1B4F-4A26-810B-7EC448717758}">
      <dgm:prSet/>
      <dgm:spPr/>
      <dgm:t>
        <a:bodyPr/>
        <a:lstStyle/>
        <a:p>
          <a:pPr>
            <a:lnSpc>
              <a:spcPct val="100000"/>
            </a:lnSpc>
          </a:pPr>
          <a:r>
            <a:rPr lang="en-US"/>
            <a:t>Urban vs rural differences in discharges are significant</a:t>
          </a:r>
        </a:p>
      </dgm:t>
    </dgm:pt>
    <dgm:pt modelId="{24B948F3-2DFC-43C0-A647-DB682184C66B}" type="parTrans" cxnId="{FC07FBA6-8E84-4B09-875E-F4952F7F6E9D}">
      <dgm:prSet/>
      <dgm:spPr/>
      <dgm:t>
        <a:bodyPr/>
        <a:lstStyle/>
        <a:p>
          <a:endParaRPr lang="en-US"/>
        </a:p>
      </dgm:t>
    </dgm:pt>
    <dgm:pt modelId="{471BC40B-B2B9-496D-96F0-5F5BC4A73D98}" type="sibTrans" cxnId="{FC07FBA6-8E84-4B09-875E-F4952F7F6E9D}">
      <dgm:prSet/>
      <dgm:spPr/>
      <dgm:t>
        <a:bodyPr/>
        <a:lstStyle/>
        <a:p>
          <a:endParaRPr lang="en-US"/>
        </a:p>
      </dgm:t>
    </dgm:pt>
    <dgm:pt modelId="{5D7967F6-0DD2-40E2-A932-3A8335CBA64A}" type="pres">
      <dgm:prSet presAssocID="{AA4F44D8-81B6-416B-A12F-4BD3D02596C4}" presName="root" presStyleCnt="0">
        <dgm:presLayoutVars>
          <dgm:dir/>
          <dgm:resizeHandles val="exact"/>
        </dgm:presLayoutVars>
      </dgm:prSet>
      <dgm:spPr/>
    </dgm:pt>
    <dgm:pt modelId="{1829971A-5749-4798-8938-C431F8A0323E}" type="pres">
      <dgm:prSet presAssocID="{AA4F44D8-81B6-416B-A12F-4BD3D02596C4}" presName="container" presStyleCnt="0">
        <dgm:presLayoutVars>
          <dgm:dir/>
          <dgm:resizeHandles val="exact"/>
        </dgm:presLayoutVars>
      </dgm:prSet>
      <dgm:spPr/>
    </dgm:pt>
    <dgm:pt modelId="{F130C1C0-FEE9-40C1-94A4-921BA6510A7D}" type="pres">
      <dgm:prSet presAssocID="{323E2395-5872-4E59-90D4-0A08A40C8644}" presName="compNode" presStyleCnt="0"/>
      <dgm:spPr/>
    </dgm:pt>
    <dgm:pt modelId="{510D3330-3359-4D3C-BF85-739CCC6E6AD6}" type="pres">
      <dgm:prSet presAssocID="{323E2395-5872-4E59-90D4-0A08A40C8644}" presName="iconBgRect" presStyleLbl="bgShp" presStyleIdx="0" presStyleCnt="4"/>
      <dgm:spPr/>
    </dgm:pt>
    <dgm:pt modelId="{1974F4D7-FD87-44B3-B1CE-121BC8534B53}" type="pres">
      <dgm:prSet presAssocID="{323E2395-5872-4E59-90D4-0A08A40C864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F3463880-FFED-4F47-98D5-75B3BCCFC7B5}" type="pres">
      <dgm:prSet presAssocID="{323E2395-5872-4E59-90D4-0A08A40C8644}" presName="spaceRect" presStyleCnt="0"/>
      <dgm:spPr/>
    </dgm:pt>
    <dgm:pt modelId="{054D208C-C8ED-4CCA-AC02-81581F40298D}" type="pres">
      <dgm:prSet presAssocID="{323E2395-5872-4E59-90D4-0A08A40C8644}" presName="textRect" presStyleLbl="revTx" presStyleIdx="0" presStyleCnt="4">
        <dgm:presLayoutVars>
          <dgm:chMax val="1"/>
          <dgm:chPref val="1"/>
        </dgm:presLayoutVars>
      </dgm:prSet>
      <dgm:spPr/>
    </dgm:pt>
    <dgm:pt modelId="{CFDD2A25-4C69-4D82-835A-6098B981D938}" type="pres">
      <dgm:prSet presAssocID="{4E3A4332-1F2F-42F3-A047-782B239C2736}" presName="sibTrans" presStyleLbl="sibTrans2D1" presStyleIdx="0" presStyleCnt="0"/>
      <dgm:spPr/>
    </dgm:pt>
    <dgm:pt modelId="{80B826D9-4386-44AF-8105-0AFBB8CE9055}" type="pres">
      <dgm:prSet presAssocID="{54F0000E-18C6-4AA3-90CF-94A0A5C093D9}" presName="compNode" presStyleCnt="0"/>
      <dgm:spPr/>
    </dgm:pt>
    <dgm:pt modelId="{2B509375-4D64-4C6F-A2BB-A7B2C511C2AA}" type="pres">
      <dgm:prSet presAssocID="{54F0000E-18C6-4AA3-90CF-94A0A5C093D9}" presName="iconBgRect" presStyleLbl="bgShp" presStyleIdx="1" presStyleCnt="4"/>
      <dgm:spPr/>
    </dgm:pt>
    <dgm:pt modelId="{1B7B48E1-8143-4563-AC63-3B51AFCC20F5}" type="pres">
      <dgm:prSet presAssocID="{54F0000E-18C6-4AA3-90CF-94A0A5C093D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spital"/>
        </a:ext>
      </dgm:extLst>
    </dgm:pt>
    <dgm:pt modelId="{72BE8624-B771-46B9-B15F-180F6AEB3B97}" type="pres">
      <dgm:prSet presAssocID="{54F0000E-18C6-4AA3-90CF-94A0A5C093D9}" presName="spaceRect" presStyleCnt="0"/>
      <dgm:spPr/>
    </dgm:pt>
    <dgm:pt modelId="{DBA76BC3-E9CC-4D4F-84E9-A066FFE7EC37}" type="pres">
      <dgm:prSet presAssocID="{54F0000E-18C6-4AA3-90CF-94A0A5C093D9}" presName="textRect" presStyleLbl="revTx" presStyleIdx="1" presStyleCnt="4">
        <dgm:presLayoutVars>
          <dgm:chMax val="1"/>
          <dgm:chPref val="1"/>
        </dgm:presLayoutVars>
      </dgm:prSet>
      <dgm:spPr/>
    </dgm:pt>
    <dgm:pt modelId="{71E2717C-FB8F-4305-BE1E-A80D1FCAFD53}" type="pres">
      <dgm:prSet presAssocID="{32DA61F5-D566-4E2D-8D0A-CC4E252A2038}" presName="sibTrans" presStyleLbl="sibTrans2D1" presStyleIdx="0" presStyleCnt="0"/>
      <dgm:spPr/>
    </dgm:pt>
    <dgm:pt modelId="{8A789C06-3E7F-4668-B94E-39538C93BFA1}" type="pres">
      <dgm:prSet presAssocID="{EC5F2D44-8989-43A9-90A8-64A3E237DF24}" presName="compNode" presStyleCnt="0"/>
      <dgm:spPr/>
    </dgm:pt>
    <dgm:pt modelId="{876AFB97-28F4-463A-8268-04591295D3F1}" type="pres">
      <dgm:prSet presAssocID="{EC5F2D44-8989-43A9-90A8-64A3E237DF24}" presName="iconBgRect" presStyleLbl="bgShp" presStyleIdx="2" presStyleCnt="4"/>
      <dgm:spPr/>
    </dgm:pt>
    <dgm:pt modelId="{511409DC-A449-41B2-AFDB-7AD5EEE37052}" type="pres">
      <dgm:prSet presAssocID="{EC5F2D44-8989-43A9-90A8-64A3E237DF2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rtial Sun"/>
        </a:ext>
      </dgm:extLst>
    </dgm:pt>
    <dgm:pt modelId="{B2627BCA-DE3F-48CD-878D-F17AD5FDE517}" type="pres">
      <dgm:prSet presAssocID="{EC5F2D44-8989-43A9-90A8-64A3E237DF24}" presName="spaceRect" presStyleCnt="0"/>
      <dgm:spPr/>
    </dgm:pt>
    <dgm:pt modelId="{BA2C641E-6504-47F4-8DED-2DB7282F7A6D}" type="pres">
      <dgm:prSet presAssocID="{EC5F2D44-8989-43A9-90A8-64A3E237DF24}" presName="textRect" presStyleLbl="revTx" presStyleIdx="2" presStyleCnt="4">
        <dgm:presLayoutVars>
          <dgm:chMax val="1"/>
          <dgm:chPref val="1"/>
        </dgm:presLayoutVars>
      </dgm:prSet>
      <dgm:spPr/>
    </dgm:pt>
    <dgm:pt modelId="{DF3BEC17-92BF-47FF-8B7B-D668FA008C1D}" type="pres">
      <dgm:prSet presAssocID="{3D63DEBD-6676-4ADD-9A30-D908D9DFAC60}" presName="sibTrans" presStyleLbl="sibTrans2D1" presStyleIdx="0" presStyleCnt="0"/>
      <dgm:spPr/>
    </dgm:pt>
    <dgm:pt modelId="{5F55C288-C731-4F0D-BB4D-B479EEC91FB7}" type="pres">
      <dgm:prSet presAssocID="{C462204C-1B4F-4A26-810B-7EC448717758}" presName="compNode" presStyleCnt="0"/>
      <dgm:spPr/>
    </dgm:pt>
    <dgm:pt modelId="{8A5F1E86-E014-4054-A6AB-75079F33E965}" type="pres">
      <dgm:prSet presAssocID="{C462204C-1B4F-4A26-810B-7EC448717758}" presName="iconBgRect" presStyleLbl="bgShp" presStyleIdx="3" presStyleCnt="4"/>
      <dgm:spPr/>
    </dgm:pt>
    <dgm:pt modelId="{14040B76-AF6B-418A-804B-1B88E48C6AAA}" type="pres">
      <dgm:prSet presAssocID="{C462204C-1B4F-4A26-810B-7EC44871775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ity"/>
        </a:ext>
      </dgm:extLst>
    </dgm:pt>
    <dgm:pt modelId="{C0D2DCBD-DE6D-4BC1-B053-881F1E3B0A92}" type="pres">
      <dgm:prSet presAssocID="{C462204C-1B4F-4A26-810B-7EC448717758}" presName="spaceRect" presStyleCnt="0"/>
      <dgm:spPr/>
    </dgm:pt>
    <dgm:pt modelId="{8D2900A4-4E34-4915-97D1-786F9208E8D5}" type="pres">
      <dgm:prSet presAssocID="{C462204C-1B4F-4A26-810B-7EC448717758}" presName="textRect" presStyleLbl="revTx" presStyleIdx="3" presStyleCnt="4">
        <dgm:presLayoutVars>
          <dgm:chMax val="1"/>
          <dgm:chPref val="1"/>
        </dgm:presLayoutVars>
      </dgm:prSet>
      <dgm:spPr/>
    </dgm:pt>
  </dgm:ptLst>
  <dgm:cxnLst>
    <dgm:cxn modelId="{A2F80D11-BC2D-414F-BFD4-8816342B74FE}" srcId="{AA4F44D8-81B6-416B-A12F-4BD3D02596C4}" destId="{323E2395-5872-4E59-90D4-0A08A40C8644}" srcOrd="0" destOrd="0" parTransId="{8C6DC0A9-8212-4475-AE68-F35A75206891}" sibTransId="{4E3A4332-1F2F-42F3-A047-782B239C2736}"/>
    <dgm:cxn modelId="{18E93D77-D20B-43D7-A439-DBCC72345152}" type="presOf" srcId="{32DA61F5-D566-4E2D-8D0A-CC4E252A2038}" destId="{71E2717C-FB8F-4305-BE1E-A80D1FCAFD53}" srcOrd="0" destOrd="0" presId="urn:microsoft.com/office/officeart/2018/2/layout/IconCircleList"/>
    <dgm:cxn modelId="{6DF1B479-B267-4817-89FE-CBE90DF16207}" type="presOf" srcId="{C462204C-1B4F-4A26-810B-7EC448717758}" destId="{8D2900A4-4E34-4915-97D1-786F9208E8D5}" srcOrd="0" destOrd="0" presId="urn:microsoft.com/office/officeart/2018/2/layout/IconCircleList"/>
    <dgm:cxn modelId="{30DCDC81-BC4A-4A3E-979C-961822DBCC1C}" type="presOf" srcId="{AA4F44D8-81B6-416B-A12F-4BD3D02596C4}" destId="{5D7967F6-0DD2-40E2-A932-3A8335CBA64A}" srcOrd="0" destOrd="0" presId="urn:microsoft.com/office/officeart/2018/2/layout/IconCircleList"/>
    <dgm:cxn modelId="{0FB3C887-3E85-4111-AF41-A3C8EBA2E551}" type="presOf" srcId="{323E2395-5872-4E59-90D4-0A08A40C8644}" destId="{054D208C-C8ED-4CCA-AC02-81581F40298D}" srcOrd="0" destOrd="0" presId="urn:microsoft.com/office/officeart/2018/2/layout/IconCircleList"/>
    <dgm:cxn modelId="{6342F39C-33E1-4D9E-A1B3-B6122CFA749D}" type="presOf" srcId="{4E3A4332-1F2F-42F3-A047-782B239C2736}" destId="{CFDD2A25-4C69-4D82-835A-6098B981D938}" srcOrd="0" destOrd="0" presId="urn:microsoft.com/office/officeart/2018/2/layout/IconCircleList"/>
    <dgm:cxn modelId="{FC07FBA6-8E84-4B09-875E-F4952F7F6E9D}" srcId="{AA4F44D8-81B6-416B-A12F-4BD3D02596C4}" destId="{C462204C-1B4F-4A26-810B-7EC448717758}" srcOrd="3" destOrd="0" parTransId="{24B948F3-2DFC-43C0-A647-DB682184C66B}" sibTransId="{471BC40B-B2B9-496D-96F0-5F5BC4A73D98}"/>
    <dgm:cxn modelId="{FCE5C4B6-CFF7-41BE-9185-A5CD3858D70E}" type="presOf" srcId="{EC5F2D44-8989-43A9-90A8-64A3E237DF24}" destId="{BA2C641E-6504-47F4-8DED-2DB7282F7A6D}" srcOrd="0" destOrd="0" presId="urn:microsoft.com/office/officeart/2018/2/layout/IconCircleList"/>
    <dgm:cxn modelId="{88620EB8-75B7-4BD6-BB00-7F1B6BC110CB}" type="presOf" srcId="{3D63DEBD-6676-4ADD-9A30-D908D9DFAC60}" destId="{DF3BEC17-92BF-47FF-8B7B-D668FA008C1D}" srcOrd="0" destOrd="0" presId="urn:microsoft.com/office/officeart/2018/2/layout/IconCircleList"/>
    <dgm:cxn modelId="{BF4344D0-C487-47FE-BF88-17F01F77A328}" srcId="{AA4F44D8-81B6-416B-A12F-4BD3D02596C4}" destId="{54F0000E-18C6-4AA3-90CF-94A0A5C093D9}" srcOrd="1" destOrd="0" parTransId="{DDB5186A-729F-41FE-AE73-70A43A7AC504}" sibTransId="{32DA61F5-D566-4E2D-8D0A-CC4E252A2038}"/>
    <dgm:cxn modelId="{DC2CFCD3-E8B2-44E9-9F86-80B94322EF18}" srcId="{AA4F44D8-81B6-416B-A12F-4BD3D02596C4}" destId="{EC5F2D44-8989-43A9-90A8-64A3E237DF24}" srcOrd="2" destOrd="0" parTransId="{FB9DE881-1069-4AAD-A4CE-76EBBAE55921}" sibTransId="{3D63DEBD-6676-4ADD-9A30-D908D9DFAC60}"/>
    <dgm:cxn modelId="{21970CFC-51B2-474D-91A0-C00FB6DF75B4}" type="presOf" srcId="{54F0000E-18C6-4AA3-90CF-94A0A5C093D9}" destId="{DBA76BC3-E9CC-4D4F-84E9-A066FFE7EC37}" srcOrd="0" destOrd="0" presId="urn:microsoft.com/office/officeart/2018/2/layout/IconCircleList"/>
    <dgm:cxn modelId="{92843E34-736F-4F90-A81D-C28323417C6A}" type="presParOf" srcId="{5D7967F6-0DD2-40E2-A932-3A8335CBA64A}" destId="{1829971A-5749-4798-8938-C431F8A0323E}" srcOrd="0" destOrd="0" presId="urn:microsoft.com/office/officeart/2018/2/layout/IconCircleList"/>
    <dgm:cxn modelId="{8C034904-A4DD-492B-975E-0814ABF0202A}" type="presParOf" srcId="{1829971A-5749-4798-8938-C431F8A0323E}" destId="{F130C1C0-FEE9-40C1-94A4-921BA6510A7D}" srcOrd="0" destOrd="0" presId="urn:microsoft.com/office/officeart/2018/2/layout/IconCircleList"/>
    <dgm:cxn modelId="{00B0681B-A913-4F80-B64C-23508B736866}" type="presParOf" srcId="{F130C1C0-FEE9-40C1-94A4-921BA6510A7D}" destId="{510D3330-3359-4D3C-BF85-739CCC6E6AD6}" srcOrd="0" destOrd="0" presId="urn:microsoft.com/office/officeart/2018/2/layout/IconCircleList"/>
    <dgm:cxn modelId="{EBA684F8-28ED-4F4D-BA23-3702A4C11A19}" type="presParOf" srcId="{F130C1C0-FEE9-40C1-94A4-921BA6510A7D}" destId="{1974F4D7-FD87-44B3-B1CE-121BC8534B53}" srcOrd="1" destOrd="0" presId="urn:microsoft.com/office/officeart/2018/2/layout/IconCircleList"/>
    <dgm:cxn modelId="{E8DBA6E7-E08D-4465-A4EE-456804C3A849}" type="presParOf" srcId="{F130C1C0-FEE9-40C1-94A4-921BA6510A7D}" destId="{F3463880-FFED-4F47-98D5-75B3BCCFC7B5}" srcOrd="2" destOrd="0" presId="urn:microsoft.com/office/officeart/2018/2/layout/IconCircleList"/>
    <dgm:cxn modelId="{D070E871-D960-4107-BF45-0BE671B74C63}" type="presParOf" srcId="{F130C1C0-FEE9-40C1-94A4-921BA6510A7D}" destId="{054D208C-C8ED-4CCA-AC02-81581F40298D}" srcOrd="3" destOrd="0" presId="urn:microsoft.com/office/officeart/2018/2/layout/IconCircleList"/>
    <dgm:cxn modelId="{4854C144-7D17-440C-85F7-6B2BC72CDA45}" type="presParOf" srcId="{1829971A-5749-4798-8938-C431F8A0323E}" destId="{CFDD2A25-4C69-4D82-835A-6098B981D938}" srcOrd="1" destOrd="0" presId="urn:microsoft.com/office/officeart/2018/2/layout/IconCircleList"/>
    <dgm:cxn modelId="{1DBE4439-5E86-482B-A40D-E16F0BDE6695}" type="presParOf" srcId="{1829971A-5749-4798-8938-C431F8A0323E}" destId="{80B826D9-4386-44AF-8105-0AFBB8CE9055}" srcOrd="2" destOrd="0" presId="urn:microsoft.com/office/officeart/2018/2/layout/IconCircleList"/>
    <dgm:cxn modelId="{5CBAA46F-3FDB-4429-8BB9-87B9990ECAED}" type="presParOf" srcId="{80B826D9-4386-44AF-8105-0AFBB8CE9055}" destId="{2B509375-4D64-4C6F-A2BB-A7B2C511C2AA}" srcOrd="0" destOrd="0" presId="urn:microsoft.com/office/officeart/2018/2/layout/IconCircleList"/>
    <dgm:cxn modelId="{6668C2BC-6F9F-450F-9290-84BFCB13E239}" type="presParOf" srcId="{80B826D9-4386-44AF-8105-0AFBB8CE9055}" destId="{1B7B48E1-8143-4563-AC63-3B51AFCC20F5}" srcOrd="1" destOrd="0" presId="urn:microsoft.com/office/officeart/2018/2/layout/IconCircleList"/>
    <dgm:cxn modelId="{819DB6F7-FA56-4091-B1E4-8936B077473C}" type="presParOf" srcId="{80B826D9-4386-44AF-8105-0AFBB8CE9055}" destId="{72BE8624-B771-46B9-B15F-180F6AEB3B97}" srcOrd="2" destOrd="0" presId="urn:microsoft.com/office/officeart/2018/2/layout/IconCircleList"/>
    <dgm:cxn modelId="{73B3B5CE-1BC0-4712-BCAA-B3F4D7109DD9}" type="presParOf" srcId="{80B826D9-4386-44AF-8105-0AFBB8CE9055}" destId="{DBA76BC3-E9CC-4D4F-84E9-A066FFE7EC37}" srcOrd="3" destOrd="0" presId="urn:microsoft.com/office/officeart/2018/2/layout/IconCircleList"/>
    <dgm:cxn modelId="{90726CB5-26DB-40E7-802A-3DC4FC59798B}" type="presParOf" srcId="{1829971A-5749-4798-8938-C431F8A0323E}" destId="{71E2717C-FB8F-4305-BE1E-A80D1FCAFD53}" srcOrd="3" destOrd="0" presId="urn:microsoft.com/office/officeart/2018/2/layout/IconCircleList"/>
    <dgm:cxn modelId="{F0C30A33-EC7C-45A5-94C5-43BBC32E3DFE}" type="presParOf" srcId="{1829971A-5749-4798-8938-C431F8A0323E}" destId="{8A789C06-3E7F-4668-B94E-39538C93BFA1}" srcOrd="4" destOrd="0" presId="urn:microsoft.com/office/officeart/2018/2/layout/IconCircleList"/>
    <dgm:cxn modelId="{93CE220F-6A16-4521-82B4-6096D8C620DC}" type="presParOf" srcId="{8A789C06-3E7F-4668-B94E-39538C93BFA1}" destId="{876AFB97-28F4-463A-8268-04591295D3F1}" srcOrd="0" destOrd="0" presId="urn:microsoft.com/office/officeart/2018/2/layout/IconCircleList"/>
    <dgm:cxn modelId="{5044FCDB-EE9E-4FBC-8523-C5198BA06A8B}" type="presParOf" srcId="{8A789C06-3E7F-4668-B94E-39538C93BFA1}" destId="{511409DC-A449-41B2-AFDB-7AD5EEE37052}" srcOrd="1" destOrd="0" presId="urn:microsoft.com/office/officeart/2018/2/layout/IconCircleList"/>
    <dgm:cxn modelId="{9808B5A8-EAB4-4CEF-BB6A-84C1E49C09BF}" type="presParOf" srcId="{8A789C06-3E7F-4668-B94E-39538C93BFA1}" destId="{B2627BCA-DE3F-48CD-878D-F17AD5FDE517}" srcOrd="2" destOrd="0" presId="urn:microsoft.com/office/officeart/2018/2/layout/IconCircleList"/>
    <dgm:cxn modelId="{CDDB7436-2B30-42E8-9AD0-A7D9B4FDB362}" type="presParOf" srcId="{8A789C06-3E7F-4668-B94E-39538C93BFA1}" destId="{BA2C641E-6504-47F4-8DED-2DB7282F7A6D}" srcOrd="3" destOrd="0" presId="urn:microsoft.com/office/officeart/2018/2/layout/IconCircleList"/>
    <dgm:cxn modelId="{54948CB3-1C11-4C13-BB99-A7AAA9EAAC55}" type="presParOf" srcId="{1829971A-5749-4798-8938-C431F8A0323E}" destId="{DF3BEC17-92BF-47FF-8B7B-D668FA008C1D}" srcOrd="5" destOrd="0" presId="urn:microsoft.com/office/officeart/2018/2/layout/IconCircleList"/>
    <dgm:cxn modelId="{82BA69AA-41CD-4459-886B-4AC3124C0466}" type="presParOf" srcId="{1829971A-5749-4798-8938-C431F8A0323E}" destId="{5F55C288-C731-4F0D-BB4D-B479EEC91FB7}" srcOrd="6" destOrd="0" presId="urn:microsoft.com/office/officeart/2018/2/layout/IconCircleList"/>
    <dgm:cxn modelId="{98C9DC06-6251-47B4-BF63-4BEAF13DEB1D}" type="presParOf" srcId="{5F55C288-C731-4F0D-BB4D-B479EEC91FB7}" destId="{8A5F1E86-E014-4054-A6AB-75079F33E965}" srcOrd="0" destOrd="0" presId="urn:microsoft.com/office/officeart/2018/2/layout/IconCircleList"/>
    <dgm:cxn modelId="{E9E8752C-ABC2-4227-9030-97C60602D881}" type="presParOf" srcId="{5F55C288-C731-4F0D-BB4D-B479EEC91FB7}" destId="{14040B76-AF6B-418A-804B-1B88E48C6AAA}" srcOrd="1" destOrd="0" presId="urn:microsoft.com/office/officeart/2018/2/layout/IconCircleList"/>
    <dgm:cxn modelId="{F8DCE98D-7B60-4296-9045-62A522534DE9}" type="presParOf" srcId="{5F55C288-C731-4F0D-BB4D-B479EEC91FB7}" destId="{C0D2DCBD-DE6D-4BC1-B053-881F1E3B0A92}" srcOrd="2" destOrd="0" presId="urn:microsoft.com/office/officeart/2018/2/layout/IconCircleList"/>
    <dgm:cxn modelId="{49AB33B9-FDA8-40F8-B4A3-5309978191B4}" type="presParOf" srcId="{5F55C288-C731-4F0D-BB4D-B479EEC91FB7}" destId="{8D2900A4-4E34-4915-97D1-786F9208E8D5}"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112D816B-98C7-4A10-96FF-70C478B313CE}"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501A37B3-F1D6-4DD5-8FA0-13A38DE1568B}">
      <dgm:prSet/>
      <dgm:spPr/>
      <dgm:t>
        <a:bodyPr/>
        <a:lstStyle/>
        <a:p>
          <a:r>
            <a:rPr lang="en-US"/>
            <a:t>VBC improves quality and efficiency. But it can increase disparities if incentives and providers don’t match patient needs.</a:t>
          </a:r>
        </a:p>
      </dgm:t>
    </dgm:pt>
    <dgm:pt modelId="{343551F8-C7DE-4BEA-BBDD-887BD91FAF21}" type="parTrans" cxnId="{9F6B9B3E-301C-4702-A5A7-46F7E2A422FB}">
      <dgm:prSet/>
      <dgm:spPr/>
      <dgm:t>
        <a:bodyPr/>
        <a:lstStyle/>
        <a:p>
          <a:endParaRPr lang="en-US"/>
        </a:p>
      </dgm:t>
    </dgm:pt>
    <dgm:pt modelId="{22113559-9729-4021-9EBD-E4CA7879226F}" type="sibTrans" cxnId="{9F6B9B3E-301C-4702-A5A7-46F7E2A422FB}">
      <dgm:prSet/>
      <dgm:spPr/>
      <dgm:t>
        <a:bodyPr/>
        <a:lstStyle/>
        <a:p>
          <a:endParaRPr lang="en-US"/>
        </a:p>
      </dgm:t>
    </dgm:pt>
    <dgm:pt modelId="{BA3410DF-C584-478F-A0C9-6273B00DE8BB}">
      <dgm:prSet/>
      <dgm:spPr/>
      <dgm:t>
        <a:bodyPr/>
        <a:lstStyle/>
        <a:p>
          <a:r>
            <a:rPr lang="en-US"/>
            <a:t>States with more providers, like Michigan, have better coverage and care intensity.</a:t>
          </a:r>
        </a:p>
      </dgm:t>
    </dgm:pt>
    <dgm:pt modelId="{116FE445-2415-4C0F-805C-E5F5DED0E3D0}" type="parTrans" cxnId="{9E5E2682-5813-478F-8845-B07298F41E6A}">
      <dgm:prSet/>
      <dgm:spPr/>
      <dgm:t>
        <a:bodyPr/>
        <a:lstStyle/>
        <a:p>
          <a:endParaRPr lang="en-US"/>
        </a:p>
      </dgm:t>
    </dgm:pt>
    <dgm:pt modelId="{6DE83E79-462A-4F9C-9069-972A8271F417}" type="sibTrans" cxnId="{9E5E2682-5813-478F-8845-B07298F41E6A}">
      <dgm:prSet/>
      <dgm:spPr/>
      <dgm:t>
        <a:bodyPr/>
        <a:lstStyle/>
        <a:p>
          <a:endParaRPr lang="en-US"/>
        </a:p>
      </dgm:t>
    </dgm:pt>
    <dgm:pt modelId="{FABA1785-3629-489F-9965-4F74B31E0E0F}">
      <dgm:prSet/>
      <dgm:spPr/>
      <dgm:t>
        <a:bodyPr/>
        <a:lstStyle/>
        <a:p>
          <a:r>
            <a:rPr lang="en-US"/>
            <a:t>Rural areas still face big access gaps.</a:t>
          </a:r>
        </a:p>
      </dgm:t>
    </dgm:pt>
    <dgm:pt modelId="{D22F9DA3-3F07-4E05-BAEF-D533656B4EA7}" type="parTrans" cxnId="{EF35FC92-3BAF-468F-9A85-A3C082B753B3}">
      <dgm:prSet/>
      <dgm:spPr/>
      <dgm:t>
        <a:bodyPr/>
        <a:lstStyle/>
        <a:p>
          <a:endParaRPr lang="en-US"/>
        </a:p>
      </dgm:t>
    </dgm:pt>
    <dgm:pt modelId="{5EDC54AF-1502-4D08-A07D-4DDF657556D0}" type="sibTrans" cxnId="{EF35FC92-3BAF-468F-9A85-A3C082B753B3}">
      <dgm:prSet/>
      <dgm:spPr/>
      <dgm:t>
        <a:bodyPr/>
        <a:lstStyle/>
        <a:p>
          <a:endParaRPr lang="en-US"/>
        </a:p>
      </dgm:t>
    </dgm:pt>
    <dgm:pt modelId="{C5788980-C1D9-4825-B657-89F63B786C04}">
      <dgm:prSet/>
      <dgm:spPr/>
      <dgm:t>
        <a:bodyPr/>
        <a:lstStyle/>
        <a:p>
          <a:r>
            <a:rPr lang="en-US"/>
            <a:t>Large differences exist between Medicare payments and charges.</a:t>
          </a:r>
        </a:p>
      </dgm:t>
    </dgm:pt>
    <dgm:pt modelId="{64939D76-1C98-442A-9D29-19DA3D5A2425}" type="parTrans" cxnId="{7751D549-E4B9-4AF1-B1A5-B24BA5F027AD}">
      <dgm:prSet/>
      <dgm:spPr/>
      <dgm:t>
        <a:bodyPr/>
        <a:lstStyle/>
        <a:p>
          <a:endParaRPr lang="en-US"/>
        </a:p>
      </dgm:t>
    </dgm:pt>
    <dgm:pt modelId="{A6CD2C8B-1FC5-4117-A8CA-DED33953BC32}" type="sibTrans" cxnId="{7751D549-E4B9-4AF1-B1A5-B24BA5F027AD}">
      <dgm:prSet/>
      <dgm:spPr/>
      <dgm:t>
        <a:bodyPr/>
        <a:lstStyle/>
        <a:p>
          <a:endParaRPr lang="en-US"/>
        </a:p>
      </dgm:t>
    </dgm:pt>
    <dgm:pt modelId="{425924D6-6407-48C8-B52B-48CC26FDA5AF}">
      <dgm:prSet/>
      <dgm:spPr/>
      <dgm:t>
        <a:bodyPr/>
        <a:lstStyle/>
        <a:p>
          <a:r>
            <a:rPr lang="en-US"/>
            <a:t>Urban areas have much higher service volumes than rural areas.</a:t>
          </a:r>
        </a:p>
      </dgm:t>
    </dgm:pt>
    <dgm:pt modelId="{52413AD7-373A-4DD1-AF1C-7AE4D1DCEF65}" type="parTrans" cxnId="{AB275119-6112-463A-925D-5B5D65B94B02}">
      <dgm:prSet/>
      <dgm:spPr/>
      <dgm:t>
        <a:bodyPr/>
        <a:lstStyle/>
        <a:p>
          <a:endParaRPr lang="en-US"/>
        </a:p>
      </dgm:t>
    </dgm:pt>
    <dgm:pt modelId="{606914A9-D5AA-41D0-8F24-D7699A03F461}" type="sibTrans" cxnId="{AB275119-6112-463A-925D-5B5D65B94B02}">
      <dgm:prSet/>
      <dgm:spPr/>
      <dgm:t>
        <a:bodyPr/>
        <a:lstStyle/>
        <a:p>
          <a:endParaRPr lang="en-US"/>
        </a:p>
      </dgm:t>
    </dgm:pt>
    <dgm:pt modelId="{6ECB9E3A-1107-485A-A4AF-490B282F2625}">
      <dgm:prSet/>
      <dgm:spPr/>
      <dgm:t>
        <a:bodyPr/>
        <a:lstStyle/>
        <a:p>
          <a:r>
            <a:rPr lang="en-US"/>
            <a:t>VBC programs must address these gaps to ensure fair, quality care for all patients.</a:t>
          </a:r>
        </a:p>
      </dgm:t>
    </dgm:pt>
    <dgm:pt modelId="{1EA8B935-E756-4BA7-ACB8-9DD373206A08}" type="parTrans" cxnId="{68F43EB4-1D65-4CC8-B74E-45959507371C}">
      <dgm:prSet/>
      <dgm:spPr/>
      <dgm:t>
        <a:bodyPr/>
        <a:lstStyle/>
        <a:p>
          <a:endParaRPr lang="en-US"/>
        </a:p>
      </dgm:t>
    </dgm:pt>
    <dgm:pt modelId="{56B76C43-861F-41B1-BD7E-A7950E8FBBD9}" type="sibTrans" cxnId="{68F43EB4-1D65-4CC8-B74E-45959507371C}">
      <dgm:prSet/>
      <dgm:spPr/>
      <dgm:t>
        <a:bodyPr/>
        <a:lstStyle/>
        <a:p>
          <a:endParaRPr lang="en-US"/>
        </a:p>
      </dgm:t>
    </dgm:pt>
    <dgm:pt modelId="{DD6CE39D-B784-4837-AF76-E0C8229BC8FF}" type="pres">
      <dgm:prSet presAssocID="{112D816B-98C7-4A10-96FF-70C478B313CE}" presName="diagram" presStyleCnt="0">
        <dgm:presLayoutVars>
          <dgm:dir/>
          <dgm:resizeHandles val="exact"/>
        </dgm:presLayoutVars>
      </dgm:prSet>
      <dgm:spPr/>
    </dgm:pt>
    <dgm:pt modelId="{85B0F00A-5F89-492D-B495-65B2B9C6A38F}" type="pres">
      <dgm:prSet presAssocID="{501A37B3-F1D6-4DD5-8FA0-13A38DE1568B}" presName="node" presStyleLbl="node1" presStyleIdx="0" presStyleCnt="6">
        <dgm:presLayoutVars>
          <dgm:bulletEnabled val="1"/>
        </dgm:presLayoutVars>
      </dgm:prSet>
      <dgm:spPr/>
    </dgm:pt>
    <dgm:pt modelId="{2C8F2A59-971D-44E8-A5BF-BA062ECE3718}" type="pres">
      <dgm:prSet presAssocID="{22113559-9729-4021-9EBD-E4CA7879226F}" presName="sibTrans" presStyleCnt="0"/>
      <dgm:spPr/>
    </dgm:pt>
    <dgm:pt modelId="{F8F4608A-F7CC-4266-BE94-CFF81C0FB03E}" type="pres">
      <dgm:prSet presAssocID="{BA3410DF-C584-478F-A0C9-6273B00DE8BB}" presName="node" presStyleLbl="node1" presStyleIdx="1" presStyleCnt="6">
        <dgm:presLayoutVars>
          <dgm:bulletEnabled val="1"/>
        </dgm:presLayoutVars>
      </dgm:prSet>
      <dgm:spPr/>
    </dgm:pt>
    <dgm:pt modelId="{95AA96FF-981C-4279-8B0C-DFFF9E75576B}" type="pres">
      <dgm:prSet presAssocID="{6DE83E79-462A-4F9C-9069-972A8271F417}" presName="sibTrans" presStyleCnt="0"/>
      <dgm:spPr/>
    </dgm:pt>
    <dgm:pt modelId="{8FB9F490-2CC1-4A89-99D1-B2B37C1CA0C3}" type="pres">
      <dgm:prSet presAssocID="{FABA1785-3629-489F-9965-4F74B31E0E0F}" presName="node" presStyleLbl="node1" presStyleIdx="2" presStyleCnt="6">
        <dgm:presLayoutVars>
          <dgm:bulletEnabled val="1"/>
        </dgm:presLayoutVars>
      </dgm:prSet>
      <dgm:spPr/>
    </dgm:pt>
    <dgm:pt modelId="{26CC97F2-4C8C-47C1-BCAF-95619AA9C02C}" type="pres">
      <dgm:prSet presAssocID="{5EDC54AF-1502-4D08-A07D-4DDF657556D0}" presName="sibTrans" presStyleCnt="0"/>
      <dgm:spPr/>
    </dgm:pt>
    <dgm:pt modelId="{86516E50-F5EB-45D1-8778-2712F028CB24}" type="pres">
      <dgm:prSet presAssocID="{C5788980-C1D9-4825-B657-89F63B786C04}" presName="node" presStyleLbl="node1" presStyleIdx="3" presStyleCnt="6">
        <dgm:presLayoutVars>
          <dgm:bulletEnabled val="1"/>
        </dgm:presLayoutVars>
      </dgm:prSet>
      <dgm:spPr/>
    </dgm:pt>
    <dgm:pt modelId="{2166087F-5A4F-48F5-9641-CA4578DA0988}" type="pres">
      <dgm:prSet presAssocID="{A6CD2C8B-1FC5-4117-A8CA-DED33953BC32}" presName="sibTrans" presStyleCnt="0"/>
      <dgm:spPr/>
    </dgm:pt>
    <dgm:pt modelId="{4D9BE411-5B22-4658-A891-7F58F58FC68C}" type="pres">
      <dgm:prSet presAssocID="{425924D6-6407-48C8-B52B-48CC26FDA5AF}" presName="node" presStyleLbl="node1" presStyleIdx="4" presStyleCnt="6">
        <dgm:presLayoutVars>
          <dgm:bulletEnabled val="1"/>
        </dgm:presLayoutVars>
      </dgm:prSet>
      <dgm:spPr/>
    </dgm:pt>
    <dgm:pt modelId="{9B82ACEC-1DF4-4294-BCD7-8CA2275FC715}" type="pres">
      <dgm:prSet presAssocID="{606914A9-D5AA-41D0-8F24-D7699A03F461}" presName="sibTrans" presStyleCnt="0"/>
      <dgm:spPr/>
    </dgm:pt>
    <dgm:pt modelId="{4C01ECEE-C85B-4BE8-8DDF-383CF791597E}" type="pres">
      <dgm:prSet presAssocID="{6ECB9E3A-1107-485A-A4AF-490B282F2625}" presName="node" presStyleLbl="node1" presStyleIdx="5" presStyleCnt="6">
        <dgm:presLayoutVars>
          <dgm:bulletEnabled val="1"/>
        </dgm:presLayoutVars>
      </dgm:prSet>
      <dgm:spPr/>
    </dgm:pt>
  </dgm:ptLst>
  <dgm:cxnLst>
    <dgm:cxn modelId="{AB275119-6112-463A-925D-5B5D65B94B02}" srcId="{112D816B-98C7-4A10-96FF-70C478B313CE}" destId="{425924D6-6407-48C8-B52B-48CC26FDA5AF}" srcOrd="4" destOrd="0" parTransId="{52413AD7-373A-4DD1-AF1C-7AE4D1DCEF65}" sibTransId="{606914A9-D5AA-41D0-8F24-D7699A03F461}"/>
    <dgm:cxn modelId="{9F6B9B3E-301C-4702-A5A7-46F7E2A422FB}" srcId="{112D816B-98C7-4A10-96FF-70C478B313CE}" destId="{501A37B3-F1D6-4DD5-8FA0-13A38DE1568B}" srcOrd="0" destOrd="0" parTransId="{343551F8-C7DE-4BEA-BBDD-887BD91FAF21}" sibTransId="{22113559-9729-4021-9EBD-E4CA7879226F}"/>
    <dgm:cxn modelId="{7751D549-E4B9-4AF1-B1A5-B24BA5F027AD}" srcId="{112D816B-98C7-4A10-96FF-70C478B313CE}" destId="{C5788980-C1D9-4825-B657-89F63B786C04}" srcOrd="3" destOrd="0" parTransId="{64939D76-1C98-442A-9D29-19DA3D5A2425}" sibTransId="{A6CD2C8B-1FC5-4117-A8CA-DED33953BC32}"/>
    <dgm:cxn modelId="{78D8084C-7E96-4898-B2A5-6DA23A16371E}" type="presOf" srcId="{425924D6-6407-48C8-B52B-48CC26FDA5AF}" destId="{4D9BE411-5B22-4658-A891-7F58F58FC68C}" srcOrd="0" destOrd="0" presId="urn:microsoft.com/office/officeart/2005/8/layout/default"/>
    <dgm:cxn modelId="{F4CB5C53-3C65-4C67-ADA9-A124B5A98FF5}" type="presOf" srcId="{FABA1785-3629-489F-9965-4F74B31E0E0F}" destId="{8FB9F490-2CC1-4A89-99D1-B2B37C1CA0C3}" srcOrd="0" destOrd="0" presId="urn:microsoft.com/office/officeart/2005/8/layout/default"/>
    <dgm:cxn modelId="{9E5E2682-5813-478F-8845-B07298F41E6A}" srcId="{112D816B-98C7-4A10-96FF-70C478B313CE}" destId="{BA3410DF-C584-478F-A0C9-6273B00DE8BB}" srcOrd="1" destOrd="0" parTransId="{116FE445-2415-4C0F-805C-E5F5DED0E3D0}" sibTransId="{6DE83E79-462A-4F9C-9069-972A8271F417}"/>
    <dgm:cxn modelId="{EF35FC92-3BAF-468F-9A85-A3C082B753B3}" srcId="{112D816B-98C7-4A10-96FF-70C478B313CE}" destId="{FABA1785-3629-489F-9965-4F74B31E0E0F}" srcOrd="2" destOrd="0" parTransId="{D22F9DA3-3F07-4E05-BAEF-D533656B4EA7}" sibTransId="{5EDC54AF-1502-4D08-A07D-4DDF657556D0}"/>
    <dgm:cxn modelId="{8A98AEA5-3BF0-4AE2-90DE-28F886FBDE86}" type="presOf" srcId="{6ECB9E3A-1107-485A-A4AF-490B282F2625}" destId="{4C01ECEE-C85B-4BE8-8DDF-383CF791597E}" srcOrd="0" destOrd="0" presId="urn:microsoft.com/office/officeart/2005/8/layout/default"/>
    <dgm:cxn modelId="{7D2B91AE-4FB1-4335-8F3D-2A0631AFB1F9}" type="presOf" srcId="{501A37B3-F1D6-4DD5-8FA0-13A38DE1568B}" destId="{85B0F00A-5F89-492D-B495-65B2B9C6A38F}" srcOrd="0" destOrd="0" presId="urn:microsoft.com/office/officeart/2005/8/layout/default"/>
    <dgm:cxn modelId="{68F43EB4-1D65-4CC8-B74E-45959507371C}" srcId="{112D816B-98C7-4A10-96FF-70C478B313CE}" destId="{6ECB9E3A-1107-485A-A4AF-490B282F2625}" srcOrd="5" destOrd="0" parTransId="{1EA8B935-E756-4BA7-ACB8-9DD373206A08}" sibTransId="{56B76C43-861F-41B1-BD7E-A7950E8FBBD9}"/>
    <dgm:cxn modelId="{CEC851E9-EDCB-464D-BBE0-5FBFCEAD6370}" type="presOf" srcId="{BA3410DF-C584-478F-A0C9-6273B00DE8BB}" destId="{F8F4608A-F7CC-4266-BE94-CFF81C0FB03E}" srcOrd="0" destOrd="0" presId="urn:microsoft.com/office/officeart/2005/8/layout/default"/>
    <dgm:cxn modelId="{780B8FEF-556F-449D-AB27-28B08D41EE2C}" type="presOf" srcId="{112D816B-98C7-4A10-96FF-70C478B313CE}" destId="{DD6CE39D-B784-4837-AF76-E0C8229BC8FF}" srcOrd="0" destOrd="0" presId="urn:microsoft.com/office/officeart/2005/8/layout/default"/>
    <dgm:cxn modelId="{9613C2FB-84A6-40F8-B486-65A4FF9D3AC2}" type="presOf" srcId="{C5788980-C1D9-4825-B657-89F63B786C04}" destId="{86516E50-F5EB-45D1-8778-2712F028CB24}" srcOrd="0" destOrd="0" presId="urn:microsoft.com/office/officeart/2005/8/layout/default"/>
    <dgm:cxn modelId="{36F23E22-F0C7-4726-BB9F-27610C75B836}" type="presParOf" srcId="{DD6CE39D-B784-4837-AF76-E0C8229BC8FF}" destId="{85B0F00A-5F89-492D-B495-65B2B9C6A38F}" srcOrd="0" destOrd="0" presId="urn:microsoft.com/office/officeart/2005/8/layout/default"/>
    <dgm:cxn modelId="{02270DC2-15F1-4610-B727-6806CFF9A664}" type="presParOf" srcId="{DD6CE39D-B784-4837-AF76-E0C8229BC8FF}" destId="{2C8F2A59-971D-44E8-A5BF-BA062ECE3718}" srcOrd="1" destOrd="0" presId="urn:microsoft.com/office/officeart/2005/8/layout/default"/>
    <dgm:cxn modelId="{B9356DE4-DFED-4BF8-B2F0-84BC66D896EB}" type="presParOf" srcId="{DD6CE39D-B784-4837-AF76-E0C8229BC8FF}" destId="{F8F4608A-F7CC-4266-BE94-CFF81C0FB03E}" srcOrd="2" destOrd="0" presId="urn:microsoft.com/office/officeart/2005/8/layout/default"/>
    <dgm:cxn modelId="{12646ECA-0BAC-42F5-A995-4257A16F9944}" type="presParOf" srcId="{DD6CE39D-B784-4837-AF76-E0C8229BC8FF}" destId="{95AA96FF-981C-4279-8B0C-DFFF9E75576B}" srcOrd="3" destOrd="0" presId="urn:microsoft.com/office/officeart/2005/8/layout/default"/>
    <dgm:cxn modelId="{1141A477-1E0F-4D1E-9DEF-EDBB88BC5A00}" type="presParOf" srcId="{DD6CE39D-B784-4837-AF76-E0C8229BC8FF}" destId="{8FB9F490-2CC1-4A89-99D1-B2B37C1CA0C3}" srcOrd="4" destOrd="0" presId="urn:microsoft.com/office/officeart/2005/8/layout/default"/>
    <dgm:cxn modelId="{695DB3E7-E72B-4030-B1F4-67870B065EE0}" type="presParOf" srcId="{DD6CE39D-B784-4837-AF76-E0C8229BC8FF}" destId="{26CC97F2-4C8C-47C1-BCAF-95619AA9C02C}" srcOrd="5" destOrd="0" presId="urn:microsoft.com/office/officeart/2005/8/layout/default"/>
    <dgm:cxn modelId="{79361E9E-E208-446E-9CC9-3DD6504BD255}" type="presParOf" srcId="{DD6CE39D-B784-4837-AF76-E0C8229BC8FF}" destId="{86516E50-F5EB-45D1-8778-2712F028CB24}" srcOrd="6" destOrd="0" presId="urn:microsoft.com/office/officeart/2005/8/layout/default"/>
    <dgm:cxn modelId="{CAA61E54-EBC6-480E-B746-8B967015ED78}" type="presParOf" srcId="{DD6CE39D-B784-4837-AF76-E0C8229BC8FF}" destId="{2166087F-5A4F-48F5-9641-CA4578DA0988}" srcOrd="7" destOrd="0" presId="urn:microsoft.com/office/officeart/2005/8/layout/default"/>
    <dgm:cxn modelId="{A728E12D-F291-4F98-A2A5-2BF274A73384}" type="presParOf" srcId="{DD6CE39D-B784-4837-AF76-E0C8229BC8FF}" destId="{4D9BE411-5B22-4658-A891-7F58F58FC68C}" srcOrd="8" destOrd="0" presId="urn:microsoft.com/office/officeart/2005/8/layout/default"/>
    <dgm:cxn modelId="{6A665FCC-B641-43DF-8528-C209D9F7FBF5}" type="presParOf" srcId="{DD6CE39D-B784-4837-AF76-E0C8229BC8FF}" destId="{9B82ACEC-1DF4-4294-BCD7-8CA2275FC715}" srcOrd="9" destOrd="0" presId="urn:microsoft.com/office/officeart/2005/8/layout/default"/>
    <dgm:cxn modelId="{4C841392-B72C-433D-A3A8-9A787E8B587B}" type="presParOf" srcId="{DD6CE39D-B784-4837-AF76-E0C8229BC8FF}" destId="{4C01ECEE-C85B-4BE8-8DDF-383CF791597E}"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5CF869-4A3E-48BB-8D2C-A46683E0C801}">
      <dsp:nvSpPr>
        <dsp:cNvPr id="0" name=""/>
        <dsp:cNvSpPr/>
      </dsp:nvSpPr>
      <dsp:spPr>
        <a:xfrm>
          <a:off x="6920" y="838560"/>
          <a:ext cx="1669157" cy="500747"/>
        </a:xfrm>
        <a:prstGeom prst="chevron">
          <a:avLst>
            <a:gd name="adj" fmla="val 3000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1828" tIns="61828" rIns="61828" bIns="61828" numCol="1" spcCol="1270" anchor="ctr" anchorCtr="0">
          <a:noAutofit/>
        </a:bodyPr>
        <a:lstStyle/>
        <a:p>
          <a:pPr marL="0" lvl="0" indent="0" algn="ctr" defTabSz="1155700">
            <a:lnSpc>
              <a:spcPct val="90000"/>
            </a:lnSpc>
            <a:spcBef>
              <a:spcPct val="0"/>
            </a:spcBef>
            <a:spcAft>
              <a:spcPct val="35000"/>
            </a:spcAft>
            <a:buNone/>
          </a:pPr>
          <a:r>
            <a:rPr lang="en-US" sz="2600" kern="1200"/>
            <a:t>Evaluate</a:t>
          </a:r>
        </a:p>
      </dsp:txBody>
      <dsp:txXfrm>
        <a:off x="157144" y="838560"/>
        <a:ext cx="1368709" cy="500747"/>
      </dsp:txXfrm>
    </dsp:sp>
    <dsp:sp modelId="{BB9CD12B-ECB6-46AC-B8C7-C09ADC5D16AC}">
      <dsp:nvSpPr>
        <dsp:cNvPr id="0" name=""/>
        <dsp:cNvSpPr/>
      </dsp:nvSpPr>
      <dsp:spPr>
        <a:xfrm>
          <a:off x="6920" y="1339308"/>
          <a:ext cx="1518933" cy="201493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029" tIns="120029" rIns="120029" bIns="240059" numCol="1" spcCol="1270" anchor="t" anchorCtr="0">
          <a:noAutofit/>
        </a:bodyPr>
        <a:lstStyle/>
        <a:p>
          <a:pPr marL="0" lvl="0" indent="0" algn="l" defTabSz="889000">
            <a:lnSpc>
              <a:spcPct val="90000"/>
            </a:lnSpc>
            <a:spcBef>
              <a:spcPct val="0"/>
            </a:spcBef>
            <a:spcAft>
              <a:spcPct val="35000"/>
            </a:spcAft>
            <a:buNone/>
          </a:pPr>
          <a:r>
            <a:rPr lang="en-US" sz="2000" kern="1200"/>
            <a:t>Evaluate provider availability vs. patient access</a:t>
          </a:r>
        </a:p>
      </dsp:txBody>
      <dsp:txXfrm>
        <a:off x="6920" y="1339308"/>
        <a:ext cx="1518933" cy="2014935"/>
      </dsp:txXfrm>
    </dsp:sp>
    <dsp:sp modelId="{B00A0D0B-56BC-4125-A5F8-224FFF513390}">
      <dsp:nvSpPr>
        <dsp:cNvPr id="0" name=""/>
        <dsp:cNvSpPr/>
      </dsp:nvSpPr>
      <dsp:spPr>
        <a:xfrm>
          <a:off x="1635138" y="838560"/>
          <a:ext cx="1669157" cy="500747"/>
        </a:xfrm>
        <a:prstGeom prst="chevron">
          <a:avLst>
            <a:gd name="adj" fmla="val 30000"/>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1828" tIns="61828" rIns="61828" bIns="61828" numCol="1" spcCol="1270" anchor="ctr" anchorCtr="0">
          <a:noAutofit/>
        </a:bodyPr>
        <a:lstStyle/>
        <a:p>
          <a:pPr marL="0" lvl="0" indent="0" algn="ctr" defTabSz="1155700">
            <a:lnSpc>
              <a:spcPct val="90000"/>
            </a:lnSpc>
            <a:spcBef>
              <a:spcPct val="0"/>
            </a:spcBef>
            <a:spcAft>
              <a:spcPct val="35000"/>
            </a:spcAft>
            <a:buNone/>
          </a:pPr>
          <a:r>
            <a:rPr lang="en-US" sz="2600" kern="1200"/>
            <a:t>Identify</a:t>
          </a:r>
        </a:p>
      </dsp:txBody>
      <dsp:txXfrm>
        <a:off x="1785362" y="838560"/>
        <a:ext cx="1368709" cy="500747"/>
      </dsp:txXfrm>
    </dsp:sp>
    <dsp:sp modelId="{0BFCD0AC-D790-4A4A-8AE8-8DC4F3B98CE7}">
      <dsp:nvSpPr>
        <dsp:cNvPr id="0" name=""/>
        <dsp:cNvSpPr/>
      </dsp:nvSpPr>
      <dsp:spPr>
        <a:xfrm>
          <a:off x="1635138" y="1339308"/>
          <a:ext cx="1518933" cy="2014935"/>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029" tIns="120029" rIns="120029" bIns="240059" numCol="1" spcCol="1270" anchor="t" anchorCtr="0">
          <a:noAutofit/>
        </a:bodyPr>
        <a:lstStyle/>
        <a:p>
          <a:pPr marL="0" lvl="0" indent="0" algn="l" defTabSz="889000">
            <a:lnSpc>
              <a:spcPct val="90000"/>
            </a:lnSpc>
            <a:spcBef>
              <a:spcPct val="0"/>
            </a:spcBef>
            <a:spcAft>
              <a:spcPct val="35000"/>
            </a:spcAft>
            <a:buNone/>
          </a:pPr>
          <a:r>
            <a:rPr lang="en-US" sz="2000" kern="1200"/>
            <a:t>Identify care intensity by plan categories</a:t>
          </a:r>
        </a:p>
      </dsp:txBody>
      <dsp:txXfrm>
        <a:off x="1635138" y="1339308"/>
        <a:ext cx="1518933" cy="2014935"/>
      </dsp:txXfrm>
    </dsp:sp>
    <dsp:sp modelId="{67979850-2F25-4960-9DFA-0D1C4B882BF5}">
      <dsp:nvSpPr>
        <dsp:cNvPr id="0" name=""/>
        <dsp:cNvSpPr/>
      </dsp:nvSpPr>
      <dsp:spPr>
        <a:xfrm>
          <a:off x="3263356" y="838560"/>
          <a:ext cx="1669157" cy="500747"/>
        </a:xfrm>
        <a:prstGeom prst="chevron">
          <a:avLst>
            <a:gd name="adj" fmla="val 30000"/>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1828" tIns="61828" rIns="61828" bIns="61828" numCol="1" spcCol="1270" anchor="ctr" anchorCtr="0">
          <a:noAutofit/>
        </a:bodyPr>
        <a:lstStyle/>
        <a:p>
          <a:pPr marL="0" lvl="0" indent="0" algn="ctr" defTabSz="1155700">
            <a:lnSpc>
              <a:spcPct val="90000"/>
            </a:lnSpc>
            <a:spcBef>
              <a:spcPct val="0"/>
            </a:spcBef>
            <a:spcAft>
              <a:spcPct val="35000"/>
            </a:spcAft>
            <a:buNone/>
          </a:pPr>
          <a:r>
            <a:rPr lang="en-US" sz="2600" kern="1200"/>
            <a:t>Analyze</a:t>
          </a:r>
        </a:p>
      </dsp:txBody>
      <dsp:txXfrm>
        <a:off x="3413580" y="838560"/>
        <a:ext cx="1368709" cy="500747"/>
      </dsp:txXfrm>
    </dsp:sp>
    <dsp:sp modelId="{B1200D51-907A-4261-826B-DC78928DBA25}">
      <dsp:nvSpPr>
        <dsp:cNvPr id="0" name=""/>
        <dsp:cNvSpPr/>
      </dsp:nvSpPr>
      <dsp:spPr>
        <a:xfrm>
          <a:off x="3263356" y="1339308"/>
          <a:ext cx="1518933" cy="2014935"/>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029" tIns="120029" rIns="120029" bIns="240059" numCol="1" spcCol="1270" anchor="t" anchorCtr="0">
          <a:noAutofit/>
        </a:bodyPr>
        <a:lstStyle/>
        <a:p>
          <a:pPr marL="0" lvl="0" indent="0" algn="l" defTabSz="889000">
            <a:lnSpc>
              <a:spcPct val="90000"/>
            </a:lnSpc>
            <a:spcBef>
              <a:spcPct val="0"/>
            </a:spcBef>
            <a:spcAft>
              <a:spcPct val="35000"/>
            </a:spcAft>
            <a:buNone/>
          </a:pPr>
          <a:r>
            <a:rPr lang="en-US" sz="2000" kern="1200"/>
            <a:t>Analyze utilization trends across states</a:t>
          </a:r>
        </a:p>
      </dsp:txBody>
      <dsp:txXfrm>
        <a:off x="3263356" y="1339308"/>
        <a:ext cx="1518933" cy="2014935"/>
      </dsp:txXfrm>
    </dsp:sp>
    <dsp:sp modelId="{EC89F7DC-3753-473A-A3A7-588B2FF6083E}">
      <dsp:nvSpPr>
        <dsp:cNvPr id="0" name=""/>
        <dsp:cNvSpPr/>
      </dsp:nvSpPr>
      <dsp:spPr>
        <a:xfrm>
          <a:off x="4891574" y="838560"/>
          <a:ext cx="1669157" cy="500747"/>
        </a:xfrm>
        <a:prstGeom prst="chevron">
          <a:avLst>
            <a:gd name="adj" fmla="val 3000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1828" tIns="61828" rIns="61828" bIns="61828" numCol="1" spcCol="1270" anchor="ctr" anchorCtr="0">
          <a:noAutofit/>
        </a:bodyPr>
        <a:lstStyle/>
        <a:p>
          <a:pPr marL="0" lvl="0" indent="0" algn="ctr" defTabSz="1155700">
            <a:lnSpc>
              <a:spcPct val="90000"/>
            </a:lnSpc>
            <a:spcBef>
              <a:spcPct val="0"/>
            </a:spcBef>
            <a:spcAft>
              <a:spcPct val="35000"/>
            </a:spcAft>
            <a:buNone/>
          </a:pPr>
          <a:r>
            <a:rPr lang="en-US" sz="2600" kern="1200"/>
            <a:t>Compare</a:t>
          </a:r>
        </a:p>
      </dsp:txBody>
      <dsp:txXfrm>
        <a:off x="5041798" y="838560"/>
        <a:ext cx="1368709" cy="500747"/>
      </dsp:txXfrm>
    </dsp:sp>
    <dsp:sp modelId="{F42FE39D-AA41-407B-8661-6FFAF13DB84F}">
      <dsp:nvSpPr>
        <dsp:cNvPr id="0" name=""/>
        <dsp:cNvSpPr/>
      </dsp:nvSpPr>
      <dsp:spPr>
        <a:xfrm>
          <a:off x="4891574" y="1339308"/>
          <a:ext cx="1518933" cy="2014935"/>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029" tIns="120029" rIns="120029" bIns="240059" numCol="1" spcCol="1270" anchor="t" anchorCtr="0">
          <a:noAutofit/>
        </a:bodyPr>
        <a:lstStyle/>
        <a:p>
          <a:pPr marL="0" lvl="0" indent="0" algn="l" defTabSz="889000">
            <a:lnSpc>
              <a:spcPct val="90000"/>
            </a:lnSpc>
            <a:spcBef>
              <a:spcPct val="0"/>
            </a:spcBef>
            <a:spcAft>
              <a:spcPct val="35000"/>
            </a:spcAft>
            <a:buNone/>
          </a:pPr>
          <a:r>
            <a:rPr lang="en-US" sz="2000" kern="1200"/>
            <a:t>Compare Medicare payments vs. charges</a:t>
          </a:r>
        </a:p>
      </dsp:txBody>
      <dsp:txXfrm>
        <a:off x="4891574" y="1339308"/>
        <a:ext cx="1518933" cy="2014935"/>
      </dsp:txXfrm>
    </dsp:sp>
    <dsp:sp modelId="{DBE72A5F-AE71-43F5-9662-0F3AB7BD8E18}">
      <dsp:nvSpPr>
        <dsp:cNvPr id="0" name=""/>
        <dsp:cNvSpPr/>
      </dsp:nvSpPr>
      <dsp:spPr>
        <a:xfrm>
          <a:off x="6519793" y="838560"/>
          <a:ext cx="1669157" cy="500747"/>
        </a:xfrm>
        <a:prstGeom prst="chevron">
          <a:avLst>
            <a:gd name="adj" fmla="val 30000"/>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1828" tIns="61828" rIns="61828" bIns="61828" numCol="1" spcCol="1270" anchor="ctr" anchorCtr="0">
          <a:noAutofit/>
        </a:bodyPr>
        <a:lstStyle/>
        <a:p>
          <a:pPr marL="0" lvl="0" indent="0" algn="ctr" defTabSz="1155700">
            <a:lnSpc>
              <a:spcPct val="90000"/>
            </a:lnSpc>
            <a:spcBef>
              <a:spcPct val="0"/>
            </a:spcBef>
            <a:spcAft>
              <a:spcPct val="35000"/>
            </a:spcAft>
            <a:buNone/>
          </a:pPr>
          <a:r>
            <a:rPr lang="en-US" sz="2600" kern="1200"/>
            <a:t>Assess</a:t>
          </a:r>
        </a:p>
      </dsp:txBody>
      <dsp:txXfrm>
        <a:off x="6670017" y="838560"/>
        <a:ext cx="1368709" cy="500747"/>
      </dsp:txXfrm>
    </dsp:sp>
    <dsp:sp modelId="{7BE106FF-7851-4A39-9168-028B043B41C0}">
      <dsp:nvSpPr>
        <dsp:cNvPr id="0" name=""/>
        <dsp:cNvSpPr/>
      </dsp:nvSpPr>
      <dsp:spPr>
        <a:xfrm>
          <a:off x="6519793" y="1339308"/>
          <a:ext cx="1518933" cy="2014935"/>
        </a:xfrm>
        <a:prstGeom prst="rect">
          <a:avLst/>
        </a:prstGeom>
        <a:solidFill>
          <a:schemeClr val="accent6">
            <a:tint val="40000"/>
            <a:alpha val="90000"/>
            <a:hueOff val="0"/>
            <a:satOff val="0"/>
            <a:lumOff val="0"/>
            <a:alphaOff val="0"/>
          </a:schemeClr>
        </a:solidFill>
        <a:ln w="254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029" tIns="120029" rIns="120029" bIns="240059" numCol="1" spcCol="1270" anchor="t" anchorCtr="0">
          <a:noAutofit/>
        </a:bodyPr>
        <a:lstStyle/>
        <a:p>
          <a:pPr marL="0" lvl="0" indent="0" algn="l" defTabSz="889000">
            <a:lnSpc>
              <a:spcPct val="90000"/>
            </a:lnSpc>
            <a:spcBef>
              <a:spcPct val="0"/>
            </a:spcBef>
            <a:spcAft>
              <a:spcPct val="35000"/>
            </a:spcAft>
            <a:buNone/>
          </a:pPr>
          <a:r>
            <a:rPr lang="en-US" sz="2000" kern="1200"/>
            <a:t>Assess urban-rural disparities</a:t>
          </a:r>
        </a:p>
      </dsp:txBody>
      <dsp:txXfrm>
        <a:off x="6519793" y="1339308"/>
        <a:ext cx="1518933" cy="2014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B653D2-B4DD-4A1A-84B3-858B747CDDEC}">
      <dsp:nvSpPr>
        <dsp:cNvPr id="0" name=""/>
        <dsp:cNvSpPr/>
      </dsp:nvSpPr>
      <dsp:spPr>
        <a:xfrm>
          <a:off x="616935" y="1100"/>
          <a:ext cx="921683" cy="92168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90ED7B-1BFC-40F1-A3EA-F5A2AC7882E6}">
      <dsp:nvSpPr>
        <dsp:cNvPr id="0" name=""/>
        <dsp:cNvSpPr/>
      </dsp:nvSpPr>
      <dsp:spPr>
        <a:xfrm>
          <a:off x="810488" y="194654"/>
          <a:ext cx="534576" cy="5345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E73F45-FBCC-4CAD-A0B0-209B3CF263D2}">
      <dsp:nvSpPr>
        <dsp:cNvPr id="0" name=""/>
        <dsp:cNvSpPr/>
      </dsp:nvSpPr>
      <dsp:spPr>
        <a:xfrm>
          <a:off x="1736122" y="110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dirty="0"/>
            <a:t>Does provider availability increase patient access?</a:t>
          </a:r>
        </a:p>
      </dsp:txBody>
      <dsp:txXfrm>
        <a:off x="1736122" y="1100"/>
        <a:ext cx="2172539" cy="921683"/>
      </dsp:txXfrm>
    </dsp:sp>
    <dsp:sp modelId="{809C3D82-B390-4951-841B-14E5A7A6D0CA}">
      <dsp:nvSpPr>
        <dsp:cNvPr id="0" name=""/>
        <dsp:cNvSpPr/>
      </dsp:nvSpPr>
      <dsp:spPr>
        <a:xfrm>
          <a:off x="4287209" y="1100"/>
          <a:ext cx="921683" cy="92168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398847-4569-4F94-A7DE-4ACE2C29104C}">
      <dsp:nvSpPr>
        <dsp:cNvPr id="0" name=""/>
        <dsp:cNvSpPr/>
      </dsp:nvSpPr>
      <dsp:spPr>
        <a:xfrm>
          <a:off x="4480763" y="194654"/>
          <a:ext cx="534576" cy="5345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9C0337-833B-4967-A33F-ED23FBF2BC96}">
      <dsp:nvSpPr>
        <dsp:cNvPr id="0" name=""/>
        <dsp:cNvSpPr/>
      </dsp:nvSpPr>
      <dsp:spPr>
        <a:xfrm>
          <a:off x="5406396" y="110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dirty="0"/>
            <a:t>Which plans deliver more services per patient?</a:t>
          </a:r>
        </a:p>
      </dsp:txBody>
      <dsp:txXfrm>
        <a:off x="5406396" y="1100"/>
        <a:ext cx="2172539" cy="921683"/>
      </dsp:txXfrm>
    </dsp:sp>
    <dsp:sp modelId="{C46FC9C5-41A2-4677-B792-94D74EC0C32F}">
      <dsp:nvSpPr>
        <dsp:cNvPr id="0" name=""/>
        <dsp:cNvSpPr/>
      </dsp:nvSpPr>
      <dsp:spPr>
        <a:xfrm>
          <a:off x="616935" y="1635560"/>
          <a:ext cx="921683" cy="92168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FC2089-3E46-46C7-8635-3E2687331C1F}">
      <dsp:nvSpPr>
        <dsp:cNvPr id="0" name=""/>
        <dsp:cNvSpPr/>
      </dsp:nvSpPr>
      <dsp:spPr>
        <a:xfrm>
          <a:off x="810488" y="1829114"/>
          <a:ext cx="534576" cy="53457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E5B254-4D7E-40B9-AB1A-16160B0DA381}">
      <dsp:nvSpPr>
        <dsp:cNvPr id="0" name=""/>
        <dsp:cNvSpPr/>
      </dsp:nvSpPr>
      <dsp:spPr>
        <a:xfrm>
          <a:off x="1736122" y="163556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a:t>How do service trends vary by state?</a:t>
          </a:r>
        </a:p>
      </dsp:txBody>
      <dsp:txXfrm>
        <a:off x="1736122" y="1635560"/>
        <a:ext cx="2172539" cy="921683"/>
      </dsp:txXfrm>
    </dsp:sp>
    <dsp:sp modelId="{DC8130FB-CBCA-4602-A008-1CCED8F63189}">
      <dsp:nvSpPr>
        <dsp:cNvPr id="0" name=""/>
        <dsp:cNvSpPr/>
      </dsp:nvSpPr>
      <dsp:spPr>
        <a:xfrm>
          <a:off x="4287209" y="1635560"/>
          <a:ext cx="921683" cy="92168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77CB9F-0926-47D1-8AB6-8D47AF3D114C}">
      <dsp:nvSpPr>
        <dsp:cNvPr id="0" name=""/>
        <dsp:cNvSpPr/>
      </dsp:nvSpPr>
      <dsp:spPr>
        <a:xfrm>
          <a:off x="4480763" y="1829114"/>
          <a:ext cx="534576" cy="53457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CDA4F2-78F4-4C8F-BEBB-560BA8603C91}">
      <dsp:nvSpPr>
        <dsp:cNvPr id="0" name=""/>
        <dsp:cNvSpPr/>
      </dsp:nvSpPr>
      <dsp:spPr>
        <a:xfrm>
          <a:off x="5406396" y="163556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a:t>Are there discrepancies between Medicare payments and charges?</a:t>
          </a:r>
        </a:p>
      </dsp:txBody>
      <dsp:txXfrm>
        <a:off x="5406396" y="1635560"/>
        <a:ext cx="2172539" cy="921683"/>
      </dsp:txXfrm>
    </dsp:sp>
    <dsp:sp modelId="{D2A15262-EDDA-4B7D-97AD-93FEF3B532D8}">
      <dsp:nvSpPr>
        <dsp:cNvPr id="0" name=""/>
        <dsp:cNvSpPr/>
      </dsp:nvSpPr>
      <dsp:spPr>
        <a:xfrm>
          <a:off x="616935" y="3270020"/>
          <a:ext cx="921683" cy="92168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FECCC0-8B31-4F81-A8D6-4657DA1671D3}">
      <dsp:nvSpPr>
        <dsp:cNvPr id="0" name=""/>
        <dsp:cNvSpPr/>
      </dsp:nvSpPr>
      <dsp:spPr>
        <a:xfrm>
          <a:off x="810488" y="3463574"/>
          <a:ext cx="534576" cy="53457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6AE8AF-49B7-4840-9A9E-EE4B4EE1C9DF}">
      <dsp:nvSpPr>
        <dsp:cNvPr id="0" name=""/>
        <dsp:cNvSpPr/>
      </dsp:nvSpPr>
      <dsp:spPr>
        <a:xfrm>
          <a:off x="1736122" y="327002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a:t>Which DRGs have the highest total discharges and payments?</a:t>
          </a:r>
        </a:p>
      </dsp:txBody>
      <dsp:txXfrm>
        <a:off x="1736122" y="3270020"/>
        <a:ext cx="2172539" cy="921683"/>
      </dsp:txXfrm>
    </dsp:sp>
    <dsp:sp modelId="{4B17C03B-A889-4B4E-A922-5C7DCC54E2C4}">
      <dsp:nvSpPr>
        <dsp:cNvPr id="0" name=""/>
        <dsp:cNvSpPr/>
      </dsp:nvSpPr>
      <dsp:spPr>
        <a:xfrm>
          <a:off x="4287209" y="3270020"/>
          <a:ext cx="921683" cy="92168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5C4C7C-273A-462B-8B3C-4833E1BD352C}">
      <dsp:nvSpPr>
        <dsp:cNvPr id="0" name=""/>
        <dsp:cNvSpPr/>
      </dsp:nvSpPr>
      <dsp:spPr>
        <a:xfrm>
          <a:off x="4480763" y="3463574"/>
          <a:ext cx="534576" cy="53457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0B06BD-2F58-4CFD-8E2F-4B9155395C04}">
      <dsp:nvSpPr>
        <dsp:cNvPr id="0" name=""/>
        <dsp:cNvSpPr/>
      </dsp:nvSpPr>
      <dsp:spPr>
        <a:xfrm>
          <a:off x="5406396" y="327002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b="1" kern="1200"/>
            <a:t>Do urban and rural providers differ in payments?</a:t>
          </a:r>
        </a:p>
      </dsp:txBody>
      <dsp:txXfrm>
        <a:off x="5406396" y="3270020"/>
        <a:ext cx="2172539" cy="9216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A9AF0-5221-4039-9F2E-3B5FE8D48CFC}">
      <dsp:nvSpPr>
        <dsp:cNvPr id="0" name=""/>
        <dsp:cNvSpPr/>
      </dsp:nvSpPr>
      <dsp:spPr>
        <a:xfrm>
          <a:off x="0" y="0"/>
          <a:ext cx="4288220" cy="830027"/>
        </a:xfrm>
        <a:prstGeom prst="roundRect">
          <a:avLst>
            <a:gd name="adj" fmla="val 10000"/>
          </a:avLst>
        </a:prstGeom>
        <a:solidFill>
          <a:schemeClr val="accent5">
            <a:tint val="40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A1AEDC86-D348-41D7-B089-950C4EB626B1}">
      <dsp:nvSpPr>
        <dsp:cNvPr id="0" name=""/>
        <dsp:cNvSpPr/>
      </dsp:nvSpPr>
      <dsp:spPr>
        <a:xfrm>
          <a:off x="251083" y="190653"/>
          <a:ext cx="456515" cy="4565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9147649-8F59-42E7-B402-F96DE24DDCA4}">
      <dsp:nvSpPr>
        <dsp:cNvPr id="0" name=""/>
        <dsp:cNvSpPr/>
      </dsp:nvSpPr>
      <dsp:spPr>
        <a:xfrm>
          <a:off x="958681" y="3896"/>
          <a:ext cx="3329538" cy="83002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87845" tIns="87845" rIns="87845" bIns="87845" numCol="1" spcCol="1270" anchor="ctr" anchorCtr="0">
          <a:noAutofit/>
        </a:bodyPr>
        <a:lstStyle/>
        <a:p>
          <a:pPr marL="0" lvl="0" indent="0" algn="l" defTabSz="844550">
            <a:lnSpc>
              <a:spcPct val="100000"/>
            </a:lnSpc>
            <a:spcBef>
              <a:spcPct val="0"/>
            </a:spcBef>
            <a:spcAft>
              <a:spcPct val="35000"/>
            </a:spcAft>
            <a:buNone/>
          </a:pPr>
          <a:r>
            <a:rPr lang="en-US" sz="1900" b="1" kern="1200" dirty="0"/>
            <a:t>Tools Used:</a:t>
          </a:r>
          <a:endParaRPr lang="en-US" sz="1900" kern="1200" dirty="0"/>
        </a:p>
      </dsp:txBody>
      <dsp:txXfrm>
        <a:off x="958681" y="3896"/>
        <a:ext cx="3329538" cy="830027"/>
      </dsp:txXfrm>
    </dsp:sp>
    <dsp:sp modelId="{D5CB9D38-AFE2-4B8B-9D95-CF3462F91A45}">
      <dsp:nvSpPr>
        <dsp:cNvPr id="0" name=""/>
        <dsp:cNvSpPr/>
      </dsp:nvSpPr>
      <dsp:spPr>
        <a:xfrm>
          <a:off x="0" y="1041431"/>
          <a:ext cx="4288220" cy="830027"/>
        </a:xfrm>
        <a:prstGeom prst="roundRect">
          <a:avLst>
            <a:gd name="adj" fmla="val 10000"/>
          </a:avLst>
        </a:prstGeom>
        <a:solidFill>
          <a:schemeClr val="accent5">
            <a:tint val="40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AE5C6E4A-3814-4FD6-A02C-56B7BB0ECE96}">
      <dsp:nvSpPr>
        <dsp:cNvPr id="0" name=""/>
        <dsp:cNvSpPr/>
      </dsp:nvSpPr>
      <dsp:spPr>
        <a:xfrm>
          <a:off x="251083" y="1228187"/>
          <a:ext cx="456515" cy="4565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ED81F105-A3E8-4F5E-AB75-0D569D98A8A7}">
      <dsp:nvSpPr>
        <dsp:cNvPr id="0" name=""/>
        <dsp:cNvSpPr/>
      </dsp:nvSpPr>
      <dsp:spPr>
        <a:xfrm>
          <a:off x="958681" y="1041431"/>
          <a:ext cx="3329538" cy="83002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87845" tIns="87845" rIns="87845" bIns="87845" numCol="1" spcCol="1270" anchor="ctr" anchorCtr="0">
          <a:noAutofit/>
        </a:bodyPr>
        <a:lstStyle/>
        <a:p>
          <a:pPr marL="0" lvl="0" indent="0" algn="l" defTabSz="844550">
            <a:lnSpc>
              <a:spcPct val="100000"/>
            </a:lnSpc>
            <a:spcBef>
              <a:spcPct val="0"/>
            </a:spcBef>
            <a:spcAft>
              <a:spcPct val="35000"/>
            </a:spcAft>
            <a:buNone/>
          </a:pPr>
          <a:r>
            <a:rPr lang="en-US" sz="1900" kern="1200"/>
            <a:t>SAS Studio</a:t>
          </a:r>
        </a:p>
      </dsp:txBody>
      <dsp:txXfrm>
        <a:off x="958681" y="1041431"/>
        <a:ext cx="3329538" cy="830027"/>
      </dsp:txXfrm>
    </dsp:sp>
    <dsp:sp modelId="{962CF0D9-CB09-41C6-B5FE-25E45A9241FF}">
      <dsp:nvSpPr>
        <dsp:cNvPr id="0" name=""/>
        <dsp:cNvSpPr/>
      </dsp:nvSpPr>
      <dsp:spPr>
        <a:xfrm>
          <a:off x="0" y="2078965"/>
          <a:ext cx="4288220" cy="830027"/>
        </a:xfrm>
        <a:prstGeom prst="roundRect">
          <a:avLst>
            <a:gd name="adj" fmla="val 10000"/>
          </a:avLst>
        </a:prstGeom>
        <a:solidFill>
          <a:schemeClr val="accent5">
            <a:tint val="40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A2265E5E-3663-449C-8814-EFDC3814EE34}">
      <dsp:nvSpPr>
        <dsp:cNvPr id="0" name=""/>
        <dsp:cNvSpPr/>
      </dsp:nvSpPr>
      <dsp:spPr>
        <a:xfrm>
          <a:off x="251083" y="2265721"/>
          <a:ext cx="456515" cy="4565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A122057D-A3DB-40C2-B03D-BE74548F4517}">
      <dsp:nvSpPr>
        <dsp:cNvPr id="0" name=""/>
        <dsp:cNvSpPr/>
      </dsp:nvSpPr>
      <dsp:spPr>
        <a:xfrm>
          <a:off x="958681" y="2078965"/>
          <a:ext cx="3329538" cy="83002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87845" tIns="87845" rIns="87845" bIns="87845" numCol="1" spcCol="1270" anchor="ctr" anchorCtr="0">
          <a:noAutofit/>
        </a:bodyPr>
        <a:lstStyle/>
        <a:p>
          <a:pPr marL="0" lvl="0" indent="0" algn="l" defTabSz="844550">
            <a:lnSpc>
              <a:spcPct val="100000"/>
            </a:lnSpc>
            <a:spcBef>
              <a:spcPct val="0"/>
            </a:spcBef>
            <a:spcAft>
              <a:spcPct val="35000"/>
            </a:spcAft>
            <a:buNone/>
          </a:pPr>
          <a:r>
            <a:rPr lang="en-US" sz="1900" kern="1200" dirty="0"/>
            <a:t>Python (</a:t>
          </a:r>
          <a:r>
            <a:rPr lang="en-US" sz="1900" kern="1200" dirty="0" err="1"/>
            <a:t>Jupyter</a:t>
          </a:r>
          <a:r>
            <a:rPr lang="en-US" sz="1900" kern="1200" dirty="0"/>
            <a:t>)</a:t>
          </a:r>
        </a:p>
      </dsp:txBody>
      <dsp:txXfrm>
        <a:off x="958681" y="2078965"/>
        <a:ext cx="3329538" cy="830027"/>
      </dsp:txXfrm>
    </dsp:sp>
    <dsp:sp modelId="{9911C06C-AEF6-47A2-B146-69DB7AE19912}">
      <dsp:nvSpPr>
        <dsp:cNvPr id="0" name=""/>
        <dsp:cNvSpPr/>
      </dsp:nvSpPr>
      <dsp:spPr>
        <a:xfrm>
          <a:off x="0" y="3116499"/>
          <a:ext cx="4288220" cy="830027"/>
        </a:xfrm>
        <a:prstGeom prst="roundRect">
          <a:avLst>
            <a:gd name="adj" fmla="val 10000"/>
          </a:avLst>
        </a:prstGeom>
        <a:solidFill>
          <a:schemeClr val="accent5">
            <a:tint val="40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F062DC07-41C3-4FB9-BA5A-FF5EF4449A4E}">
      <dsp:nvSpPr>
        <dsp:cNvPr id="0" name=""/>
        <dsp:cNvSpPr/>
      </dsp:nvSpPr>
      <dsp:spPr>
        <a:xfrm>
          <a:off x="251083" y="3303255"/>
          <a:ext cx="456515" cy="4565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E13DDB6-F981-479D-AE5C-CFA2D1FEC5FB}">
      <dsp:nvSpPr>
        <dsp:cNvPr id="0" name=""/>
        <dsp:cNvSpPr/>
      </dsp:nvSpPr>
      <dsp:spPr>
        <a:xfrm>
          <a:off x="958681" y="3116499"/>
          <a:ext cx="3329538" cy="83002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87845" tIns="87845" rIns="87845" bIns="87845" numCol="1" spcCol="1270" anchor="ctr" anchorCtr="0">
          <a:noAutofit/>
        </a:bodyPr>
        <a:lstStyle/>
        <a:p>
          <a:pPr marL="0" lvl="0" indent="0" algn="l" defTabSz="844550">
            <a:lnSpc>
              <a:spcPct val="100000"/>
            </a:lnSpc>
            <a:spcBef>
              <a:spcPct val="0"/>
            </a:spcBef>
            <a:spcAft>
              <a:spcPct val="35000"/>
            </a:spcAft>
            <a:buNone/>
          </a:pPr>
          <a:r>
            <a:rPr lang="en-US" sz="1900" kern="1200" dirty="0"/>
            <a:t>PostgreSQL</a:t>
          </a:r>
        </a:p>
      </dsp:txBody>
      <dsp:txXfrm>
        <a:off x="958681" y="3116499"/>
        <a:ext cx="3329538" cy="830027"/>
      </dsp:txXfrm>
    </dsp:sp>
    <dsp:sp modelId="{95BFE4E9-4862-433D-9E45-5DE646744996}">
      <dsp:nvSpPr>
        <dsp:cNvPr id="0" name=""/>
        <dsp:cNvSpPr/>
      </dsp:nvSpPr>
      <dsp:spPr>
        <a:xfrm>
          <a:off x="0" y="4154033"/>
          <a:ext cx="4288220" cy="830027"/>
        </a:xfrm>
        <a:prstGeom prst="roundRect">
          <a:avLst>
            <a:gd name="adj" fmla="val 10000"/>
          </a:avLst>
        </a:prstGeom>
        <a:solidFill>
          <a:schemeClr val="accent5">
            <a:tint val="40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3E0340AF-27C1-4BB6-8D97-8A8E646426E5}">
      <dsp:nvSpPr>
        <dsp:cNvPr id="0" name=""/>
        <dsp:cNvSpPr/>
      </dsp:nvSpPr>
      <dsp:spPr>
        <a:xfrm>
          <a:off x="251083" y="4340789"/>
          <a:ext cx="456515" cy="4565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DEF89BD3-AC72-4983-BF05-2C2E5A33687C}">
      <dsp:nvSpPr>
        <dsp:cNvPr id="0" name=""/>
        <dsp:cNvSpPr/>
      </dsp:nvSpPr>
      <dsp:spPr>
        <a:xfrm>
          <a:off x="958681" y="4154033"/>
          <a:ext cx="3329538" cy="830027"/>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87845" tIns="87845" rIns="87845" bIns="87845" numCol="1" spcCol="1270" anchor="ctr" anchorCtr="0">
          <a:noAutofit/>
        </a:bodyPr>
        <a:lstStyle/>
        <a:p>
          <a:pPr marL="0" lvl="0" indent="0" algn="l" defTabSz="844550">
            <a:lnSpc>
              <a:spcPct val="100000"/>
            </a:lnSpc>
            <a:spcBef>
              <a:spcPct val="0"/>
            </a:spcBef>
            <a:spcAft>
              <a:spcPct val="35000"/>
            </a:spcAft>
            <a:buNone/>
          </a:pPr>
          <a:r>
            <a:rPr lang="en-US" sz="1900" kern="1200"/>
            <a:t>Excel</a:t>
          </a:r>
        </a:p>
      </dsp:txBody>
      <dsp:txXfrm>
        <a:off x="958681" y="4154033"/>
        <a:ext cx="3329538" cy="83002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C7BC36-A179-427E-8E65-B180FADC0138}">
      <dsp:nvSpPr>
        <dsp:cNvPr id="0" name=""/>
        <dsp:cNvSpPr/>
      </dsp:nvSpPr>
      <dsp:spPr>
        <a:xfrm>
          <a:off x="0" y="2070"/>
          <a:ext cx="4088524" cy="1049224"/>
        </a:xfrm>
        <a:prstGeom prst="roundRect">
          <a:avLst>
            <a:gd name="adj" fmla="val 10000"/>
          </a:avLst>
        </a:prstGeom>
        <a:solidFill>
          <a:schemeClr val="accent5">
            <a:tint val="40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91F9A872-7CF3-4D9A-8F9C-7219D0498ED9}">
      <dsp:nvSpPr>
        <dsp:cNvPr id="0" name=""/>
        <dsp:cNvSpPr/>
      </dsp:nvSpPr>
      <dsp:spPr>
        <a:xfrm>
          <a:off x="317390" y="238145"/>
          <a:ext cx="577073" cy="5770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41CB8DC-BCCF-4B39-82D6-EC6BA0092817}">
      <dsp:nvSpPr>
        <dsp:cNvPr id="0" name=""/>
        <dsp:cNvSpPr/>
      </dsp:nvSpPr>
      <dsp:spPr>
        <a:xfrm>
          <a:off x="1211854" y="2070"/>
          <a:ext cx="2876669" cy="1049224"/>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11043" tIns="111043" rIns="111043" bIns="111043" numCol="1" spcCol="1270" anchor="ctr" anchorCtr="0">
          <a:noAutofit/>
        </a:bodyPr>
        <a:lstStyle/>
        <a:p>
          <a:pPr marL="0" lvl="0" indent="0" algn="l" defTabSz="844550">
            <a:lnSpc>
              <a:spcPct val="100000"/>
            </a:lnSpc>
            <a:spcBef>
              <a:spcPct val="0"/>
            </a:spcBef>
            <a:spcAft>
              <a:spcPct val="35000"/>
            </a:spcAft>
            <a:buNone/>
          </a:pPr>
          <a:r>
            <a:rPr lang="en-US" sz="1900" b="1" kern="1200" dirty="0"/>
            <a:t>Data Sets used:</a:t>
          </a:r>
          <a:endParaRPr lang="en-US" sz="1900" kern="1200" dirty="0"/>
        </a:p>
      </dsp:txBody>
      <dsp:txXfrm>
        <a:off x="1211854" y="2070"/>
        <a:ext cx="2876669" cy="1049224"/>
      </dsp:txXfrm>
    </dsp:sp>
    <dsp:sp modelId="{405C70D4-D26D-4EC5-AC6F-E99DCE0DE5D8}">
      <dsp:nvSpPr>
        <dsp:cNvPr id="0" name=""/>
        <dsp:cNvSpPr/>
      </dsp:nvSpPr>
      <dsp:spPr>
        <a:xfrm>
          <a:off x="0" y="1313601"/>
          <a:ext cx="4088524" cy="1049224"/>
        </a:xfrm>
        <a:prstGeom prst="roundRect">
          <a:avLst>
            <a:gd name="adj" fmla="val 10000"/>
          </a:avLst>
        </a:prstGeom>
        <a:solidFill>
          <a:schemeClr val="accent5">
            <a:tint val="40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E933CA62-4EDC-466C-BB99-9F989278ED4E}">
      <dsp:nvSpPr>
        <dsp:cNvPr id="0" name=""/>
        <dsp:cNvSpPr/>
      </dsp:nvSpPr>
      <dsp:spPr>
        <a:xfrm>
          <a:off x="317390" y="1549676"/>
          <a:ext cx="577073" cy="5770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720EB2C-1DBD-4560-B370-58694F087841}">
      <dsp:nvSpPr>
        <dsp:cNvPr id="0" name=""/>
        <dsp:cNvSpPr/>
      </dsp:nvSpPr>
      <dsp:spPr>
        <a:xfrm>
          <a:off x="1211854" y="1313601"/>
          <a:ext cx="2876669" cy="1049224"/>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11043" tIns="111043" rIns="111043" bIns="111043" numCol="1" spcCol="1270" anchor="ctr" anchorCtr="0">
          <a:noAutofit/>
        </a:bodyPr>
        <a:lstStyle/>
        <a:p>
          <a:pPr marL="0" lvl="0" indent="0" algn="l" defTabSz="844550">
            <a:lnSpc>
              <a:spcPct val="100000"/>
            </a:lnSpc>
            <a:spcBef>
              <a:spcPct val="0"/>
            </a:spcBef>
            <a:spcAft>
              <a:spcPct val="35000"/>
            </a:spcAft>
            <a:buNone/>
          </a:pPr>
          <a:r>
            <a:rPr lang="en-US" sz="1900" kern="1200"/>
            <a:t>Medicaid Managed Care datasets</a:t>
          </a:r>
        </a:p>
      </dsp:txBody>
      <dsp:txXfrm>
        <a:off x="1211854" y="1313601"/>
        <a:ext cx="2876669" cy="1049224"/>
      </dsp:txXfrm>
    </dsp:sp>
    <dsp:sp modelId="{13C05C82-8C2B-4B02-B553-451F942BD45B}">
      <dsp:nvSpPr>
        <dsp:cNvPr id="0" name=""/>
        <dsp:cNvSpPr/>
      </dsp:nvSpPr>
      <dsp:spPr>
        <a:xfrm>
          <a:off x="0" y="2625132"/>
          <a:ext cx="4088524" cy="1049224"/>
        </a:xfrm>
        <a:prstGeom prst="roundRect">
          <a:avLst>
            <a:gd name="adj" fmla="val 10000"/>
          </a:avLst>
        </a:prstGeom>
        <a:solidFill>
          <a:schemeClr val="accent5">
            <a:tint val="40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AAD1A3E1-9468-44D1-A7A3-535E59B30769}">
      <dsp:nvSpPr>
        <dsp:cNvPr id="0" name=""/>
        <dsp:cNvSpPr/>
      </dsp:nvSpPr>
      <dsp:spPr>
        <a:xfrm>
          <a:off x="317390" y="2861207"/>
          <a:ext cx="577073" cy="5770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DDF7790-56C1-45D1-9EAC-E5B24BE93507}">
      <dsp:nvSpPr>
        <dsp:cNvPr id="0" name=""/>
        <dsp:cNvSpPr/>
      </dsp:nvSpPr>
      <dsp:spPr>
        <a:xfrm>
          <a:off x="1211854" y="2625132"/>
          <a:ext cx="2876669" cy="1049224"/>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11043" tIns="111043" rIns="111043" bIns="111043" numCol="1" spcCol="1270" anchor="ctr" anchorCtr="0">
          <a:noAutofit/>
        </a:bodyPr>
        <a:lstStyle/>
        <a:p>
          <a:pPr marL="0" lvl="0" indent="0" algn="l" defTabSz="844550">
            <a:lnSpc>
              <a:spcPct val="100000"/>
            </a:lnSpc>
            <a:spcBef>
              <a:spcPct val="0"/>
            </a:spcBef>
            <a:spcAft>
              <a:spcPct val="35000"/>
            </a:spcAft>
            <a:buNone/>
          </a:pPr>
          <a:r>
            <a:rPr lang="en-US" sz="1900" kern="1200"/>
            <a:t>Medicare IP Hospitals by Geography and Service</a:t>
          </a:r>
        </a:p>
      </dsp:txBody>
      <dsp:txXfrm>
        <a:off x="1211854" y="2625132"/>
        <a:ext cx="2876669" cy="1049224"/>
      </dsp:txXfrm>
    </dsp:sp>
    <dsp:sp modelId="{40409BF7-C341-464D-BCED-621AB67C12E9}">
      <dsp:nvSpPr>
        <dsp:cNvPr id="0" name=""/>
        <dsp:cNvSpPr/>
      </dsp:nvSpPr>
      <dsp:spPr>
        <a:xfrm>
          <a:off x="0" y="3936663"/>
          <a:ext cx="4088524" cy="1049224"/>
        </a:xfrm>
        <a:prstGeom prst="roundRect">
          <a:avLst>
            <a:gd name="adj" fmla="val 10000"/>
          </a:avLst>
        </a:prstGeom>
        <a:solidFill>
          <a:schemeClr val="accent5">
            <a:tint val="40000"/>
            <a:hueOff val="0"/>
            <a:satOff val="0"/>
            <a:lumOff val="0"/>
            <a:alphaOff val="0"/>
          </a:schemeClr>
        </a:solidFill>
        <a:ln w="9525" cap="flat" cmpd="sng" algn="ctr">
          <a:solidFill>
            <a:schemeClr val="dk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3C3B35E0-4A24-42FB-B535-53AFFC90A250}">
      <dsp:nvSpPr>
        <dsp:cNvPr id="0" name=""/>
        <dsp:cNvSpPr/>
      </dsp:nvSpPr>
      <dsp:spPr>
        <a:xfrm>
          <a:off x="317390" y="4172738"/>
          <a:ext cx="577073" cy="57707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0685828-8B1A-46B6-BD5C-F7F310542B24}">
      <dsp:nvSpPr>
        <dsp:cNvPr id="0" name=""/>
        <dsp:cNvSpPr/>
      </dsp:nvSpPr>
      <dsp:spPr>
        <a:xfrm>
          <a:off x="1211854" y="3936663"/>
          <a:ext cx="2876669" cy="1049224"/>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11043" tIns="111043" rIns="111043" bIns="111043" numCol="1" spcCol="1270" anchor="ctr" anchorCtr="0">
          <a:noAutofit/>
        </a:bodyPr>
        <a:lstStyle/>
        <a:p>
          <a:pPr marL="0" lvl="0" indent="0" algn="l" defTabSz="844550">
            <a:lnSpc>
              <a:spcPct val="100000"/>
            </a:lnSpc>
            <a:spcBef>
              <a:spcPct val="0"/>
            </a:spcBef>
            <a:spcAft>
              <a:spcPct val="35000"/>
            </a:spcAft>
            <a:buNone/>
          </a:pPr>
          <a:r>
            <a:rPr lang="en-US" sz="1900" kern="1200" dirty="0"/>
            <a:t>Medicare IP Hospitals by Provider and Service</a:t>
          </a:r>
        </a:p>
      </dsp:txBody>
      <dsp:txXfrm>
        <a:off x="1211854" y="3936663"/>
        <a:ext cx="2876669" cy="10492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0D3330-3359-4D3C-BF85-739CCC6E6AD6}">
      <dsp:nvSpPr>
        <dsp:cNvPr id="0" name=""/>
        <dsp:cNvSpPr/>
      </dsp:nvSpPr>
      <dsp:spPr>
        <a:xfrm>
          <a:off x="18535" y="450978"/>
          <a:ext cx="1080124" cy="108012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74F4D7-FD87-44B3-B1CE-121BC8534B53}">
      <dsp:nvSpPr>
        <dsp:cNvPr id="0" name=""/>
        <dsp:cNvSpPr/>
      </dsp:nvSpPr>
      <dsp:spPr>
        <a:xfrm>
          <a:off x="245361" y="677804"/>
          <a:ext cx="626472" cy="6264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4D208C-C8ED-4CCA-AC02-81581F40298D}">
      <dsp:nvSpPr>
        <dsp:cNvPr id="0" name=""/>
        <dsp:cNvSpPr/>
      </dsp:nvSpPr>
      <dsp:spPr>
        <a:xfrm>
          <a:off x="1330115" y="450978"/>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Plan types impact service delivery intensity</a:t>
          </a:r>
        </a:p>
      </dsp:txBody>
      <dsp:txXfrm>
        <a:off x="1330115" y="450978"/>
        <a:ext cx="2546008" cy="1080124"/>
      </dsp:txXfrm>
    </dsp:sp>
    <dsp:sp modelId="{2B509375-4D64-4C6F-A2BB-A7B2C511C2AA}">
      <dsp:nvSpPr>
        <dsp:cNvPr id="0" name=""/>
        <dsp:cNvSpPr/>
      </dsp:nvSpPr>
      <dsp:spPr>
        <a:xfrm>
          <a:off x="4319746" y="450978"/>
          <a:ext cx="1080124" cy="108012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7B48E1-8143-4563-AC63-3B51AFCC20F5}">
      <dsp:nvSpPr>
        <dsp:cNvPr id="0" name=""/>
        <dsp:cNvSpPr/>
      </dsp:nvSpPr>
      <dsp:spPr>
        <a:xfrm>
          <a:off x="4546573" y="677804"/>
          <a:ext cx="626472" cy="6264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BA76BC3-E9CC-4D4F-84E9-A066FFE7EC37}">
      <dsp:nvSpPr>
        <dsp:cNvPr id="0" name=""/>
        <dsp:cNvSpPr/>
      </dsp:nvSpPr>
      <dsp:spPr>
        <a:xfrm>
          <a:off x="5631327" y="450978"/>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Significant Medicare payment-to-charge gaps exist</a:t>
          </a:r>
        </a:p>
      </dsp:txBody>
      <dsp:txXfrm>
        <a:off x="5631327" y="450978"/>
        <a:ext cx="2546008" cy="1080124"/>
      </dsp:txXfrm>
    </dsp:sp>
    <dsp:sp modelId="{876AFB97-28F4-463A-8268-04591295D3F1}">
      <dsp:nvSpPr>
        <dsp:cNvPr id="0" name=""/>
        <dsp:cNvSpPr/>
      </dsp:nvSpPr>
      <dsp:spPr>
        <a:xfrm>
          <a:off x="18535" y="2158301"/>
          <a:ext cx="1080124" cy="108012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1409DC-A449-41B2-AFDB-7AD5EEE37052}">
      <dsp:nvSpPr>
        <dsp:cNvPr id="0" name=""/>
        <dsp:cNvSpPr/>
      </dsp:nvSpPr>
      <dsp:spPr>
        <a:xfrm>
          <a:off x="245361" y="2385128"/>
          <a:ext cx="626472" cy="6264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2C641E-6504-47F4-8DED-2DB7282F7A6D}">
      <dsp:nvSpPr>
        <dsp:cNvPr id="0" name=""/>
        <dsp:cNvSpPr/>
      </dsp:nvSpPr>
      <dsp:spPr>
        <a:xfrm>
          <a:off x="1330115" y="2158301"/>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Care intensity varies by plan &amp; geography</a:t>
          </a:r>
        </a:p>
      </dsp:txBody>
      <dsp:txXfrm>
        <a:off x="1330115" y="2158301"/>
        <a:ext cx="2546008" cy="1080124"/>
      </dsp:txXfrm>
    </dsp:sp>
    <dsp:sp modelId="{8A5F1E86-E014-4054-A6AB-75079F33E965}">
      <dsp:nvSpPr>
        <dsp:cNvPr id="0" name=""/>
        <dsp:cNvSpPr/>
      </dsp:nvSpPr>
      <dsp:spPr>
        <a:xfrm>
          <a:off x="4319746" y="2158301"/>
          <a:ext cx="1080124" cy="108012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040B76-AF6B-418A-804B-1B88E48C6AAA}">
      <dsp:nvSpPr>
        <dsp:cNvPr id="0" name=""/>
        <dsp:cNvSpPr/>
      </dsp:nvSpPr>
      <dsp:spPr>
        <a:xfrm>
          <a:off x="4546573" y="2385128"/>
          <a:ext cx="626472" cy="62647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D2900A4-4E34-4915-97D1-786F9208E8D5}">
      <dsp:nvSpPr>
        <dsp:cNvPr id="0" name=""/>
        <dsp:cNvSpPr/>
      </dsp:nvSpPr>
      <dsp:spPr>
        <a:xfrm>
          <a:off x="5631327" y="2158301"/>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Urban vs rural differences in discharges are significant</a:t>
          </a:r>
        </a:p>
      </dsp:txBody>
      <dsp:txXfrm>
        <a:off x="5631327" y="2158301"/>
        <a:ext cx="2546008" cy="10801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B0F00A-5F89-492D-B495-65B2B9C6A38F}">
      <dsp:nvSpPr>
        <dsp:cNvPr id="0" name=""/>
        <dsp:cNvSpPr/>
      </dsp:nvSpPr>
      <dsp:spPr>
        <a:xfrm>
          <a:off x="0" y="431616"/>
          <a:ext cx="2561209" cy="153672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VBC improves quality and efficiency. But it can increase disparities if incentives and providers don’t match patient needs.</a:t>
          </a:r>
        </a:p>
      </dsp:txBody>
      <dsp:txXfrm>
        <a:off x="0" y="431616"/>
        <a:ext cx="2561209" cy="1536725"/>
      </dsp:txXfrm>
    </dsp:sp>
    <dsp:sp modelId="{F8F4608A-F7CC-4266-BE94-CFF81C0FB03E}">
      <dsp:nvSpPr>
        <dsp:cNvPr id="0" name=""/>
        <dsp:cNvSpPr/>
      </dsp:nvSpPr>
      <dsp:spPr>
        <a:xfrm>
          <a:off x="2817330" y="431616"/>
          <a:ext cx="2561209" cy="1536725"/>
        </a:xfrm>
        <a:prstGeom prst="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States with more providers, like Michigan, have better coverage and care intensity.</a:t>
          </a:r>
        </a:p>
      </dsp:txBody>
      <dsp:txXfrm>
        <a:off x="2817330" y="431616"/>
        <a:ext cx="2561209" cy="1536725"/>
      </dsp:txXfrm>
    </dsp:sp>
    <dsp:sp modelId="{8FB9F490-2CC1-4A89-99D1-B2B37C1CA0C3}">
      <dsp:nvSpPr>
        <dsp:cNvPr id="0" name=""/>
        <dsp:cNvSpPr/>
      </dsp:nvSpPr>
      <dsp:spPr>
        <a:xfrm>
          <a:off x="5634661" y="431616"/>
          <a:ext cx="2561209" cy="1536725"/>
        </a:xfrm>
        <a:prstGeom prst="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Rural areas still face big access gaps.</a:t>
          </a:r>
        </a:p>
      </dsp:txBody>
      <dsp:txXfrm>
        <a:off x="5634661" y="431616"/>
        <a:ext cx="2561209" cy="1536725"/>
      </dsp:txXfrm>
    </dsp:sp>
    <dsp:sp modelId="{86516E50-F5EB-45D1-8778-2712F028CB24}">
      <dsp:nvSpPr>
        <dsp:cNvPr id="0" name=""/>
        <dsp:cNvSpPr/>
      </dsp:nvSpPr>
      <dsp:spPr>
        <a:xfrm>
          <a:off x="0" y="2224462"/>
          <a:ext cx="2561209" cy="1536725"/>
        </a:xfrm>
        <a:prstGeom prst="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Large differences exist between Medicare payments and charges.</a:t>
          </a:r>
        </a:p>
      </dsp:txBody>
      <dsp:txXfrm>
        <a:off x="0" y="2224462"/>
        <a:ext cx="2561209" cy="1536725"/>
      </dsp:txXfrm>
    </dsp:sp>
    <dsp:sp modelId="{4D9BE411-5B22-4658-A891-7F58F58FC68C}">
      <dsp:nvSpPr>
        <dsp:cNvPr id="0" name=""/>
        <dsp:cNvSpPr/>
      </dsp:nvSpPr>
      <dsp:spPr>
        <a:xfrm>
          <a:off x="2817330" y="2224462"/>
          <a:ext cx="2561209" cy="1536725"/>
        </a:xfrm>
        <a:prstGeom prst="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Urban areas have much higher service volumes than rural areas.</a:t>
          </a:r>
        </a:p>
      </dsp:txBody>
      <dsp:txXfrm>
        <a:off x="2817330" y="2224462"/>
        <a:ext cx="2561209" cy="1536725"/>
      </dsp:txXfrm>
    </dsp:sp>
    <dsp:sp modelId="{4C01ECEE-C85B-4BE8-8DDF-383CF791597E}">
      <dsp:nvSpPr>
        <dsp:cNvPr id="0" name=""/>
        <dsp:cNvSpPr/>
      </dsp:nvSpPr>
      <dsp:spPr>
        <a:xfrm>
          <a:off x="5634661" y="2224462"/>
          <a:ext cx="2561209" cy="1536725"/>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VBC programs must address these gaps to ensure fair, quality care for all patients.</a:t>
          </a:r>
        </a:p>
      </dsp:txBody>
      <dsp:txXfrm>
        <a:off x="5634661" y="2224462"/>
        <a:ext cx="2561209" cy="1536725"/>
      </dsp:txXfrm>
    </dsp:sp>
  </dsp:spTree>
</dsp:drawing>
</file>

<file path=ppt/diagrams/layout1.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0112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Today, I’ll walk you through critical findings from my capstone project analyzing Medicaid and Medicare data. Our goal is to identify actionable opportunities to enhance access, efficiency, and equity in value-based care delivery.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We sought to evaluate provider network adequacy, plan performance on care intensity, state-level utilization trends, reimbursement gaps, and disparities between urban and rural settings—insights essential for improving patient outcomes and financial sustainability.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Our targeted questions focus on provider access, plan efficiency, regional utilization patterns, Medicare reimbursement misalignments, and urban-rural inequities. These are core areas where we can act to drive value.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04C71-C8C1-DD2D-C424-AC6F324CA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AD1E6-C342-3749-510F-D965256D864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FCA8FFC-915E-4BE4-4A8F-90D751D27455}"/>
              </a:ext>
            </a:extLst>
          </p:cNvPr>
          <p:cNvSpPr>
            <a:spLocks noGrp="1"/>
          </p:cNvSpPr>
          <p:nvPr>
            <p:ph type="body" sz="quarter" idx="3"/>
          </p:nvPr>
        </p:nvSpPr>
        <p:spPr/>
        <p:txBody>
          <a:bodyPr/>
          <a:lstStyle/>
          <a:p>
            <a:endParaRPr dirty="0"/>
          </a:p>
          <a:p>
            <a:r>
              <a:rPr dirty="0"/>
              <a:t>Our targeted questions focus on provider access, plan efficiency, regional utilization patterns, Medicare reimbursement misalignments, and urban-rural inequities. These are core areas where we can act to drive value.</a:t>
            </a:r>
          </a:p>
        </p:txBody>
      </p:sp>
      <p:sp>
        <p:nvSpPr>
          <p:cNvPr id="4" name="Slide Number Placeholder 3">
            <a:extLst>
              <a:ext uri="{FF2B5EF4-FFF2-40B4-BE49-F238E27FC236}">
                <a16:creationId xmlns:a16="http://schemas.microsoft.com/office/drawing/2014/main" id="{11292C6A-E990-2D15-2748-9AB3360F7503}"/>
              </a:ext>
            </a:extLst>
          </p:cNvPr>
          <p:cNvSpPr>
            <a:spLocks noGrp="1"/>
          </p:cNvSpPr>
          <p:nvPr>
            <p:ph type="sldNum" sz="quarter" idx="5"/>
          </p:nvPr>
        </p:nvSpPr>
        <p:spPr/>
      </p:sp>
    </p:spTree>
    <p:extLst>
      <p:ext uri="{BB962C8B-B14F-4D97-AF65-F5344CB8AC3E}">
        <p14:creationId xmlns:p14="http://schemas.microsoft.com/office/powerpoint/2010/main" val="1334473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Our analysis revealed a direct link between provider density and patient service rates. Regions like Michigan and Arizona achieved significantly higher coverage than rural counties—underscoring the need to expand provider networks in underserved areas.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Comprehensive MCOs excel in serving large patient bases with diverse services. Specialty plans play key roles in behavioral and pediatric care. Our strategies should maintain comprehensive coverage while strengthening specialty services to address high-risk needs.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Michigan leads in both active patient numbers and service growth, reflecting a robust care model. Nevada lags, signaling potential policy or provider network gaps. Regional strategies must prioritize underperforming states to reduce disparities.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Significant gaps exist between billed charges and Medicare payments—averaging a 4–5x difference in high-cost DRGs. This suggests inefficiencies in revenue cycle management, calling for improved negotiation, documentation, and coding practices.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“Cardio/Pulmonary” dominate discharge volumes but differ in financial impact. Focusing process improvement efforts on high-volume categories can optimize resource use and patient outcomes.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Urban areas capture nearly 400x more in Medicare payments than rural providers, despite rural populations often having greater health needs. Addressing these disparities requires targeted investment in rural healthcare infrastructure and provider recruitment.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We rejected all null hypotheses: plan type, region, and provider location significantly impact care intensity, payments, and utilization. This confirms the need for nuanced, data-driven strategies instead of one-size-fits-all approaches.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Our findings highlight that value-based care can enhance outcomes but risks widening disparities if financial incentives and provider distribution aren’t realigned with community needs. Prioritizing underserved regions will ensure equitable, sustainable improvements in care.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240CA-1E99-4C19-4F68-FBF6C0233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210A3-0408-08B7-0796-C381F6104BD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ED5B320-3B0B-1D57-4FFA-3DAF060DB87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0B37A0C-A496-ED49-C4EB-CD4B60EEB95F}"/>
              </a:ext>
            </a:extLst>
          </p:cNvPr>
          <p:cNvSpPr>
            <a:spLocks noGrp="1"/>
          </p:cNvSpPr>
          <p:nvPr>
            <p:ph type="sldNum" sz="quarter" idx="5"/>
          </p:nvPr>
        </p:nvSpPr>
        <p:spPr/>
      </p:sp>
    </p:spTree>
    <p:extLst>
      <p:ext uri="{BB962C8B-B14F-4D97-AF65-F5344CB8AC3E}">
        <p14:creationId xmlns:p14="http://schemas.microsoft.com/office/powerpoint/2010/main" val="1600581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32654C9-429B-47F2-B2DA-6AC3CAB04903}" type="datetime1">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3D2D08-4079-416B-9B1E-7385F8AEE16D}" type="datetime1">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ABA012-BBAB-4E3F-9AAA-D5A58936D60D}" type="datetime1">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0518F44-9911-4C60-9FED-AF2831BC0F31}" type="datetime1">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5F729B-E970-40AB-B96F-B33F6E144615}" type="datetime1">
              <a:rPr lang="en-US" smtClean="0"/>
              <a:t>7/3/2025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7B18A3-7F4B-4CB5-90F5-9DAD031F0052}" type="datetime1">
              <a:rPr lang="en-US" smtClean="0"/>
              <a:t>7/3/2025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018437-65D5-431F-904D-345DF5346B6A}" type="datetime1">
              <a:rPr lang="en-US" smtClean="0"/>
              <a:t>7/3/2025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0580E9-0CDC-496F-9A20-AFAE348109E9}" type="datetime1">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F0E161-4174-4845-876B-54D5217F3D2A}" type="datetime1">
              <a:rPr lang="en-US" smtClean="0"/>
              <a:t>7/3/2025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96DE63-D1CE-48EC-8565-FB1232C1E465}" type="datetime1">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68972C-25A7-4628-ABB8-2644095CA3F6}" type="datetime1">
              <a:rPr lang="en-US" smtClean="0"/>
              <a:t>7/3/2025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AE1816-004F-42F7-AE99-BC62E655CC1C}" type="datetime1">
              <a:rPr lang="en-US" smtClean="0"/>
              <a:t>7/3/2025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3D Hologram from iPad">
            <a:extLst>
              <a:ext uri="{FF2B5EF4-FFF2-40B4-BE49-F238E27FC236}">
                <a16:creationId xmlns:a16="http://schemas.microsoft.com/office/drawing/2014/main" id="{BD300670-AAA5-E258-17D2-BB1926E85DFB}"/>
              </a:ext>
            </a:extLst>
          </p:cNvPr>
          <p:cNvPicPr>
            <a:picLocks noChangeAspect="1"/>
          </p:cNvPicPr>
          <p:nvPr/>
        </p:nvPicPr>
        <p:blipFill>
          <a:blip r:embed="rId3"/>
          <a:srcRect l="5352" t="4578" r="34266" b="2"/>
          <a:stretch>
            <a:fillRect/>
          </a:stretch>
        </p:blipFill>
        <p:spPr>
          <a:xfrm>
            <a:off x="2642616" y="10"/>
            <a:ext cx="6501384" cy="6857990"/>
          </a:xfrm>
          <a:prstGeom prst="rect">
            <a:avLst/>
          </a:prstGeom>
        </p:spPr>
      </p:pic>
      <p:sp>
        <p:nvSpPr>
          <p:cNvPr id="34" name="Rectangle 33">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317450"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60772" y="1018512"/>
            <a:ext cx="4213515" cy="2501315"/>
          </a:xfrm>
        </p:spPr>
        <p:txBody>
          <a:bodyPr anchor="b">
            <a:normAutofit/>
          </a:bodyPr>
          <a:lstStyle/>
          <a:p>
            <a:pPr>
              <a:lnSpc>
                <a:spcPct val="90000"/>
              </a:lnSpc>
              <a:defRPr sz="4400" b="1">
                <a:solidFill>
                  <a:srgbClr val="003366"/>
                </a:solidFill>
              </a:defRPr>
            </a:pPr>
            <a:r>
              <a:rPr lang="en-US" sz="4200"/>
              <a:t>CMS Claims and Provider Data Analysis</a:t>
            </a:r>
            <a:endParaRPr lang="en-US" sz="4200" dirty="0"/>
          </a:p>
        </p:txBody>
      </p:sp>
      <p:sp>
        <p:nvSpPr>
          <p:cNvPr id="3" name="Subtitle 2"/>
          <p:cNvSpPr>
            <a:spLocks noGrp="1"/>
          </p:cNvSpPr>
          <p:nvPr>
            <p:ph type="subTitle" idx="1"/>
          </p:nvPr>
        </p:nvSpPr>
        <p:spPr>
          <a:xfrm>
            <a:off x="358484" y="4661167"/>
            <a:ext cx="5317101" cy="1715919"/>
          </a:xfrm>
        </p:spPr>
        <p:txBody>
          <a:bodyPr>
            <a:noAutofit/>
          </a:bodyPr>
          <a:lstStyle/>
          <a:p>
            <a:pPr algn="l">
              <a:lnSpc>
                <a:spcPct val="150000"/>
              </a:lnSpc>
            </a:pPr>
            <a:r>
              <a:rPr lang="en-US" sz="1400" dirty="0">
                <a:solidFill>
                  <a:schemeClr val="tx1"/>
                </a:solidFill>
                <a:latin typeface="+mj-lt"/>
              </a:rPr>
              <a:t>Praveen Perumal Ramanpillai</a:t>
            </a:r>
            <a:endParaRPr lang="en-US" sz="1400" i="1" dirty="0">
              <a:solidFill>
                <a:schemeClr val="tx1"/>
              </a:solidFill>
              <a:latin typeface="+mj-lt"/>
            </a:endParaRPr>
          </a:p>
          <a:p>
            <a:pPr algn="l">
              <a:lnSpc>
                <a:spcPct val="150000"/>
              </a:lnSpc>
            </a:pPr>
            <a:r>
              <a:rPr lang="en-US" sz="1400" dirty="0">
                <a:solidFill>
                  <a:schemeClr val="tx1"/>
                </a:solidFill>
                <a:latin typeface="+mj-lt"/>
              </a:rPr>
              <a:t>Colorado State University - Global</a:t>
            </a:r>
            <a:endParaRPr lang="en-US" sz="1400" i="1" dirty="0">
              <a:solidFill>
                <a:schemeClr val="tx1"/>
              </a:solidFill>
              <a:latin typeface="+mj-lt"/>
            </a:endParaRPr>
          </a:p>
          <a:p>
            <a:pPr algn="l">
              <a:lnSpc>
                <a:spcPct val="150000"/>
              </a:lnSpc>
            </a:pPr>
            <a:r>
              <a:rPr lang="en-US" sz="1400" dirty="0">
                <a:solidFill>
                  <a:schemeClr val="tx1"/>
                </a:solidFill>
                <a:latin typeface="+mj-lt"/>
              </a:rPr>
              <a:t>MIS581 - Capstone - Business Intelligence and Data Analytics</a:t>
            </a:r>
            <a:endParaRPr lang="en-US" sz="1400" i="1" dirty="0">
              <a:solidFill>
                <a:schemeClr val="tx1"/>
              </a:solidFill>
              <a:latin typeface="+mj-lt"/>
            </a:endParaRPr>
          </a:p>
          <a:p>
            <a:pPr algn="l">
              <a:lnSpc>
                <a:spcPct val="150000"/>
              </a:lnSpc>
            </a:pPr>
            <a:r>
              <a:rPr lang="en-US" sz="1400" dirty="0">
                <a:solidFill>
                  <a:schemeClr val="tx1"/>
                </a:solidFill>
                <a:latin typeface="+mj-lt"/>
              </a:rPr>
              <a:t>Instructor: Chung, Steve</a:t>
            </a:r>
            <a:endParaRPr lang="en-US" sz="1400" i="1" dirty="0">
              <a:solidFill>
                <a:schemeClr val="tx1"/>
              </a:solidFill>
              <a:latin typeface="+mj-lt"/>
            </a:endParaRPr>
          </a:p>
          <a:p>
            <a:pPr algn="l">
              <a:lnSpc>
                <a:spcPct val="150000"/>
              </a:lnSpc>
            </a:pPr>
            <a:r>
              <a:rPr lang="en-US" sz="1400" dirty="0">
                <a:solidFill>
                  <a:schemeClr val="tx1"/>
                </a:solidFill>
                <a:latin typeface="+mj-lt"/>
              </a:rPr>
              <a:t>July 6, 2025</a:t>
            </a:r>
            <a:endParaRPr lang="en-US" sz="1400" i="1" dirty="0">
              <a:solidFill>
                <a:schemeClr val="tx1"/>
              </a:solidFill>
              <a:latin typeface="+mj-lt"/>
            </a:endParaRPr>
          </a:p>
        </p:txBody>
      </p:sp>
      <p:sp>
        <p:nvSpPr>
          <p:cNvPr id="35" name="Rectangle 3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defRPr sz="4400" b="1">
                <a:solidFill>
                  <a:srgbClr val="003366"/>
                </a:solidFill>
              </a:defRPr>
            </a:pPr>
            <a:r>
              <a:rPr lang="en-US" sz="3500">
                <a:solidFill>
                  <a:srgbClr val="FFFFFF"/>
                </a:solidFill>
              </a:rPr>
              <a:t>Project Objectives</a:t>
            </a:r>
            <a:endParaRPr lang="en-US" sz="3500" dirty="0">
              <a:solidFill>
                <a:srgbClr val="FFFFFF"/>
              </a:solidFill>
            </a:endParaRPr>
          </a:p>
        </p:txBody>
      </p:sp>
      <p:sp>
        <p:nvSpPr>
          <p:cNvPr id="6" name="Slide Number Placeholder 5">
            <a:extLst>
              <a:ext uri="{FF2B5EF4-FFF2-40B4-BE49-F238E27FC236}">
                <a16:creationId xmlns:a16="http://schemas.microsoft.com/office/drawing/2014/main" id="{9B3EBCF6-FE45-C6BC-3D8E-6A5B3B387E59}"/>
              </a:ext>
            </a:extLst>
          </p:cNvPr>
          <p:cNvSpPr>
            <a:spLocks noGrp="1"/>
          </p:cNvSpPr>
          <p:nvPr>
            <p:ph type="sldNum" sz="quarter" idx="12"/>
          </p:nvPr>
        </p:nvSpPr>
        <p:spPr>
          <a:xfrm>
            <a:off x="8778240" y="6455664"/>
            <a:ext cx="336042" cy="365125"/>
          </a:xfrm>
        </p:spPr>
        <p:txBody>
          <a:bodyPr>
            <a:normAutofit/>
          </a:bodyPr>
          <a:lstStyle/>
          <a:p>
            <a:pPr>
              <a:spcAft>
                <a:spcPts val="600"/>
              </a:spcAft>
            </a:pPr>
            <a:fld id="{C1FF6DA9-008F-8B48-92A6-B652298478BF}" type="slidenum">
              <a:rPr lang="en-US" sz="1000" smtClean="0">
                <a:solidFill>
                  <a:schemeClr val="tx1">
                    <a:lumMod val="50000"/>
                    <a:lumOff val="50000"/>
                  </a:schemeClr>
                </a:solidFill>
              </a:rPr>
              <a:pPr>
                <a:spcAft>
                  <a:spcPts val="600"/>
                </a:spcAft>
              </a:pPr>
              <a:t>2</a:t>
            </a:fld>
            <a:endParaRPr lang="en-US" sz="1000">
              <a:solidFill>
                <a:schemeClr val="tx1">
                  <a:lumMod val="50000"/>
                  <a:lumOff val="50000"/>
                </a:schemeClr>
              </a:solidFill>
            </a:endParaRPr>
          </a:p>
        </p:txBody>
      </p:sp>
      <p:graphicFrame>
        <p:nvGraphicFramePr>
          <p:cNvPr id="67" name="Content Placeholder 2">
            <a:extLst>
              <a:ext uri="{FF2B5EF4-FFF2-40B4-BE49-F238E27FC236}">
                <a16:creationId xmlns:a16="http://schemas.microsoft.com/office/drawing/2014/main" id="{D950A978-7153-996F-1677-419532F2179B}"/>
              </a:ext>
            </a:extLst>
          </p:cNvPr>
          <p:cNvGraphicFramePr/>
          <p:nvPr>
            <p:extLst>
              <p:ext uri="{D42A27DB-BD31-4B8C-83A1-F6EECF244321}">
                <p14:modId xmlns:p14="http://schemas.microsoft.com/office/powerpoint/2010/main" val="3900485967"/>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4468" y="113751"/>
            <a:ext cx="7533018" cy="877729"/>
          </a:xfrm>
        </p:spPr>
        <p:txBody>
          <a:bodyPr anchor="ctr">
            <a:normAutofit fontScale="90000"/>
          </a:bodyPr>
          <a:lstStyle/>
          <a:p>
            <a:pPr>
              <a:lnSpc>
                <a:spcPct val="90000"/>
              </a:lnSpc>
              <a:defRPr sz="4400" b="1">
                <a:solidFill>
                  <a:srgbClr val="003366"/>
                </a:solidFill>
              </a:defRPr>
            </a:pPr>
            <a:br>
              <a:rPr lang="en-US" sz="1400">
                <a:solidFill>
                  <a:srgbClr val="FFFFFF"/>
                </a:solidFill>
              </a:rPr>
            </a:br>
            <a:br>
              <a:rPr lang="en-US" sz="1400">
                <a:solidFill>
                  <a:srgbClr val="FFFFFF"/>
                </a:solidFill>
              </a:rPr>
            </a:br>
            <a:br>
              <a:rPr lang="en-US" sz="1400">
                <a:solidFill>
                  <a:srgbClr val="FFFFFF"/>
                </a:solidFill>
              </a:rPr>
            </a:br>
            <a:r>
              <a:rPr lang="en-US" sz="4000">
                <a:solidFill>
                  <a:srgbClr val="FFFFFF"/>
                </a:solidFill>
              </a:rPr>
              <a:t>Research Questions</a:t>
            </a:r>
            <a:endParaRPr lang="en-US" sz="3600" dirty="0">
              <a:solidFill>
                <a:srgbClr val="FFFFFF"/>
              </a:solidFill>
            </a:endParaRPr>
          </a:p>
        </p:txBody>
      </p:sp>
      <p:graphicFrame>
        <p:nvGraphicFramePr>
          <p:cNvPr id="5" name="Content Placeholder 2">
            <a:extLst>
              <a:ext uri="{FF2B5EF4-FFF2-40B4-BE49-F238E27FC236}">
                <a16:creationId xmlns:a16="http://schemas.microsoft.com/office/drawing/2014/main" id="{171C74CD-8FCE-AB69-CAC5-0FDC63638B99}"/>
              </a:ext>
            </a:extLst>
          </p:cNvPr>
          <p:cNvGraphicFramePr>
            <a:graphicFrameLocks noGrp="1"/>
          </p:cNvGraphicFramePr>
          <p:nvPr>
            <p:ph idx="1"/>
            <p:extLst>
              <p:ext uri="{D42A27DB-BD31-4B8C-83A1-F6EECF244321}">
                <p14:modId xmlns:p14="http://schemas.microsoft.com/office/powerpoint/2010/main" val="2322935229"/>
              </p:ext>
            </p:extLst>
          </p:nvPr>
        </p:nvGraphicFramePr>
        <p:xfrm>
          <a:off x="490929" y="2027020"/>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34306DF0-72A0-BE6A-F113-C38547BB0541}"/>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F50584-814B-244B-397A-26650416C626}"/>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8DF204D7-870B-C20F-C3A8-8617BC1275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BA3E42F2-353E-3E35-1587-E347925525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4072082D-4317-510C-A510-22207655B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EB845A64-A162-5321-0501-A3AFD0165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D0DDB0-E28F-9C86-8E02-AB7FC7A81255}"/>
              </a:ext>
            </a:extLst>
          </p:cNvPr>
          <p:cNvSpPr>
            <a:spLocks noGrp="1"/>
          </p:cNvSpPr>
          <p:nvPr>
            <p:ph type="title"/>
          </p:nvPr>
        </p:nvSpPr>
        <p:spPr>
          <a:xfrm>
            <a:off x="814468" y="113751"/>
            <a:ext cx="7533018" cy="877729"/>
          </a:xfrm>
        </p:spPr>
        <p:txBody>
          <a:bodyPr anchor="ctr">
            <a:normAutofit fontScale="90000"/>
          </a:bodyPr>
          <a:lstStyle/>
          <a:p>
            <a:pPr>
              <a:lnSpc>
                <a:spcPct val="90000"/>
              </a:lnSpc>
              <a:defRPr sz="4400" b="1">
                <a:solidFill>
                  <a:srgbClr val="003366"/>
                </a:solidFill>
              </a:defRPr>
            </a:pPr>
            <a:br>
              <a:rPr lang="en-US" sz="1400" dirty="0">
                <a:solidFill>
                  <a:srgbClr val="FFFFFF"/>
                </a:solidFill>
              </a:rPr>
            </a:br>
            <a:br>
              <a:rPr lang="en-US" sz="1400" dirty="0">
                <a:solidFill>
                  <a:srgbClr val="FFFFFF"/>
                </a:solidFill>
              </a:rPr>
            </a:br>
            <a:br>
              <a:rPr lang="en-US" sz="1400" dirty="0">
                <a:solidFill>
                  <a:srgbClr val="FFFFFF"/>
                </a:solidFill>
              </a:rPr>
            </a:br>
            <a:r>
              <a:rPr lang="en-US" sz="4000" dirty="0">
                <a:solidFill>
                  <a:srgbClr val="FFFFFF"/>
                </a:solidFill>
              </a:rPr>
              <a:t>Data Sets and Tools Used</a:t>
            </a:r>
            <a:endParaRPr lang="en-US" sz="3600" dirty="0">
              <a:solidFill>
                <a:srgbClr val="FFFFFF"/>
              </a:solidFill>
            </a:endParaRPr>
          </a:p>
        </p:txBody>
      </p:sp>
      <p:graphicFrame>
        <p:nvGraphicFramePr>
          <p:cNvPr id="6" name="TextBox 6">
            <a:extLst>
              <a:ext uri="{FF2B5EF4-FFF2-40B4-BE49-F238E27FC236}">
                <a16:creationId xmlns:a16="http://schemas.microsoft.com/office/drawing/2014/main" id="{006DDC74-FE4D-FDC1-2D77-D4A7CE6F176F}"/>
              </a:ext>
            </a:extLst>
          </p:cNvPr>
          <p:cNvGraphicFramePr/>
          <p:nvPr>
            <p:extLst>
              <p:ext uri="{D42A27DB-BD31-4B8C-83A1-F6EECF244321}">
                <p14:modId xmlns:p14="http://schemas.microsoft.com/office/powerpoint/2010/main" val="1570278317"/>
              </p:ext>
            </p:extLst>
          </p:nvPr>
        </p:nvGraphicFramePr>
        <p:xfrm>
          <a:off x="4656083" y="1756290"/>
          <a:ext cx="4288220" cy="49879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Content Placeholder 2">
            <a:extLst>
              <a:ext uri="{FF2B5EF4-FFF2-40B4-BE49-F238E27FC236}">
                <a16:creationId xmlns:a16="http://schemas.microsoft.com/office/drawing/2014/main" id="{73E6278F-6459-6A57-09DC-FF5E308468CD}"/>
              </a:ext>
            </a:extLst>
          </p:cNvPr>
          <p:cNvGraphicFramePr/>
          <p:nvPr>
            <p:extLst>
              <p:ext uri="{D42A27DB-BD31-4B8C-83A1-F6EECF244321}">
                <p14:modId xmlns:p14="http://schemas.microsoft.com/office/powerpoint/2010/main" val="1404546469"/>
              </p:ext>
            </p:extLst>
          </p:nvPr>
        </p:nvGraphicFramePr>
        <p:xfrm>
          <a:off x="199698" y="1756290"/>
          <a:ext cx="4088524" cy="498795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Slide Number Placeholder 8">
            <a:extLst>
              <a:ext uri="{FF2B5EF4-FFF2-40B4-BE49-F238E27FC236}">
                <a16:creationId xmlns:a16="http://schemas.microsoft.com/office/drawing/2014/main" id="{8196B173-1072-623D-9A7D-EB537B4E02DF}"/>
              </a:ext>
            </a:extLst>
          </p:cNvPr>
          <p:cNvSpPr>
            <a:spLocks noGrp="1"/>
          </p:cNvSpPr>
          <p:nvPr>
            <p:ph type="sldNum" sz="quarter" idx="12"/>
          </p:nvPr>
        </p:nvSpPr>
        <p:spPr/>
        <p:txBody>
          <a:bodyPr/>
          <a:lstStyle/>
          <a:p>
            <a:fld id="{C1FF6DA9-008F-8B48-92A6-B652298478BF}" type="slidenum">
              <a:rPr lang="en-US" smtClean="0"/>
              <a:t>4</a:t>
            </a:fld>
            <a:endParaRPr lang="en-US"/>
          </a:p>
        </p:txBody>
      </p:sp>
    </p:spTree>
    <p:extLst>
      <p:ext uri="{BB962C8B-B14F-4D97-AF65-F5344CB8AC3E}">
        <p14:creationId xmlns:p14="http://schemas.microsoft.com/office/powerpoint/2010/main" val="186423034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8619216" cy="1159200"/>
          </a:xfrm>
        </p:spPr>
        <p:txBody>
          <a:bodyPr vert="horz" lIns="91440" tIns="45720" rIns="91440" bIns="45720" rtlCol="0" anchor="ctr">
            <a:normAutofit/>
          </a:bodyPr>
          <a:lstStyle/>
          <a:p>
            <a:pPr defTabSz="914400">
              <a:lnSpc>
                <a:spcPct val="90000"/>
              </a:lnSpc>
              <a:defRPr sz="4400" b="1">
                <a:solidFill>
                  <a:srgbClr val="003366"/>
                </a:solidFill>
              </a:defRPr>
            </a:pPr>
            <a:r>
              <a:rPr lang="en-US" sz="3500" kern="1200" dirty="0">
                <a:solidFill>
                  <a:srgbClr val="FFFFFF"/>
                </a:solidFill>
                <a:latin typeface="+mj-lt"/>
                <a:ea typeface="+mj-ea"/>
                <a:cs typeface="+mj-cs"/>
              </a:rPr>
              <a:t>Provider Availability &amp; Access</a:t>
            </a:r>
          </a:p>
        </p:txBody>
      </p:sp>
      <p:pic>
        <p:nvPicPr>
          <p:cNvPr id="7" name="Picture 6" descr="A graph with different colored squares&#10;&#10;AI-generated content may be incorrect.">
            <a:extLst>
              <a:ext uri="{FF2B5EF4-FFF2-40B4-BE49-F238E27FC236}">
                <a16:creationId xmlns:a16="http://schemas.microsoft.com/office/drawing/2014/main" id="{9658C2FD-CB76-3D81-1E12-A6754C9579E1}"/>
              </a:ext>
            </a:extLst>
          </p:cNvPr>
          <p:cNvPicPr>
            <a:picLocks noChangeAspect="1"/>
          </p:cNvPicPr>
          <p:nvPr/>
        </p:nvPicPr>
        <p:blipFill>
          <a:blip r:embed="rId3"/>
          <a:stretch>
            <a:fillRect/>
          </a:stretch>
        </p:blipFill>
        <p:spPr>
          <a:xfrm>
            <a:off x="1010275" y="1966293"/>
            <a:ext cx="7123448" cy="4452160"/>
          </a:xfrm>
          <a:prstGeom prst="rect">
            <a:avLst/>
          </a:prstGeom>
        </p:spPr>
      </p:pic>
      <p:sp>
        <p:nvSpPr>
          <p:cNvPr id="5" name="Slide Number Placeholder 4">
            <a:extLst>
              <a:ext uri="{FF2B5EF4-FFF2-40B4-BE49-F238E27FC236}">
                <a16:creationId xmlns:a16="http://schemas.microsoft.com/office/drawing/2014/main" id="{E9B4E803-274B-87A6-1226-6D7B6FBA4A71}"/>
              </a:ext>
            </a:extLst>
          </p:cNvPr>
          <p:cNvSpPr>
            <a:spLocks noGrp="1"/>
          </p:cNvSpPr>
          <p:nvPr>
            <p:ph type="sldNum" sz="quarter" idx="12"/>
          </p:nvPr>
        </p:nvSpPr>
        <p:spPr>
          <a:xfrm>
            <a:off x="8778239" y="6455664"/>
            <a:ext cx="336042" cy="365125"/>
          </a:xfrm>
        </p:spPr>
        <p:txBody>
          <a:bodyPr vert="horz" lIns="91440" tIns="45720" rIns="91440" bIns="45720" rtlCol="0" anchor="ctr">
            <a:normAutofit/>
          </a:bodyPr>
          <a:lstStyle/>
          <a:p>
            <a:pPr defTabSz="914400">
              <a:spcAft>
                <a:spcPts val="600"/>
              </a:spcAft>
            </a:pPr>
            <a:fld id="{C1FF6DA9-008F-8B48-92A6-B652298478BF}" type="slidenum">
              <a:rPr lang="en-US" sz="1000">
                <a:solidFill>
                  <a:schemeClr val="tx1">
                    <a:lumMod val="50000"/>
                    <a:lumOff val="50000"/>
                  </a:schemeClr>
                </a:solidFill>
              </a:rPr>
              <a:pPr defTabSz="914400">
                <a:spcAft>
                  <a:spcPts val="600"/>
                </a:spcAft>
              </a:pPr>
              <a:t>5</a:t>
            </a:fld>
            <a:endParaRPr lang="en-US" sz="1000">
              <a:solidFill>
                <a:schemeClr val="tx1">
                  <a:lumMod val="50000"/>
                  <a:lumOff val="50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8295046" cy="1159200"/>
          </a:xfrm>
        </p:spPr>
        <p:txBody>
          <a:bodyPr vert="horz" lIns="91440" tIns="45720" rIns="91440" bIns="45720" rtlCol="0" anchor="ctr">
            <a:normAutofit/>
          </a:bodyPr>
          <a:lstStyle/>
          <a:p>
            <a:pPr defTabSz="914400">
              <a:lnSpc>
                <a:spcPct val="90000"/>
              </a:lnSpc>
              <a:defRPr sz="4400" b="1">
                <a:solidFill>
                  <a:srgbClr val="003366"/>
                </a:solidFill>
              </a:defRPr>
            </a:pPr>
            <a:r>
              <a:rPr lang="en-US" sz="3500" kern="1200" dirty="0">
                <a:solidFill>
                  <a:srgbClr val="FFFFFF"/>
                </a:solidFill>
                <a:latin typeface="+mj-lt"/>
                <a:ea typeface="+mj-ea"/>
                <a:cs typeface="+mj-cs"/>
              </a:rPr>
              <a:t>Services per Active Patient by Plan</a:t>
            </a:r>
          </a:p>
        </p:txBody>
      </p:sp>
      <p:sp>
        <p:nvSpPr>
          <p:cNvPr id="6" name="Slide Number Placeholder 5">
            <a:extLst>
              <a:ext uri="{FF2B5EF4-FFF2-40B4-BE49-F238E27FC236}">
                <a16:creationId xmlns:a16="http://schemas.microsoft.com/office/drawing/2014/main" id="{504E08DD-6DC3-2303-F3D4-BCD02F824180}"/>
              </a:ext>
            </a:extLst>
          </p:cNvPr>
          <p:cNvSpPr>
            <a:spLocks noGrp="1"/>
          </p:cNvSpPr>
          <p:nvPr>
            <p:ph type="sldNum" sz="quarter" idx="12"/>
          </p:nvPr>
        </p:nvSpPr>
        <p:spPr>
          <a:xfrm>
            <a:off x="8778239" y="6455664"/>
            <a:ext cx="336042" cy="365125"/>
          </a:xfrm>
        </p:spPr>
        <p:txBody>
          <a:bodyPr vert="horz" lIns="91440" tIns="45720" rIns="91440" bIns="45720" rtlCol="0" anchor="ctr">
            <a:normAutofit/>
          </a:bodyPr>
          <a:lstStyle/>
          <a:p>
            <a:pPr defTabSz="914400">
              <a:spcAft>
                <a:spcPts val="600"/>
              </a:spcAft>
            </a:pPr>
            <a:fld id="{C1FF6DA9-008F-8B48-92A6-B652298478BF}" type="slidenum">
              <a:rPr lang="en-US" sz="1000">
                <a:solidFill>
                  <a:schemeClr val="tx1">
                    <a:lumMod val="50000"/>
                    <a:lumOff val="50000"/>
                  </a:schemeClr>
                </a:solidFill>
              </a:rPr>
              <a:pPr defTabSz="914400">
                <a:spcAft>
                  <a:spcPts val="600"/>
                </a:spcAft>
              </a:pPr>
              <a:t>6</a:t>
            </a:fld>
            <a:endParaRPr lang="en-US" sz="1000">
              <a:solidFill>
                <a:schemeClr val="tx1">
                  <a:lumMod val="50000"/>
                  <a:lumOff val="50000"/>
                </a:schemeClr>
              </a:solidFill>
            </a:endParaRPr>
          </a:p>
        </p:txBody>
      </p:sp>
      <p:graphicFrame>
        <p:nvGraphicFramePr>
          <p:cNvPr id="9" name="Chart 8">
            <a:extLst>
              <a:ext uri="{FF2B5EF4-FFF2-40B4-BE49-F238E27FC236}">
                <a16:creationId xmlns:a16="http://schemas.microsoft.com/office/drawing/2014/main" id="{23F7CB20-9FC2-7ECF-82D7-65A228F31CA8}"/>
              </a:ext>
            </a:extLst>
          </p:cNvPr>
          <p:cNvGraphicFramePr>
            <a:graphicFrameLocks/>
          </p:cNvGraphicFramePr>
          <p:nvPr>
            <p:extLst>
              <p:ext uri="{D42A27DB-BD31-4B8C-83A1-F6EECF244321}">
                <p14:modId xmlns:p14="http://schemas.microsoft.com/office/powerpoint/2010/main" val="1365140832"/>
              </p:ext>
            </p:extLst>
          </p:nvPr>
        </p:nvGraphicFramePr>
        <p:xfrm>
          <a:off x="324168" y="1966293"/>
          <a:ext cx="8495662" cy="44521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4" name="Rectangle 2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92"/>
            <a:ext cx="9143999"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5"/>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8" y="-3783777"/>
            <a:ext cx="1576446" cy="9144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986"/>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5" y="353160"/>
            <a:ext cx="8253455" cy="898581"/>
          </a:xfrm>
        </p:spPr>
        <p:txBody>
          <a:bodyPr vert="horz" lIns="91440" tIns="45720" rIns="91440" bIns="45720" rtlCol="0" anchor="ctr">
            <a:normAutofit/>
          </a:bodyPr>
          <a:lstStyle/>
          <a:p>
            <a:pPr defTabSz="914400">
              <a:lnSpc>
                <a:spcPct val="90000"/>
              </a:lnSpc>
              <a:defRPr sz="4400" b="1">
                <a:solidFill>
                  <a:srgbClr val="003366"/>
                </a:solidFill>
              </a:defRPr>
            </a:pPr>
            <a:r>
              <a:rPr lang="en-US" sz="3500" dirty="0">
                <a:solidFill>
                  <a:srgbClr val="FFFFFF"/>
                </a:solidFill>
              </a:rPr>
              <a:t>Utilization Trends by State</a:t>
            </a:r>
          </a:p>
        </p:txBody>
      </p:sp>
      <p:sp>
        <p:nvSpPr>
          <p:cNvPr id="6" name="Slide Number Placeholder 5">
            <a:extLst>
              <a:ext uri="{FF2B5EF4-FFF2-40B4-BE49-F238E27FC236}">
                <a16:creationId xmlns:a16="http://schemas.microsoft.com/office/drawing/2014/main" id="{E6413CAF-5A49-68FE-1DBB-2EC669CEBB6D}"/>
              </a:ext>
            </a:extLst>
          </p:cNvPr>
          <p:cNvSpPr>
            <a:spLocks noGrp="1"/>
          </p:cNvSpPr>
          <p:nvPr>
            <p:ph type="sldNum" sz="quarter" idx="12"/>
          </p:nvPr>
        </p:nvSpPr>
        <p:spPr>
          <a:xfrm>
            <a:off x="8778240" y="6431079"/>
            <a:ext cx="336042" cy="365125"/>
          </a:xfrm>
        </p:spPr>
        <p:txBody>
          <a:bodyPr vert="horz" lIns="91440" tIns="45720" rIns="91440" bIns="45720" rtlCol="0" anchor="ctr">
            <a:normAutofit/>
          </a:bodyPr>
          <a:lstStyle/>
          <a:p>
            <a:pPr defTabSz="914400">
              <a:spcAft>
                <a:spcPts val="600"/>
              </a:spcAft>
            </a:pPr>
            <a:fld id="{C1FF6DA9-008F-8B48-92A6-B652298478BF}" type="slidenum">
              <a:rPr lang="en-US" sz="1000">
                <a:solidFill>
                  <a:schemeClr val="tx1">
                    <a:lumMod val="50000"/>
                    <a:lumOff val="50000"/>
                  </a:schemeClr>
                </a:solidFill>
              </a:rPr>
              <a:pPr defTabSz="914400">
                <a:spcAft>
                  <a:spcPts val="600"/>
                </a:spcAft>
              </a:pPr>
              <a:t>7</a:t>
            </a:fld>
            <a:endParaRPr lang="en-US" sz="1000">
              <a:solidFill>
                <a:schemeClr val="tx1">
                  <a:lumMod val="50000"/>
                  <a:lumOff val="50000"/>
                </a:schemeClr>
              </a:solidFill>
            </a:endParaRPr>
          </a:p>
        </p:txBody>
      </p:sp>
      <p:graphicFrame>
        <p:nvGraphicFramePr>
          <p:cNvPr id="7" name="Chart 6">
            <a:extLst>
              <a:ext uri="{FF2B5EF4-FFF2-40B4-BE49-F238E27FC236}">
                <a16:creationId xmlns:a16="http://schemas.microsoft.com/office/drawing/2014/main" id="{57EB38A5-F8FD-4F8B-B477-0B742EF73805}"/>
              </a:ext>
            </a:extLst>
          </p:cNvPr>
          <p:cNvGraphicFramePr>
            <a:graphicFrameLocks/>
          </p:cNvGraphicFramePr>
          <p:nvPr>
            <p:extLst>
              <p:ext uri="{D42A27DB-BD31-4B8C-83A1-F6EECF244321}">
                <p14:modId xmlns:p14="http://schemas.microsoft.com/office/powerpoint/2010/main" val="762817502"/>
              </p:ext>
            </p:extLst>
          </p:nvPr>
        </p:nvGraphicFramePr>
        <p:xfrm>
          <a:off x="199698" y="1481959"/>
          <a:ext cx="8548824" cy="517108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8589497" cy="1159200"/>
          </a:xfrm>
        </p:spPr>
        <p:txBody>
          <a:bodyPr vert="horz" lIns="91440" tIns="45720" rIns="91440" bIns="45720" rtlCol="0" anchor="ctr">
            <a:normAutofit/>
          </a:bodyPr>
          <a:lstStyle/>
          <a:p>
            <a:pPr defTabSz="914400">
              <a:lnSpc>
                <a:spcPct val="90000"/>
              </a:lnSpc>
              <a:defRPr sz="4400" b="1">
                <a:solidFill>
                  <a:srgbClr val="003366"/>
                </a:solidFill>
              </a:defRPr>
            </a:pPr>
            <a:r>
              <a:rPr lang="en-US" sz="3500" kern="1200" dirty="0">
                <a:solidFill>
                  <a:srgbClr val="FFFFFF"/>
                </a:solidFill>
                <a:latin typeface="+mj-lt"/>
                <a:ea typeface="+mj-ea"/>
                <a:cs typeface="+mj-cs"/>
              </a:rPr>
              <a:t>Medicare Payments vs. Charges</a:t>
            </a:r>
          </a:p>
        </p:txBody>
      </p:sp>
      <p:sp>
        <p:nvSpPr>
          <p:cNvPr id="5" name="Slide Number Placeholder 4">
            <a:extLst>
              <a:ext uri="{FF2B5EF4-FFF2-40B4-BE49-F238E27FC236}">
                <a16:creationId xmlns:a16="http://schemas.microsoft.com/office/drawing/2014/main" id="{CB3263C5-72DF-03A9-B046-EF6546842961}"/>
              </a:ext>
            </a:extLst>
          </p:cNvPr>
          <p:cNvSpPr>
            <a:spLocks noGrp="1"/>
          </p:cNvSpPr>
          <p:nvPr>
            <p:ph type="sldNum" sz="quarter" idx="12"/>
          </p:nvPr>
        </p:nvSpPr>
        <p:spPr>
          <a:xfrm>
            <a:off x="8778239" y="6455664"/>
            <a:ext cx="336042" cy="365125"/>
          </a:xfrm>
        </p:spPr>
        <p:txBody>
          <a:bodyPr vert="horz" lIns="91440" tIns="45720" rIns="91440" bIns="45720" rtlCol="0" anchor="ctr">
            <a:normAutofit/>
          </a:bodyPr>
          <a:lstStyle/>
          <a:p>
            <a:pPr defTabSz="914400">
              <a:spcAft>
                <a:spcPts val="600"/>
              </a:spcAft>
            </a:pPr>
            <a:fld id="{C1FF6DA9-008F-8B48-92A6-B652298478BF}" type="slidenum">
              <a:rPr lang="en-US" sz="1000">
                <a:solidFill>
                  <a:schemeClr val="tx1">
                    <a:lumMod val="50000"/>
                    <a:lumOff val="50000"/>
                  </a:schemeClr>
                </a:solidFill>
              </a:rPr>
              <a:pPr defTabSz="914400">
                <a:spcAft>
                  <a:spcPts val="600"/>
                </a:spcAft>
              </a:pPr>
              <a:t>8</a:t>
            </a:fld>
            <a:endParaRPr lang="en-US" sz="1000">
              <a:solidFill>
                <a:schemeClr val="tx1">
                  <a:lumMod val="50000"/>
                  <a:lumOff val="50000"/>
                </a:schemeClr>
              </a:solidFill>
            </a:endParaRPr>
          </a:p>
        </p:txBody>
      </p:sp>
      <p:graphicFrame>
        <p:nvGraphicFramePr>
          <p:cNvPr id="6" name="Chart 5">
            <a:extLst>
              <a:ext uri="{FF2B5EF4-FFF2-40B4-BE49-F238E27FC236}">
                <a16:creationId xmlns:a16="http://schemas.microsoft.com/office/drawing/2014/main" id="{31000FA9-E90E-1D33-DEDC-B36D4FC74500}"/>
              </a:ext>
            </a:extLst>
          </p:cNvPr>
          <p:cNvGraphicFramePr>
            <a:graphicFrameLocks/>
          </p:cNvGraphicFramePr>
          <p:nvPr>
            <p:extLst>
              <p:ext uri="{D42A27DB-BD31-4B8C-83A1-F6EECF244321}">
                <p14:modId xmlns:p14="http://schemas.microsoft.com/office/powerpoint/2010/main" val="146634052"/>
              </p:ext>
            </p:extLst>
          </p:nvPr>
        </p:nvGraphicFramePr>
        <p:xfrm>
          <a:off x="324168" y="1966293"/>
          <a:ext cx="8495662" cy="44521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8589497" cy="1159200"/>
          </a:xfrm>
        </p:spPr>
        <p:txBody>
          <a:bodyPr vert="horz" lIns="91440" tIns="45720" rIns="91440" bIns="45720" rtlCol="0" anchor="ctr">
            <a:normAutofit/>
          </a:bodyPr>
          <a:lstStyle/>
          <a:p>
            <a:pPr defTabSz="914400">
              <a:lnSpc>
                <a:spcPct val="90000"/>
              </a:lnSpc>
              <a:defRPr sz="4400" b="1">
                <a:solidFill>
                  <a:srgbClr val="003366"/>
                </a:solidFill>
              </a:defRPr>
            </a:pPr>
            <a:r>
              <a:rPr lang="en-US" sz="3500" kern="1200" dirty="0">
                <a:solidFill>
                  <a:srgbClr val="FFFFFF"/>
                </a:solidFill>
                <a:latin typeface="+mj-lt"/>
                <a:ea typeface="+mj-ea"/>
                <a:cs typeface="+mj-cs"/>
              </a:rPr>
              <a:t>High-Volume DRGs &amp; Discharges</a:t>
            </a:r>
          </a:p>
        </p:txBody>
      </p:sp>
      <p:sp>
        <p:nvSpPr>
          <p:cNvPr id="5" name="Slide Number Placeholder 4">
            <a:extLst>
              <a:ext uri="{FF2B5EF4-FFF2-40B4-BE49-F238E27FC236}">
                <a16:creationId xmlns:a16="http://schemas.microsoft.com/office/drawing/2014/main" id="{454F9C3F-D06A-EA5E-4EAB-681512684AF5}"/>
              </a:ext>
            </a:extLst>
          </p:cNvPr>
          <p:cNvSpPr>
            <a:spLocks noGrp="1"/>
          </p:cNvSpPr>
          <p:nvPr>
            <p:ph type="sldNum" sz="quarter" idx="12"/>
          </p:nvPr>
        </p:nvSpPr>
        <p:spPr>
          <a:xfrm>
            <a:off x="8778239" y="6455664"/>
            <a:ext cx="336042" cy="365125"/>
          </a:xfrm>
        </p:spPr>
        <p:txBody>
          <a:bodyPr vert="horz" lIns="91440" tIns="45720" rIns="91440" bIns="45720" rtlCol="0" anchor="ctr">
            <a:normAutofit/>
          </a:bodyPr>
          <a:lstStyle/>
          <a:p>
            <a:pPr defTabSz="914400">
              <a:spcAft>
                <a:spcPts val="600"/>
              </a:spcAft>
            </a:pPr>
            <a:fld id="{C1FF6DA9-008F-8B48-92A6-B652298478BF}" type="slidenum">
              <a:rPr lang="en-US" sz="1000">
                <a:solidFill>
                  <a:schemeClr val="tx1">
                    <a:lumMod val="50000"/>
                    <a:lumOff val="50000"/>
                  </a:schemeClr>
                </a:solidFill>
              </a:rPr>
              <a:pPr defTabSz="914400">
                <a:spcAft>
                  <a:spcPts val="600"/>
                </a:spcAft>
              </a:pPr>
              <a:t>9</a:t>
            </a:fld>
            <a:endParaRPr lang="en-US" sz="1000">
              <a:solidFill>
                <a:schemeClr val="tx1">
                  <a:lumMod val="50000"/>
                  <a:lumOff val="50000"/>
                </a:schemeClr>
              </a:solidFill>
            </a:endParaRPr>
          </a:p>
        </p:txBody>
      </p:sp>
      <p:graphicFrame>
        <p:nvGraphicFramePr>
          <p:cNvPr id="6" name="Chart 5">
            <a:extLst>
              <a:ext uri="{FF2B5EF4-FFF2-40B4-BE49-F238E27FC236}">
                <a16:creationId xmlns:a16="http://schemas.microsoft.com/office/drawing/2014/main" id="{09EA3936-FB36-29C0-C054-6FC7E9F5C5FF}"/>
              </a:ext>
            </a:extLst>
          </p:cNvPr>
          <p:cNvGraphicFramePr>
            <a:graphicFrameLocks/>
          </p:cNvGraphicFramePr>
          <p:nvPr>
            <p:extLst>
              <p:ext uri="{D42A27DB-BD31-4B8C-83A1-F6EECF244321}">
                <p14:modId xmlns:p14="http://schemas.microsoft.com/office/powerpoint/2010/main" val="4102132909"/>
              </p:ext>
            </p:extLst>
          </p:nvPr>
        </p:nvGraphicFramePr>
        <p:xfrm>
          <a:off x="324168" y="1966293"/>
          <a:ext cx="8495662" cy="44521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8619215" cy="1159200"/>
          </a:xfrm>
        </p:spPr>
        <p:txBody>
          <a:bodyPr vert="horz" lIns="91440" tIns="45720" rIns="91440" bIns="45720" rtlCol="0" anchor="ctr">
            <a:normAutofit/>
          </a:bodyPr>
          <a:lstStyle/>
          <a:p>
            <a:pPr defTabSz="914400">
              <a:lnSpc>
                <a:spcPct val="90000"/>
              </a:lnSpc>
              <a:defRPr sz="4400" b="1">
                <a:solidFill>
                  <a:srgbClr val="003366"/>
                </a:solidFill>
              </a:defRPr>
            </a:pPr>
            <a:r>
              <a:rPr lang="en-US" sz="3500" kern="1200">
                <a:solidFill>
                  <a:srgbClr val="FFFFFF"/>
                </a:solidFill>
                <a:latin typeface="+mj-lt"/>
                <a:ea typeface="+mj-ea"/>
                <a:cs typeface="+mj-cs"/>
              </a:rPr>
              <a:t>Urban vs. Rural Disparities</a:t>
            </a:r>
            <a:endParaRPr lang="en-US" sz="3500" kern="1200" dirty="0">
              <a:solidFill>
                <a:srgbClr val="FFFFFF"/>
              </a:solidFill>
              <a:latin typeface="+mj-lt"/>
              <a:ea typeface="+mj-ea"/>
              <a:cs typeface="+mj-cs"/>
            </a:endParaRPr>
          </a:p>
        </p:txBody>
      </p:sp>
      <p:sp>
        <p:nvSpPr>
          <p:cNvPr id="5" name="Slide Number Placeholder 4">
            <a:extLst>
              <a:ext uri="{FF2B5EF4-FFF2-40B4-BE49-F238E27FC236}">
                <a16:creationId xmlns:a16="http://schemas.microsoft.com/office/drawing/2014/main" id="{86BE9D74-47C6-024A-7D47-55AACCB1EB92}"/>
              </a:ext>
            </a:extLst>
          </p:cNvPr>
          <p:cNvSpPr>
            <a:spLocks noGrp="1"/>
          </p:cNvSpPr>
          <p:nvPr>
            <p:ph type="sldNum" sz="quarter" idx="12"/>
          </p:nvPr>
        </p:nvSpPr>
        <p:spPr>
          <a:xfrm>
            <a:off x="8778239" y="6455664"/>
            <a:ext cx="336042" cy="365125"/>
          </a:xfrm>
        </p:spPr>
        <p:txBody>
          <a:bodyPr vert="horz" lIns="91440" tIns="45720" rIns="91440" bIns="45720" rtlCol="0" anchor="ctr">
            <a:normAutofit/>
          </a:bodyPr>
          <a:lstStyle/>
          <a:p>
            <a:pPr defTabSz="914400">
              <a:spcAft>
                <a:spcPts val="600"/>
              </a:spcAft>
            </a:pPr>
            <a:fld id="{C1FF6DA9-008F-8B48-92A6-B652298478BF}" type="slidenum">
              <a:rPr lang="en-US" sz="1000">
                <a:solidFill>
                  <a:schemeClr val="tx1">
                    <a:lumMod val="50000"/>
                    <a:lumOff val="50000"/>
                  </a:schemeClr>
                </a:solidFill>
              </a:rPr>
              <a:pPr defTabSz="914400">
                <a:spcAft>
                  <a:spcPts val="600"/>
                </a:spcAft>
              </a:pPr>
              <a:t>10</a:t>
            </a:fld>
            <a:endParaRPr lang="en-US" sz="1000">
              <a:solidFill>
                <a:schemeClr val="tx1">
                  <a:lumMod val="50000"/>
                  <a:lumOff val="50000"/>
                </a:schemeClr>
              </a:solidFill>
            </a:endParaRPr>
          </a:p>
        </p:txBody>
      </p:sp>
      <p:graphicFrame>
        <p:nvGraphicFramePr>
          <p:cNvPr id="14" name="Chart 13">
            <a:extLst>
              <a:ext uri="{FF2B5EF4-FFF2-40B4-BE49-F238E27FC236}">
                <a16:creationId xmlns:a16="http://schemas.microsoft.com/office/drawing/2014/main" id="{5FFDB07B-F440-B2E5-9775-9D425AA18354}"/>
              </a:ext>
            </a:extLst>
          </p:cNvPr>
          <p:cNvGraphicFramePr>
            <a:graphicFrameLocks/>
          </p:cNvGraphicFramePr>
          <p:nvPr>
            <p:extLst>
              <p:ext uri="{D42A27DB-BD31-4B8C-83A1-F6EECF244321}">
                <p14:modId xmlns:p14="http://schemas.microsoft.com/office/powerpoint/2010/main" val="2690956505"/>
              </p:ext>
            </p:extLst>
          </p:nvPr>
        </p:nvGraphicFramePr>
        <p:xfrm>
          <a:off x="324168" y="1966293"/>
          <a:ext cx="8495662" cy="44521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pPr>
              <a:defRPr sz="4400" b="1">
                <a:solidFill>
                  <a:srgbClr val="003366"/>
                </a:solidFill>
              </a:defRPr>
            </a:pPr>
            <a:r>
              <a:rPr lang="en-US" sz="3500">
                <a:solidFill>
                  <a:srgbClr val="FFFFFF"/>
                </a:solidFill>
              </a:rPr>
              <a:t>Hypotheses Outcomes</a:t>
            </a:r>
            <a:endParaRPr lang="en-US" sz="3500" dirty="0">
              <a:solidFill>
                <a:srgbClr val="FFFFFF"/>
              </a:solidFill>
            </a:endParaRPr>
          </a:p>
        </p:txBody>
      </p:sp>
      <p:sp>
        <p:nvSpPr>
          <p:cNvPr id="5" name="Slide Number Placeholder 4">
            <a:extLst>
              <a:ext uri="{FF2B5EF4-FFF2-40B4-BE49-F238E27FC236}">
                <a16:creationId xmlns:a16="http://schemas.microsoft.com/office/drawing/2014/main" id="{6BD65515-19CC-BA9C-3740-788E88CD9679}"/>
              </a:ext>
            </a:extLst>
          </p:cNvPr>
          <p:cNvSpPr>
            <a:spLocks noGrp="1"/>
          </p:cNvSpPr>
          <p:nvPr>
            <p:ph type="sldNum" sz="quarter" idx="12"/>
          </p:nvPr>
        </p:nvSpPr>
        <p:spPr>
          <a:xfrm>
            <a:off x="8778240" y="6455664"/>
            <a:ext cx="336042" cy="365125"/>
          </a:xfrm>
        </p:spPr>
        <p:txBody>
          <a:bodyPr>
            <a:normAutofit/>
          </a:bodyPr>
          <a:lstStyle/>
          <a:p>
            <a:pPr>
              <a:spcAft>
                <a:spcPts val="600"/>
              </a:spcAft>
            </a:pPr>
            <a:fld id="{C1FF6DA9-008F-8B48-92A6-B652298478BF}" type="slidenum">
              <a:rPr lang="en-US" sz="1000" smtClean="0">
                <a:solidFill>
                  <a:schemeClr val="tx1">
                    <a:lumMod val="50000"/>
                    <a:lumOff val="50000"/>
                  </a:schemeClr>
                </a:solidFill>
              </a:rPr>
              <a:pPr>
                <a:spcAft>
                  <a:spcPts val="600"/>
                </a:spcAft>
              </a:pPr>
              <a:t>11</a:t>
            </a:fld>
            <a:endParaRPr lang="en-US" sz="10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AF89395F-210A-5E49-0594-EEBD62D45EC9}"/>
              </a:ext>
            </a:extLst>
          </p:cNvPr>
          <p:cNvGraphicFramePr>
            <a:graphicFrameLocks/>
          </p:cNvGraphicFramePr>
          <p:nvPr>
            <p:extLst>
              <p:ext uri="{D42A27DB-BD31-4B8C-83A1-F6EECF244321}">
                <p14:modId xmlns:p14="http://schemas.microsoft.com/office/powerpoint/2010/main" val="4263301730"/>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wheel spokes="1"/>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vert="horz" lIns="91440" tIns="45720" rIns="91440" bIns="45720" rtlCol="0" anchor="ctr">
            <a:normAutofit/>
          </a:bodyPr>
          <a:lstStyle/>
          <a:p>
            <a:pPr defTabSz="914400">
              <a:lnSpc>
                <a:spcPct val="90000"/>
              </a:lnSpc>
              <a:defRPr sz="4400" b="1">
                <a:solidFill>
                  <a:srgbClr val="003366"/>
                </a:solidFill>
              </a:defRPr>
            </a:pPr>
            <a:r>
              <a:rPr lang="en-US" sz="3500" kern="1200" dirty="0">
                <a:solidFill>
                  <a:srgbClr val="FFFFFF"/>
                </a:solidFill>
                <a:latin typeface="+mj-lt"/>
                <a:ea typeface="+mj-ea"/>
                <a:cs typeface="+mj-cs"/>
              </a:rPr>
              <a:t>Conclusion &amp; Implications</a:t>
            </a:r>
          </a:p>
        </p:txBody>
      </p:sp>
      <p:sp>
        <p:nvSpPr>
          <p:cNvPr id="5" name="Slide Number Placeholder 4">
            <a:extLst>
              <a:ext uri="{FF2B5EF4-FFF2-40B4-BE49-F238E27FC236}">
                <a16:creationId xmlns:a16="http://schemas.microsoft.com/office/drawing/2014/main" id="{C2A7D843-8EF0-186D-337A-97E4892318DA}"/>
              </a:ext>
            </a:extLst>
          </p:cNvPr>
          <p:cNvSpPr>
            <a:spLocks noGrp="1"/>
          </p:cNvSpPr>
          <p:nvPr>
            <p:ph type="sldNum" sz="quarter" idx="12"/>
          </p:nvPr>
        </p:nvSpPr>
        <p:spPr>
          <a:xfrm>
            <a:off x="8778240" y="6455664"/>
            <a:ext cx="336042" cy="365125"/>
          </a:xfrm>
        </p:spPr>
        <p:txBody>
          <a:bodyPr vert="horz" lIns="91440" tIns="45720" rIns="91440" bIns="45720" rtlCol="0" anchor="ctr">
            <a:normAutofit/>
          </a:bodyPr>
          <a:lstStyle/>
          <a:p>
            <a:pPr defTabSz="914400">
              <a:spcAft>
                <a:spcPts val="600"/>
              </a:spcAft>
            </a:pPr>
            <a:fld id="{C1FF6DA9-008F-8B48-92A6-B652298478BF}" type="slidenum">
              <a:rPr lang="en-US" sz="1000" smtClean="0">
                <a:solidFill>
                  <a:schemeClr val="tx1">
                    <a:lumMod val="50000"/>
                    <a:lumOff val="50000"/>
                  </a:schemeClr>
                </a:solidFill>
              </a:rPr>
              <a:pPr defTabSz="914400">
                <a:spcAft>
                  <a:spcPts val="600"/>
                </a:spcAft>
              </a:pPr>
              <a:t>12</a:t>
            </a:fld>
            <a:endParaRPr lang="en-US" sz="1000">
              <a:solidFill>
                <a:schemeClr val="tx1">
                  <a:lumMod val="50000"/>
                  <a:lumOff val="50000"/>
                </a:schemeClr>
              </a:solidFill>
            </a:endParaRPr>
          </a:p>
        </p:txBody>
      </p:sp>
      <p:graphicFrame>
        <p:nvGraphicFramePr>
          <p:cNvPr id="46" name="TextBox 17">
            <a:extLst>
              <a:ext uri="{FF2B5EF4-FFF2-40B4-BE49-F238E27FC236}">
                <a16:creationId xmlns:a16="http://schemas.microsoft.com/office/drawing/2014/main" id="{E261572C-723B-C54B-EE3B-7ED6CA3D1117}"/>
              </a:ext>
            </a:extLst>
          </p:cNvPr>
          <p:cNvGraphicFramePr/>
          <p:nvPr>
            <p:extLst>
              <p:ext uri="{D42A27DB-BD31-4B8C-83A1-F6EECF244321}">
                <p14:modId xmlns:p14="http://schemas.microsoft.com/office/powerpoint/2010/main" val="167329505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1D12E1-6D02-6D7B-8EE1-95A4801F9D81}"/>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Rectangle 3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Rectangle 4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745107-37E1-D468-A3E9-7EA5B40DAA7D}"/>
              </a:ext>
            </a:extLst>
          </p:cNvPr>
          <p:cNvSpPr>
            <a:spLocks noGrp="1"/>
          </p:cNvSpPr>
          <p:nvPr>
            <p:ph type="title"/>
          </p:nvPr>
        </p:nvSpPr>
        <p:spPr>
          <a:xfrm>
            <a:off x="147145" y="586855"/>
            <a:ext cx="2406869" cy="2842145"/>
          </a:xfrm>
        </p:spPr>
        <p:txBody>
          <a:bodyPr anchor="b">
            <a:normAutofit/>
          </a:bodyPr>
          <a:lstStyle/>
          <a:p>
            <a:pPr algn="r">
              <a:defRPr sz="4400" b="1">
                <a:solidFill>
                  <a:srgbClr val="003366"/>
                </a:solidFill>
              </a:defRPr>
            </a:pPr>
            <a:r>
              <a:rPr lang="en-US" sz="3500" dirty="0">
                <a:solidFill>
                  <a:srgbClr val="FFFFFF"/>
                </a:solidFill>
              </a:rPr>
              <a:t>References</a:t>
            </a:r>
          </a:p>
        </p:txBody>
      </p:sp>
      <p:sp>
        <p:nvSpPr>
          <p:cNvPr id="9" name="Content Placeholder 8">
            <a:extLst>
              <a:ext uri="{FF2B5EF4-FFF2-40B4-BE49-F238E27FC236}">
                <a16:creationId xmlns:a16="http://schemas.microsoft.com/office/drawing/2014/main" id="{1A9D6D98-8B30-ADB4-DD39-EAF31D8D6568}"/>
              </a:ext>
            </a:extLst>
          </p:cNvPr>
          <p:cNvSpPr>
            <a:spLocks noGrp="1"/>
          </p:cNvSpPr>
          <p:nvPr>
            <p:ph idx="1"/>
          </p:nvPr>
        </p:nvSpPr>
        <p:spPr>
          <a:xfrm>
            <a:off x="3164295" y="402336"/>
            <a:ext cx="5562041" cy="6418453"/>
          </a:xfrm>
        </p:spPr>
        <p:txBody>
          <a:bodyPr anchor="ctr">
            <a:normAutofit lnSpcReduction="10000"/>
          </a:bodyPr>
          <a:lstStyle/>
          <a:p>
            <a:pPr marL="0" indent="0">
              <a:lnSpc>
                <a:spcPct val="90000"/>
              </a:lnSpc>
              <a:buNone/>
            </a:pPr>
            <a:r>
              <a:rPr lang="en-US" sz="1100" i="1" dirty="0"/>
              <a:t>Zhou, R. A., Beaulieu, N. D., &amp; Cutler, D. (2020). Primary care quality and cost for privately insured patients in and out of US Health Systems: Evidence from four states. Health Services Research, 55(Suppl S3), 1098–1106.</a:t>
            </a:r>
            <a:endParaRPr lang="en-US" sz="1100" dirty="0"/>
          </a:p>
          <a:p>
            <a:pPr marL="0" indent="0">
              <a:lnSpc>
                <a:spcPct val="90000"/>
              </a:lnSpc>
              <a:buNone/>
            </a:pPr>
            <a:r>
              <a:rPr lang="en-US" sz="1100" i="1" dirty="0"/>
              <a:t> </a:t>
            </a:r>
            <a:endParaRPr lang="en-US" sz="1100" dirty="0"/>
          </a:p>
          <a:p>
            <a:pPr marL="0" indent="0">
              <a:lnSpc>
                <a:spcPct val="90000"/>
              </a:lnSpc>
              <a:buNone/>
            </a:pPr>
            <a:r>
              <a:rPr lang="en-US" sz="1100" i="1" dirty="0"/>
              <a:t>Lin, S. C., Funk, R. J., Ryan, A. M., Joynt Maddox, K. E., &amp; Hollingsworth, J. M. (2024). Bundled payments lead to quality improvements in hospitals' skilled nursing facility referral networks. American Journal of Managed Care, 30(6), e184–e190.</a:t>
            </a:r>
            <a:endParaRPr lang="en-US" sz="1100" dirty="0"/>
          </a:p>
          <a:p>
            <a:pPr marL="0" indent="0">
              <a:lnSpc>
                <a:spcPct val="90000"/>
              </a:lnSpc>
              <a:buNone/>
            </a:pPr>
            <a:r>
              <a:rPr lang="en-US" sz="1100" i="1" dirty="0"/>
              <a:t> </a:t>
            </a:r>
            <a:endParaRPr lang="en-US" sz="1100" dirty="0"/>
          </a:p>
          <a:p>
            <a:pPr marL="0" indent="0">
              <a:lnSpc>
                <a:spcPct val="90000"/>
              </a:lnSpc>
              <a:buNone/>
            </a:pPr>
            <a:r>
              <a:rPr lang="en-US" sz="1100" i="1" dirty="0"/>
              <a:t>Chen, A. C., Grabowski, D. C., &amp; Trish, E. (2025). Medical loss ratios’ role in the large group insurer market. American Journal of Managed Care, 31(1), 33–36.</a:t>
            </a:r>
            <a:endParaRPr lang="en-US" sz="1100" dirty="0"/>
          </a:p>
          <a:p>
            <a:pPr marL="0" indent="0">
              <a:lnSpc>
                <a:spcPct val="90000"/>
              </a:lnSpc>
              <a:buNone/>
            </a:pPr>
            <a:r>
              <a:rPr lang="en-US" sz="1100" i="1" dirty="0"/>
              <a:t> </a:t>
            </a:r>
            <a:endParaRPr lang="en-US" sz="1100" dirty="0"/>
          </a:p>
          <a:p>
            <a:pPr marL="0" indent="0">
              <a:lnSpc>
                <a:spcPct val="90000"/>
              </a:lnSpc>
              <a:buNone/>
            </a:pPr>
            <a:r>
              <a:rPr lang="en-US" sz="1100" i="1" dirty="0"/>
              <a:t>Mallow, P. J., Belk, K. W., Topmiller, M., &amp; </a:t>
            </a:r>
            <a:r>
              <a:rPr lang="en-US" sz="1100" i="1" dirty="0" err="1"/>
              <a:t>Strassels</a:t>
            </a:r>
            <a:r>
              <a:rPr lang="en-US" sz="1100" i="1" dirty="0"/>
              <a:t>, S. A. (2018). Geographic variation in hospital costs, payments, and length of stay for opioid-related hospital visits in the USA. Journal of Pain Research, 11, 3079–3088.</a:t>
            </a:r>
            <a:endParaRPr lang="en-US" sz="1100" dirty="0"/>
          </a:p>
          <a:p>
            <a:pPr marL="0" indent="0">
              <a:lnSpc>
                <a:spcPct val="90000"/>
              </a:lnSpc>
              <a:buNone/>
            </a:pPr>
            <a:r>
              <a:rPr lang="en-US" sz="1100" i="1" dirty="0"/>
              <a:t> </a:t>
            </a:r>
            <a:endParaRPr lang="en-US" sz="1100" dirty="0"/>
          </a:p>
          <a:p>
            <a:pPr marL="0" indent="0">
              <a:lnSpc>
                <a:spcPct val="90000"/>
              </a:lnSpc>
              <a:buNone/>
            </a:pPr>
            <a:r>
              <a:rPr lang="en-US" sz="1100" i="1" dirty="0"/>
              <a:t>Holt, J. B., Zhang, X., Presley-Cantrell, L., &amp; Croft, J. B. (2011). Geographic disparities in chronic obstructive pulmonary disease (COPD) hospitalization among Medicare beneficiaries in the United States. International Journal of Chronic Obstructive Pulmonary Disease, 6, 321–328.</a:t>
            </a:r>
            <a:endParaRPr lang="en-US" sz="1100" dirty="0"/>
          </a:p>
          <a:p>
            <a:pPr marL="0" indent="0">
              <a:lnSpc>
                <a:spcPct val="90000"/>
              </a:lnSpc>
              <a:buNone/>
            </a:pPr>
            <a:r>
              <a:rPr lang="en-US" sz="1100" i="1" dirty="0"/>
              <a:t> </a:t>
            </a:r>
            <a:endParaRPr lang="en-US" sz="1100" dirty="0"/>
          </a:p>
          <a:p>
            <a:pPr marL="0" indent="0">
              <a:lnSpc>
                <a:spcPct val="90000"/>
              </a:lnSpc>
              <a:buNone/>
            </a:pPr>
            <a:r>
              <a:rPr lang="en-US" sz="1100" i="1" dirty="0"/>
              <a:t>Neyman, J., &amp; Pearson, E. S. (1933). On the problem of the most efficient tests of statistical hypotheses. Philosophical Transactions of the Royal Society of London. Series A, Containing Papers of a Mathematical or Physical Character, 231, 289–337.</a:t>
            </a:r>
            <a:endParaRPr lang="en-US" sz="1100" dirty="0"/>
          </a:p>
          <a:p>
            <a:pPr marL="0" indent="0">
              <a:lnSpc>
                <a:spcPct val="90000"/>
              </a:lnSpc>
              <a:buNone/>
            </a:pPr>
            <a:r>
              <a:rPr lang="en-US" sz="1100" i="1" dirty="0"/>
              <a:t> </a:t>
            </a:r>
            <a:endParaRPr lang="en-US" sz="1100" dirty="0"/>
          </a:p>
          <a:p>
            <a:pPr marL="0" indent="0">
              <a:lnSpc>
                <a:spcPct val="90000"/>
              </a:lnSpc>
              <a:buNone/>
            </a:pPr>
            <a:r>
              <a:rPr lang="en-US" sz="1100" i="1" dirty="0"/>
              <a:t>Shmueli, G., Bruce, P. C., &amp; Patel, N. R. (2016). Data mining for business analytics: Concepts, techniques, and applications with </a:t>
            </a:r>
            <a:r>
              <a:rPr lang="en-US" sz="1100" i="1" dirty="0" err="1"/>
              <a:t>XLMiner</a:t>
            </a:r>
            <a:r>
              <a:rPr lang="en-US" sz="1100" i="1" dirty="0"/>
              <a:t> (3rd ed.). Wiley.</a:t>
            </a:r>
            <a:endParaRPr lang="en-US" sz="1100" dirty="0"/>
          </a:p>
          <a:p>
            <a:pPr marL="0" indent="0">
              <a:lnSpc>
                <a:spcPct val="90000"/>
              </a:lnSpc>
              <a:buNone/>
            </a:pPr>
            <a:r>
              <a:rPr lang="en-US" sz="1100" i="1" dirty="0"/>
              <a:t> </a:t>
            </a:r>
            <a:endParaRPr lang="en-US" sz="1100" dirty="0"/>
          </a:p>
          <a:p>
            <a:pPr marL="0" indent="0">
              <a:lnSpc>
                <a:spcPct val="90000"/>
              </a:lnSpc>
              <a:buNone/>
            </a:pPr>
            <a:r>
              <a:rPr lang="en-US" sz="1100" i="1" dirty="0"/>
              <a:t>Cooper, Z., Stiegman, O., </a:t>
            </a:r>
            <a:r>
              <a:rPr lang="en-US" sz="1100" i="1" dirty="0" err="1"/>
              <a:t>Ndumele</a:t>
            </a:r>
            <a:r>
              <a:rPr lang="en-US" sz="1100" i="1" dirty="0"/>
              <a:t>, C. D., et al. (2019). Geographical variation in health spending across the US among privately insured individuals and enrollees in Medicaid and Medicare. Health Affairs, 38(2), 189–199.</a:t>
            </a:r>
            <a:endParaRPr lang="en-US" sz="1100" dirty="0"/>
          </a:p>
          <a:p>
            <a:pPr marL="0" indent="0">
              <a:lnSpc>
                <a:spcPct val="90000"/>
              </a:lnSpc>
              <a:buNone/>
            </a:pPr>
            <a:r>
              <a:rPr lang="en-US" sz="1100" i="1" dirty="0"/>
              <a:t> </a:t>
            </a:r>
            <a:endParaRPr lang="en-US" sz="1100" dirty="0"/>
          </a:p>
          <a:p>
            <a:pPr marL="0" indent="0">
              <a:lnSpc>
                <a:spcPct val="90000"/>
              </a:lnSpc>
              <a:buNone/>
            </a:pPr>
            <a:r>
              <a:rPr lang="en-US" sz="1100" i="1" dirty="0"/>
              <a:t>World Medical Association. (2013). WMA Declaration of Helsinki – Ethical principles for medical research involving human participants. Retrieved from https://www.wma.net/policies-post/wma-declaration-of-helsinki-ethical-principles-for-medical-research-involving-human-subjects/</a:t>
            </a:r>
            <a:endParaRPr lang="en-US" sz="1100" dirty="0"/>
          </a:p>
          <a:p>
            <a:pPr marL="0" indent="0">
              <a:lnSpc>
                <a:spcPct val="90000"/>
              </a:lnSpc>
              <a:buNone/>
            </a:pPr>
            <a:r>
              <a:rPr lang="en-US" sz="1100" i="1" dirty="0"/>
              <a:t> </a:t>
            </a:r>
            <a:endParaRPr lang="en-US" sz="1100" dirty="0"/>
          </a:p>
          <a:p>
            <a:pPr marL="0" indent="0">
              <a:lnSpc>
                <a:spcPct val="90000"/>
              </a:lnSpc>
              <a:buNone/>
            </a:pPr>
            <a:r>
              <a:rPr lang="en-US" sz="1100" i="1" dirty="0"/>
              <a:t>U.S. Department of Health and Human Services. (2015). Your rights under HIPAA. Retrieved from https://www.hhs.gov/hipaa/for-individuals/guidance-materials-for-consumers/index.html</a:t>
            </a:r>
            <a:endParaRPr lang="en-US" sz="1100" dirty="0"/>
          </a:p>
          <a:p>
            <a:pPr>
              <a:lnSpc>
                <a:spcPct val="90000"/>
              </a:lnSpc>
            </a:pPr>
            <a:endParaRPr lang="en-US" sz="1000" dirty="0"/>
          </a:p>
        </p:txBody>
      </p:sp>
      <p:sp>
        <p:nvSpPr>
          <p:cNvPr id="5" name="Slide Number Placeholder 4">
            <a:extLst>
              <a:ext uri="{FF2B5EF4-FFF2-40B4-BE49-F238E27FC236}">
                <a16:creationId xmlns:a16="http://schemas.microsoft.com/office/drawing/2014/main" id="{B7CE2CC4-2C51-115F-0DEF-79576F3CC043}"/>
              </a:ext>
            </a:extLst>
          </p:cNvPr>
          <p:cNvSpPr>
            <a:spLocks noGrp="1"/>
          </p:cNvSpPr>
          <p:nvPr>
            <p:ph type="sldNum" sz="quarter" idx="12"/>
          </p:nvPr>
        </p:nvSpPr>
        <p:spPr>
          <a:xfrm>
            <a:off x="8778240" y="6455664"/>
            <a:ext cx="336042" cy="365125"/>
          </a:xfrm>
        </p:spPr>
        <p:txBody>
          <a:bodyPr>
            <a:normAutofit/>
          </a:bodyPr>
          <a:lstStyle/>
          <a:p>
            <a:pPr>
              <a:spcAft>
                <a:spcPts val="600"/>
              </a:spcAft>
            </a:pPr>
            <a:fld id="{C1FF6DA9-008F-8B48-92A6-B652298478BF}" type="slidenum">
              <a:rPr lang="en-US" sz="1000">
                <a:solidFill>
                  <a:schemeClr val="tx1">
                    <a:lumMod val="50000"/>
                    <a:lumOff val="50000"/>
                  </a:schemeClr>
                </a:solidFill>
              </a:rPr>
              <a:pPr>
                <a:spcAft>
                  <a:spcPts val="600"/>
                </a:spcAft>
              </a:pPr>
              <a:t>13</a:t>
            </a:fld>
            <a:endParaRPr lang="en-US" sz="1000">
              <a:solidFill>
                <a:schemeClr val="tx1">
                  <a:lumMod val="50000"/>
                  <a:lumOff val="50000"/>
                </a:schemeClr>
              </a:solidFill>
            </a:endParaRPr>
          </a:p>
        </p:txBody>
      </p:sp>
    </p:spTree>
    <p:extLst>
      <p:ext uri="{BB962C8B-B14F-4D97-AF65-F5344CB8AC3E}">
        <p14:creationId xmlns:p14="http://schemas.microsoft.com/office/powerpoint/2010/main" val="1577962032"/>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1248</Words>
  <Application>Microsoft Office PowerPoint</Application>
  <PresentationFormat>On-screen Show (4:3)</PresentationFormat>
  <Paragraphs>118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CMS Claims and Provider Data Analysis</vt:lpstr>
      <vt:lpstr>Project Objectives</vt:lpstr>
      <vt:lpstr>   Research Questions</vt:lpstr>
      <vt:lpstr>   Data Sets and Tools Used</vt:lpstr>
      <vt:lpstr>Provider Availability &amp; Access</vt:lpstr>
      <vt:lpstr>Services per Active Patient by Plan</vt:lpstr>
      <vt:lpstr>Utilization Trends by State</vt:lpstr>
      <vt:lpstr>Medicare Payments vs. Charges</vt:lpstr>
      <vt:lpstr>High-Volume DRGs &amp; Discharges</vt:lpstr>
      <vt:lpstr>Urban vs. Rural Disparities</vt:lpstr>
      <vt:lpstr>Hypotheses Outcomes</vt:lpstr>
      <vt:lpstr>Conclusion &amp; Implications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Praveen Ramanpillai</dc:creator>
  <cp:keywords/>
  <dc:description>generated using python-pptx</dc:description>
  <cp:lastModifiedBy>Office</cp:lastModifiedBy>
  <cp:revision>8</cp:revision>
  <dcterms:created xsi:type="dcterms:W3CDTF">2013-01-27T09:14:16Z</dcterms:created>
  <dcterms:modified xsi:type="dcterms:W3CDTF">2025-07-04T06:49:30Z</dcterms:modified>
  <cp:category/>
</cp:coreProperties>
</file>